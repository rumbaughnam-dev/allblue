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1961bc17-e911-c2cd-a490-9b93adfcf421}">
          <p14:sldIdLst>
            <p14:sldId id="256"/>
          </p14:sldIdLst>
        </p14:section>
        <p14:section name="문제와 해결" id="{7f97a65f-5651-c18b-be56-3995b6e3ada3}">
          <p14:sldIdLst>
            <p14:sldId id="257"/>
            <p14:sldId id="258"/>
          </p14:sldIdLst>
        </p14:section>
        <p14:section name="제품" id="{52d63755-c679-c91c-6123-e3214b798081}">
          <p14:sldIdLst>
            <p14:sldId id="259"/>
          </p14:sldIdLst>
        </p14:section>
        <p14:section name="사업" id="{46116cbf-6bce-a98c-e34b-7b4ac4b119af}">
          <p14:sldIdLst>
            <p14:sldId id="260"/>
            <p14:sldId id="261"/>
            <p14:sldId id="262"/>
            <p14:sldId id="263"/>
            <p14:sldId id="264"/>
          </p14:sldIdLst>
        </p14:section>
        <p14:section name="팀과 투자" id="{0a741127-674b-1439-356d-08d5980332ca}">
          <p14:sldIdLst>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12개월 결제액(만원)</c:v>
                </c:pt>
              </c:strCache>
            </c:strRef>
          </c:tx>
          <c:spPr>
            <a:solidFill>
              <a:srgbClr val="2EC4E8"/>
            </a:solidFill>
            <a:effectLst/>
          </c:spPr>
          <c:invertIfNegative val="0"/>
          <c:dLbls>
            <c:numFmt formatCode="#,##0&quot;만원&quot;" sourceLinked="0"/>
            <c:txPr>
              <a:bodyPr/>
              <a:lstStyle/>
              <a:p>
                <a:pPr>
                  <a:defRPr b="1" i="0" strike="noStrike" sz="1300" u="none">
                    <a:solidFill>
                      <a:srgbClr val="FFFFFF"/>
                    </a:solidFill>
                    <a:latin typeface="+mn-lt"/>
                  </a:defRPr>
                </a:pPr>
              </a:p>
            </c:txPr>
            <c:showLegendKey val="0"/>
            <c:showVal val="1"/>
            <c:showCatName val="0"/>
            <c:showSerName val="0"/>
            <c:showPercent val="0"/>
            <c:showBubbleSize val="0"/>
            <c:showLeaderLines val="0"/>
          </c:dLbls>
          <c:cat>
            <c:multiLvlStrRef>
              <c:f>Sheet1!$A$2:$A$4</c:f>
              <c:multiLvlStrCache>
                <c:ptCount val="3"/>
                <c:lvl>
                  <c:pt idx="0">
                    <c:v>100명</c:v>
                  </c:pt>
                  <c:pt idx="1">
                    <c:v>300명</c:v>
                  </c:pt>
                  <c:pt idx="2">
                    <c:v>1,000명</c:v>
                  </c:pt>
                </c:lvl>
              </c:multiLvlStrCache>
            </c:multiLvlStrRef>
          </c:cat>
          <c:val>
            <c:numRef>
              <c:f>Sheet1!$B$2:$B$4</c:f>
              <c:numCache>
                <c:formatCode>General</c:formatCode>
                <c:ptCount val="3"/>
                <c:pt idx="0">
                  <c:v>351</c:v>
                </c:pt>
                <c:pt idx="1">
                  <c:v>1053</c:v>
                </c:pt>
                <c:pt idx="2">
                  <c:v>3510</c:v>
                </c:pt>
              </c:numCache>
            </c:numRef>
          </c:val>
        </c:ser>
        <c:dLbls>
          <c:numFmt formatCode="#,##0&quot;만원&quot;" sourceLinked="0"/>
          <c:txPr>
            <a:bodyPr/>
            <a:lstStyle/>
            <a:p>
              <a:pPr>
                <a:defRPr b="1" i="0" strike="noStrike" sz="1300" u="none">
                  <a:solidFill>
                    <a:srgbClr val="FFFFFF"/>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300" b="0" i="0" u="none" strike="noStrike">
                <a:solidFill>
                  <a:srgbClr val="DCEAF5"/>
                </a:solidFill>
                <a:latin typeface="+mn-lt"/>
              </a:defRPr>
            </a:pPr>
            <a:endParaRPr lang="en-US"/>
          </a:p>
        </c:txPr>
        <c:crossAx val="2094734552"/>
        <c:crosses val="autoZero"/>
        <c:auto val="1"/>
        <c:lblAlgn val="ctr"/>
        <c:noMultiLvlLbl val="1"/>
      </c:catAx>
      <c:valAx>
        <c:axId val="2094734552"/>
        <c:scaling>
          <c:orientation val="minMax"/>
          <c:max val="420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자금 활용</c:v>
                </c:pt>
              </c:strCache>
            </c:strRef>
          </c:tx>
          <c:spPr>
            <a:solidFill>
              <a:schemeClr val="accent1"/>
            </a:solidFill>
            <a:ln w="9525" cap="flat">
              <a:solidFill>
                <a:srgbClr val="F9F9F9"/>
              </a:solidFill>
              <a:prstDash val="solid"/>
              <a:round/>
            </a:ln>
            <a:effectLst/>
          </c:spPr>
          <c:dPt>
            <c:idx val="0"/>
            <c:bubble3D val="0"/>
            <c:spPr>
              <a:solidFill>
                <a:srgbClr val="2EC4E8"/>
              </a:solidFill>
              <a:ln w="12700" cap="flat">
                <a:solidFill>
                  <a:srgbClr val="0A2540"/>
                </a:solidFill>
                <a:prstDash val="solid"/>
                <a:round/>
              </a:ln>
              <a:effectLst/>
            </c:spPr>
          </c:dPt>
          <c:dPt>
            <c:idx val="1"/>
            <c:bubble3D val="0"/>
            <c:spPr>
              <a:solidFill>
                <a:srgbClr val="9FC3DE"/>
              </a:solidFill>
              <a:ln w="12700" cap="flat">
                <a:solidFill>
                  <a:srgbClr val="0A2540"/>
                </a:solidFill>
                <a:prstDash val="solid"/>
                <a:round/>
              </a:ln>
              <a:effectLst/>
            </c:spPr>
          </c:dPt>
          <c:dPt>
            <c:idx val="2"/>
            <c:bubble3D val="0"/>
            <c:spPr>
              <a:solidFill>
                <a:srgbClr val="F2A33A"/>
              </a:solidFill>
              <a:ln w="12700" cap="flat">
                <a:solidFill>
                  <a:srgbClr val="0A2540"/>
                </a:solidFill>
                <a:prstDash val="solid"/>
                <a:round/>
              </a:ln>
              <a:effectLst/>
            </c:spPr>
          </c:dPt>
          <c:dPt>
            <c:idx val="3"/>
            <c:bubble3D val="0"/>
            <c:spPr>
              <a:solidFill>
                <a:srgbClr val="DCEAF5"/>
              </a:solidFill>
              <a:ln w="12700" cap="flat">
                <a:solidFill>
                  <a:srgbClr val="0A2540"/>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강사 확보 마케팅</c:v>
                </c:pt>
                <c:pt idx="1">
                  <c:v>기능 고도화·개발</c:v>
                </c:pt>
                <c:pt idx="2">
                  <c:v>보안·법률·인프라</c:v>
                </c:pt>
                <c:pt idx="3">
                  <c:v>운영</c:v>
                </c:pt>
              </c:strCache>
            </c:strRef>
          </c:cat>
          <c:val>
            <c:numRef>
              <c:f>Sheet1!$B$2:$B$5</c:f>
              <c:numCache>
                <c:ptCount val="4"/>
                <c:pt idx="0">
                  <c:v>40</c:v>
                </c:pt>
                <c:pt idx="1">
                  <c:v>35</c:v>
                </c:pt>
                <c:pt idx="2">
                  <c:v>15</c:v>
                </c:pt>
                <c:pt idx="3">
                  <c:v>10</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럼바우 대표 남상현입니다. AllBlue는 프리다이빙 강사의 수업 일정, 교육생 진도, 수업 후 피드백을 하나로 연결하는 앱입니다. 현재 정식 출시 전이며 2026년 10월 안에 출시할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[45초] 프리다이빙 교육 현장에서 교육생 진도를 엑셀로 관리하는 경우를 많이 보았습니다. 일정 안내, 면책동의서와 의료진술서, 수업 후 피드백까지 따로 관리하면 한 교육생의 정보를 여러 곳에서 찾아야 합니다. 수업 전에는 지난 진도를 찾고, 수업 후에는 배운 내용을 정리하고, 다음 수업 때 기록을 다시 확인합니다. 이 반복 업무에서 AllBlue가 출발했습니다. 이는 대표자와 협업 강사의 현장 관찰이며 업계 전체 통계는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AllBlue는 한 번의 수업을 중심으로 기록을 모읍니다. 강사가 일정을 만들고 교육생을 초대하면 교육생이 참석 여부를 응답합니다. 일정 상세에서 참가자별 서류 상태와 교육 진도를 확인하고, 수업 뒤에는 이수 항목과 디브리핑을 남겨 다음 수업에서 다시 참고합니다.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앱 화면입니다. 월간 캘린더와 일정, 교육생 서류 현황, 과정별 요건 체크, 수업 직후 디브리핑까지 한 흐름으로 이어집니다. 개발은 완료됐고 2026년 10월 정식 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AIDA는 2024년 한 해 전 세계에서 6만 건 이상의 자격을 발급했습니다. 영어권 다이버 설문에서 AIDA, SSI, PADI가 주요 교육단체로 꼽힙니다. 국내 강사 수는 공식 통계가 없어 출시 후 협업 채널을 통해 직접 확인하겠습니다. 프리다이빙에서 검증한 뒤 같은 구조의 소규모 스포츠 강습으로 넓힐 계획입니다.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비용은 강사에게만 받습니다. 월 3,900원이며 처음 3개월은 무료로 제공해 실제 수업에 적용해 볼 시간을 줍니다. 교육생은 별도 구독료 없이 함께 사용합니다. 오른쪽은 목표가 아니라 가격 계산 예시입니다. 유료 강사 300명이면 12개월 결제액은 약 1,053만 원으로, 초기에는 협업 채널로 고객 확보 비용을 줄이고 운영비를 관리해야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AllBlue는 개발을 마치고 운영 환경에서 테스트 중이며 10월 정식 출시합니다. 아직 AllBlue 매출은 없습니다. 럼바우는 다른 소프트웨어 개발 프로젝트로 연 8,844만 원 매출을 내고 있어 출시 초기 운영 자금을 스스로 감당합니다. 이 매출은 AllBlue 실적과 구분합니다.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엑셀과 메신저는 익숙하지만 기록이 흩어집니다. 다이빙 분야에는 MySSI처럼 디지털 교육, 자격증과 로그북을 제공하는 앱이 있습니다. AllBlue는 강사가 매번 반복하는 수업 운영, 즉 참석과 서류 확인, 진도와 피드백이 자연스럽게 이어지는지에 집중합니다. 출시 후에는 같은 수업을 기존 도구와 AllBlue로 준비해 비교하겠습니다.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10월 정식 출시 후, 협업 채널을 통해 강사를 모으고 3개월 무료 체험 동안 실제 교육과정에 적용합니다. 체험이 끝나면 유료 전환과 해지 사유를 확인합니다. 활성 강사 수, 디브리핑 작성 비율, 첫 수업 이후 재사용 비율을 보겠습니다. 아직 측정 결과는 없습니다. 프리다이빙에서 검증한 뒤 다른 종목의 교육·훈련 관리와 대회 참가자의 사전교육 기록으로 확장을 제안합니다. 이는 협약이나 구현 전 단계의 제안입니다.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저는 개발 14년차이고 프리다이빙은 3년째, AIDA Level 2 자격을 보유하고 있습니다. 내부 인력은 저 한 명으로 개발과 운영을 맡고, AIDA Instructor 자격을 가진 협업자가 현장 의견을 주며, 유튜브 먹보야 놀자와 홍보를 준비하고 있습니다. 문제를 직접 겪는 개발자로서 다음 수업에도 쓰이는 제품을 만들겠습니다.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 1억 원을 제안합니다. 투자가 확정되면 법인으로 전환해 투자를 받겠습니다. 자금은 강사 고객 확보 마케팅, 기능 고도화와 개발 인력, 개인정보 보안과 법률, 운영에 씁니다. 12개월 동안 활성 강사와 유료 전환율을 검증하고, 그 결과로 후속 투자와 다른 종목 확장을 판단하겠습니다.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[10초] AllBlue는 수업이 끝난 뒤에도 기록이 이어지는 프리다이빙 교육을 만들겠습니다.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LIGHT-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AllBlue  ·  Seed IR  ·  2026.10</a:t>
            </a:r>
            <a:endParaRPr lang="en-US" sz="1000" dirty="0"/>
          </a:p>
        </p:txBody>
      </p:sp>
      <p:sp>
        <p:nvSpPr>
          <p:cNvPr id="3" name="Text 1"/>
          <p:cNvSpPr/>
          <p:nvPr>
            <p:ph idx="101" type="body" hasCustomPrompt="1"/>
          </p:nvPr>
        </p:nvSpPr>
        <p:spPr>
          <a:xfrm>
            <a:off x="548640" y="347472"/>
            <a:ext cx="7315200" cy="292608"/>
          </a:xfrm>
          <a:prstGeom prst="rect">
            <a:avLst/>
          </a:prstGeom>
          <a:noFill/>
          <a:ln/>
        </p:spPr>
        <p:txBody>
          <a:bodyPr wrap="square" rtlCol="0"/>
          <a:lstStyle>
            <a:lvl1pPr indent="0" marL="0">
              <a:buNone/>
              <a:defRPr lang="en-US" sz="1300" b="1" spc="100" kern="0" dirty="0">
                <a:solidFill>
                  <a:schemeClr val="accent1"/>
                </a:solidFill>
              </a:defRPr>
            </a:lvl1pPr>
          </a:lstStyle>
          <a:p>
            <a:pPr indent="0" marL="0">
              <a:buNone/>
            </a:pPr>
            <a:endParaRPr lang="en-US" sz="1300" dirty="0"/>
          </a:p>
        </p:txBody>
      </p:sp>
      <p:sp>
        <p:nvSpPr>
          <p:cNvPr id="4" name="Text 1"/>
          <p:cNvSpPr/>
          <p:nvPr>
            <p:ph idx="102" type="title" hasCustomPrompt="1"/>
          </p:nvPr>
        </p:nvSpPr>
        <p:spPr>
          <a:xfrm>
            <a:off x="548640" y="658368"/>
            <a:ext cx="11094415" cy="7315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AllBlue  ·  Seed IR  ·  2026.10</a:t>
            </a:r>
            <a:endParaRPr lang="en-US" sz="1000" dirty="0"/>
          </a:p>
        </p:txBody>
      </p:sp>
      <p:sp>
        <p:nvSpPr>
          <p:cNvPr id="3" name="Text 1"/>
          <p:cNvSpPr/>
          <p:nvPr>
            <p:ph idx="101" type="body" hasCustomPrompt="1"/>
          </p:nvPr>
        </p:nvSpPr>
        <p:spPr>
          <a:xfrm>
            <a:off x="548640" y="347472"/>
            <a:ext cx="7315200" cy="292608"/>
          </a:xfrm>
          <a:prstGeom prst="rect">
            <a:avLst/>
          </a:prstGeom>
          <a:noFill/>
          <a:ln/>
        </p:spPr>
        <p:txBody>
          <a:bodyPr wrap="square" rtlCol="0"/>
          <a:lstStyle>
            <a:lvl1pPr indent="0" marL="0">
              <a:buNone/>
              <a:defRPr lang="en-US" sz="1300" b="1" spc="100" kern="0" dirty="0">
                <a:solidFill>
                  <a:schemeClr val="accent2"/>
                </a:solidFill>
              </a:defRPr>
            </a:lvl1pPr>
          </a:lstStyle>
          <a:p>
            <a:pPr indent="0" marL="0">
              <a:buNone/>
            </a:pPr>
            <a:endParaRPr lang="en-US" sz="1300" dirty="0"/>
          </a:p>
        </p:txBody>
      </p:sp>
      <p:sp>
        <p:nvSpPr>
          <p:cNvPr id="4" name="Text 1"/>
          <p:cNvSpPr/>
          <p:nvPr>
            <p:ph idx="102" type="title" hasCustomPrompt="1"/>
          </p:nvPr>
        </p:nvSpPr>
        <p:spPr>
          <a:xfrm>
            <a:off x="548640" y="658368"/>
            <a:ext cx="11094415" cy="73152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category chip"/>
          <p:cNvSpPr/>
          <p:nvPr/>
        </p:nvSpPr>
        <p:spPr>
          <a:xfrm>
            <a:off x="548640" y="822960"/>
            <a:ext cx="2331720" cy="384048"/>
          </a:xfrm>
          <a:prstGeom prst="roundRect">
            <a:avLst>
              <a:gd name="adj" fmla="val 50000"/>
            </a:avLst>
          </a:prstGeom>
          <a:solidFill>
            <a:schemeClr val="accent1">
              <a:alpha val="18000"/>
            </a:schemeClr>
          </a:solidFill>
          <a:ln w="12700">
            <a:solidFill>
              <a:schemeClr val="accent1"/>
            </a:solidFill>
            <a:prstDash val="solid"/>
          </a:ln>
        </p:spPr>
      </p:sp>
      <p:sp>
        <p:nvSpPr>
          <p:cNvPr id="4" name="Text 1"/>
          <p:cNvSpPr txBox="1"/>
          <p:nvPr/>
        </p:nvSpPr>
        <p:spPr>
          <a:xfrm>
            <a:off x="548640" y="822960"/>
            <a:ext cx="2331720" cy="384048"/>
          </a:xfrm>
          <a:prstGeom prst="rect">
            <a:avLst/>
          </a:prstGeom>
          <a:noFill/>
          <a:ln/>
        </p:spPr>
        <p:txBody>
          <a:bodyPr wrap="square" lIns="0" tIns="0" rIns="0" bIns="0" rtlCol="0" anchor="ctr"/>
          <a:lstStyle/>
          <a:p>
            <a:pPr algn="ctr" indent="0" marL="0">
              <a:buNone/>
            </a:pPr>
            <a:r>
              <a:rPr lang="en-US" sz="1200" b="1" dirty="0">
                <a:solidFill>
                  <a:schemeClr val="accent1"/>
                </a:solidFill>
              </a:rPr>
              <a:t>SEED IR  ·  2026.10</a:t>
            </a:r>
            <a:endParaRPr lang="en-US" sz="1200" dirty="0"/>
          </a:p>
        </p:txBody>
      </p:sp>
      <p:sp>
        <p:nvSpPr>
          <p:cNvPr id="5" name="Text 2"/>
          <p:cNvSpPr txBox="1"/>
          <p:nvPr/>
        </p:nvSpPr>
        <p:spPr>
          <a:xfrm>
            <a:off x="548640" y="1600200"/>
            <a:ext cx="6400800" cy="1280160"/>
          </a:xfrm>
          <a:prstGeom prst="rect">
            <a:avLst/>
          </a:prstGeom>
          <a:noFill/>
          <a:ln/>
        </p:spPr>
        <p:txBody>
          <a:bodyPr wrap="square" lIns="0" tIns="0" rIns="0" bIns="0" rtlCol="0" anchor="ctr"/>
          <a:lstStyle/>
          <a:p>
            <a:pPr indent="0" marL="0">
              <a:buNone/>
            </a:pPr>
            <a:r>
              <a:rPr lang="en-US" sz="8000" b="1" dirty="0">
                <a:solidFill>
                  <a:schemeClr val="bg1"/>
                </a:solidFill>
              </a:rPr>
              <a:t>AllBlue</a:t>
            </a:r>
            <a:endParaRPr lang="en-US" sz="8000" dirty="0"/>
          </a:p>
        </p:txBody>
      </p:sp>
      <p:sp>
        <p:nvSpPr>
          <p:cNvPr id="6" name="Text 3"/>
          <p:cNvSpPr txBox="1"/>
          <p:nvPr/>
        </p:nvSpPr>
        <p:spPr>
          <a:xfrm>
            <a:off x="548640" y="3017520"/>
            <a:ext cx="6400800" cy="1371600"/>
          </a:xfrm>
          <a:prstGeom prst="rect">
            <a:avLst/>
          </a:prstGeom>
          <a:noFill/>
          <a:ln/>
        </p:spPr>
        <p:txBody>
          <a:bodyPr wrap="square" lIns="0" tIns="0" rIns="0" bIns="0" rtlCol="0" anchor="t"/>
          <a:lstStyle/>
          <a:p>
            <a:pPr indent="0" marL="0">
              <a:buNone/>
            </a:pPr>
            <a:r>
              <a:rPr lang="en-US" sz="3600" b="1" dirty="0">
                <a:solidFill>
                  <a:schemeClr val="bg1"/>
                </a:solidFill>
              </a:rPr>
              <a:t>프리다이빙 교육,</a:t>
            </a:r>
            <a:endParaRPr lang="en-US" sz="3600" dirty="0"/>
          </a:p>
          <a:p>
            <a:pPr indent="0" marL="0">
              <a:buNone/>
            </a:pPr>
            <a:r>
              <a:rPr lang="en-US" sz="3600" b="1" dirty="0">
                <a:solidFill>
                  <a:schemeClr val="bg1"/>
                </a:solidFill>
              </a:rPr>
              <a:t>수업 다음까지 </a:t>
            </a:r>
            <a:pPr indent="0" marL="0">
              <a:buNone/>
            </a:pPr>
            <a:r>
              <a:rPr lang="en-US" sz="3600" b="1" dirty="0">
                <a:solidFill>
                  <a:schemeClr val="accent1"/>
                </a:solidFill>
              </a:rPr>
              <a:t>이어지게</a:t>
            </a:r>
            <a:endParaRPr lang="en-US" sz="3600" dirty="0"/>
          </a:p>
        </p:txBody>
      </p:sp>
      <p:sp>
        <p:nvSpPr>
          <p:cNvPr id="7" name="Text 4"/>
          <p:cNvSpPr txBox="1"/>
          <p:nvPr/>
        </p:nvSpPr>
        <p:spPr>
          <a:xfrm>
            <a:off x="548640" y="4480560"/>
            <a:ext cx="6035040" cy="685800"/>
          </a:xfrm>
          <a:prstGeom prst="rect">
            <a:avLst/>
          </a:prstGeom>
          <a:noFill/>
          <a:ln/>
        </p:spPr>
        <p:txBody>
          <a:bodyPr wrap="square" lIns="0" tIns="0" rIns="0" bIns="0" rtlCol="0" anchor="t"/>
          <a:lstStyle/>
          <a:p>
            <a:pPr indent="0" marL="0">
              <a:buNone/>
            </a:pPr>
            <a:r>
              <a:rPr lang="en-US" sz="1600" dirty="0">
                <a:solidFill>
                  <a:schemeClr val="accent6"/>
                </a:solidFill>
              </a:rPr>
              <a:t>일정 · 교육생 진도 · 수업 피드백을 하나로 잇는</a:t>
            </a:r>
            <a:endParaRPr lang="en-US" sz="1600" dirty="0"/>
          </a:p>
          <a:p>
            <a:pPr indent="0" marL="0">
              <a:buNone/>
            </a:pPr>
            <a:r>
              <a:rPr lang="en-US" sz="1600" dirty="0">
                <a:solidFill>
                  <a:schemeClr val="accent6"/>
                </a:solidFill>
              </a:rPr>
              <a:t>강사용 교육 운영 앱</a:t>
            </a:r>
            <a:endParaRPr lang="en-US" sz="1600" dirty="0"/>
          </a:p>
        </p:txBody>
      </p:sp>
      <p:sp>
        <p:nvSpPr>
          <p:cNvPr id="8" name="Text 5"/>
          <p:cNvSpPr txBox="1"/>
          <p:nvPr/>
        </p:nvSpPr>
        <p:spPr>
          <a:xfrm>
            <a:off x="548640" y="5486400"/>
            <a:ext cx="6035040" cy="731520"/>
          </a:xfrm>
          <a:prstGeom prst="rect">
            <a:avLst/>
          </a:prstGeom>
          <a:noFill/>
          <a:ln/>
        </p:spPr>
        <p:txBody>
          <a:bodyPr wrap="square" lIns="0" tIns="0" rIns="0" bIns="0" rtlCol="0" anchor="t"/>
          <a:lstStyle/>
          <a:p>
            <a:pPr indent="0" marL="0">
              <a:buNone/>
            </a:pPr>
            <a:r>
              <a:rPr lang="en-US" sz="1400" dirty="0">
                <a:solidFill>
                  <a:schemeClr val="accent5"/>
                </a:solidFill>
              </a:rPr>
              <a:t>Seed 1억 원 투자 제안  ·  디유파트너스 X 서울창업허브 공덕</a:t>
            </a:r>
            <a:endParaRPr lang="en-US" sz="1400" dirty="0"/>
          </a:p>
          <a:p>
            <a:pPr indent="0" marL="0">
              <a:buNone/>
            </a:pPr>
            <a:r>
              <a:rPr lang="en-US" sz="1400" b="1" dirty="0">
                <a:solidFill>
                  <a:schemeClr val="bg1"/>
                </a:solidFill>
              </a:rPr>
              <a:t>럼바우  |  대표 남상현</a:t>
            </a:r>
            <a:endParaRPr lang="en-US" sz="1400" dirty="0"/>
          </a:p>
        </p:txBody>
      </p:sp>
      <p:pic>
        <p:nvPicPr>
          <p:cNvPr id="9" name="phone 06_feature_4.png" descr="AllBlue 앱 화면">    </p:cNvPr>
          <p:cNvPicPr>
            <a:picLocks noChangeAspect="1"/>
          </p:cNvPicPr>
          <p:nvPr/>
        </p:nvPicPr>
        <p:blipFill>
          <a:blip r:embed="rId1"/>
          <a:stretch>
            <a:fillRect/>
          </a:stretch>
        </p:blipFill>
        <p:spPr>
          <a:xfrm rot="-540000">
            <a:off x="6720840" y="1417320"/>
            <a:ext cx="2132608" cy="4480560"/>
          </a:xfrm>
          <a:prstGeom prst="rect">
            <a:avLst/>
          </a:prstGeom>
        </p:spPr>
      </p:pic>
      <p:pic>
        <p:nvPicPr>
          <p:cNvPr id="10" name="phone 03_feature_1.png" descr="AllBlue 앱 화면">    </p:cNvPr>
          <p:cNvPicPr>
            <a:picLocks noChangeAspect="1"/>
          </p:cNvPicPr>
          <p:nvPr/>
        </p:nvPicPr>
        <p:blipFill>
          <a:blip r:embed="rId2"/>
          <a:stretch>
            <a:fillRect/>
          </a:stretch>
        </p:blipFill>
        <p:spPr>
          <a:xfrm rot="540000">
            <a:off x="9555480" y="1417320"/>
            <a:ext cx="2132608" cy="4480560"/>
          </a:xfrm>
          <a:prstGeom prst="rect">
            <a:avLst/>
          </a:prstGeom>
        </p:spPr>
      </p:pic>
      <p:pic>
        <p:nvPicPr>
          <p:cNvPr id="11" name="phone 05_feature_3.png" descr="AllBlue 앱 화면">    </p:cNvPr>
          <p:cNvPicPr>
            <a:picLocks noChangeAspect="1"/>
          </p:cNvPicPr>
          <p:nvPr/>
        </p:nvPicPr>
        <p:blipFill>
          <a:blip r:embed="rId3"/>
          <a:stretch>
            <a:fillRect/>
          </a:stretch>
        </p:blipFill>
        <p:spPr>
          <a:xfrm>
            <a:off x="8092440" y="914400"/>
            <a:ext cx="2437266" cy="5120640"/>
          </a:xfrm>
          <a:prstGeom prst="rect">
            <a:avLst/>
          </a:prstGeom>
          <a:effectLst>
            <a:outerShdw sx="100000" sy="100000" kx="0" ky="0" algn="bl" rotWithShape="0" blurRad="228600" dist="76200" dir="5400000">
              <a:srgbClr val="000000">
                <a:alpha val="3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01  문제</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한 교육생의 기록이 여러 곳에 흩어져 있습니다</a:t>
            </a:r>
            <a:endParaRPr lang="en-US" sz="3200" dirty="0"/>
          </a:p>
        </p:txBody>
      </p:sp>
      <p:sp>
        <p:nvSpPr>
          <p:cNvPr id="5" name="connector"/>
          <p:cNvSpPr/>
          <p:nvPr/>
        </p:nvSpPr>
        <p:spPr>
          <a:xfrm>
            <a:off x="1737360" y="2148840"/>
            <a:ext cx="1737360" cy="1645920"/>
          </a:xfrm>
          <a:prstGeom prst="line">
            <a:avLst/>
          </a:prstGeom>
          <a:noFill/>
          <a:ln w="19050">
            <a:solidFill>
              <a:schemeClr val="accent5"/>
            </a:solidFill>
            <a:prstDash val="dash"/>
          </a:ln>
        </p:spPr>
      </p:sp>
      <p:sp>
        <p:nvSpPr>
          <p:cNvPr id="6" name="connector"/>
          <p:cNvSpPr/>
          <p:nvPr/>
        </p:nvSpPr>
        <p:spPr>
          <a:xfrm flipH="1">
            <a:off x="3474720" y="2148840"/>
            <a:ext cx="1737360" cy="1645920"/>
          </a:xfrm>
          <a:prstGeom prst="line">
            <a:avLst/>
          </a:prstGeom>
          <a:noFill/>
          <a:ln w="19050">
            <a:solidFill>
              <a:schemeClr val="accent5"/>
            </a:solidFill>
            <a:prstDash val="dash"/>
          </a:ln>
        </p:spPr>
      </p:sp>
      <p:sp>
        <p:nvSpPr>
          <p:cNvPr id="7" name="connector"/>
          <p:cNvSpPr/>
          <p:nvPr/>
        </p:nvSpPr>
        <p:spPr>
          <a:xfrm flipH="1">
            <a:off x="1737360" y="3794760"/>
            <a:ext cx="1737360" cy="1645920"/>
          </a:xfrm>
          <a:prstGeom prst="line">
            <a:avLst/>
          </a:prstGeom>
          <a:noFill/>
          <a:ln w="19050">
            <a:solidFill>
              <a:schemeClr val="accent5"/>
            </a:solidFill>
            <a:prstDash val="dash"/>
          </a:ln>
        </p:spPr>
      </p:sp>
      <p:sp>
        <p:nvSpPr>
          <p:cNvPr id="8" name="connector"/>
          <p:cNvSpPr/>
          <p:nvPr/>
        </p:nvSpPr>
        <p:spPr>
          <a:xfrm>
            <a:off x="3474720" y="3794760"/>
            <a:ext cx="1737360" cy="1645920"/>
          </a:xfrm>
          <a:prstGeom prst="line">
            <a:avLst/>
          </a:prstGeom>
          <a:noFill/>
          <a:ln w="19050">
            <a:solidFill>
              <a:schemeClr val="accent5"/>
            </a:solidFill>
            <a:prstDash val="dash"/>
          </a:ln>
        </p:spPr>
      </p:sp>
      <p:sp>
        <p:nvSpPr>
          <p:cNvPr id="9" name="scattered 교육 진도"/>
          <p:cNvSpPr/>
          <p:nvPr/>
        </p:nvSpPr>
        <p:spPr>
          <a:xfrm>
            <a:off x="548640" y="1691640"/>
            <a:ext cx="2377440" cy="914400"/>
          </a:xfrm>
          <a:prstGeom prst="roundRect">
            <a:avLst>
              <a:gd name="adj" fmla="val 14000"/>
            </a:avLst>
          </a:prstGeom>
          <a:solidFill>
            <a:schemeClr val="bg1"/>
          </a:solidFill>
          <a:ln/>
          <a:effectLst>
            <a:outerShdw sx="100000" sy="100000" kx="0" ky="0" algn="bl" rotWithShape="0" blurRad="127000" dist="38100" dir="5400000">
              <a:srgbClr val="0A2540">
                <a:alpha val="14000"/>
              </a:srgbClr>
            </a:outerShdw>
          </a:effectLst>
        </p:spPr>
      </p:sp>
      <p:sp>
        <p:nvSpPr>
          <p:cNvPr id="10" name="교육 진도 circle"/>
          <p:cNvSpPr/>
          <p:nvPr/>
        </p:nvSpPr>
        <p:spPr>
          <a:xfrm>
            <a:off x="731520" y="1874520"/>
            <a:ext cx="548640" cy="548640"/>
          </a:xfrm>
          <a:prstGeom prst="ellipse">
            <a:avLst/>
          </a:prstGeom>
          <a:solidFill>
            <a:schemeClr val="accent6"/>
          </a:solidFill>
          <a:ln/>
        </p:spPr>
      </p:sp>
      <p:pic>
        <p:nvPicPr>
          <p:cNvPr id="11" name="교육 진도 icon" descr="교육 진도">    </p:cNvPr>
          <p:cNvPicPr>
            <a:picLocks noChangeAspect="1"/>
          </p:cNvPicPr>
          <p:nvPr/>
        </p:nvPicPr>
        <p:blipFill>
          <a:blip r:embed="rId1"/>
          <a:stretch>
            <a:fillRect/>
          </a:stretch>
        </p:blipFill>
        <p:spPr>
          <a:xfrm>
            <a:off x="879653" y="2022653"/>
            <a:ext cx="252374" cy="252374"/>
          </a:xfrm>
          <a:prstGeom prst="rect">
            <a:avLst/>
          </a:prstGeom>
        </p:spPr>
      </p:pic>
      <p:sp>
        <p:nvSpPr>
          <p:cNvPr id="12" name="Text 8"/>
          <p:cNvSpPr txBox="1"/>
          <p:nvPr/>
        </p:nvSpPr>
        <p:spPr>
          <a:xfrm>
            <a:off x="1417320" y="1874520"/>
            <a:ext cx="1463040" cy="292608"/>
          </a:xfrm>
          <a:prstGeom prst="rect">
            <a:avLst/>
          </a:prstGeom>
          <a:noFill/>
          <a:ln/>
        </p:spPr>
        <p:txBody>
          <a:bodyPr wrap="square" lIns="0" tIns="0" rIns="0" bIns="0" rtlCol="0" anchor="t"/>
          <a:lstStyle/>
          <a:p>
            <a:pPr indent="0" marL="0">
              <a:buNone/>
            </a:pPr>
            <a:r>
              <a:rPr lang="en-US" sz="1400" b="1" dirty="0">
                <a:solidFill>
                  <a:schemeClr val="tx1"/>
                </a:solidFill>
              </a:rPr>
              <a:t>교육 진도</a:t>
            </a:r>
            <a:endParaRPr lang="en-US" sz="1400" dirty="0"/>
          </a:p>
        </p:txBody>
      </p:sp>
      <p:sp>
        <p:nvSpPr>
          <p:cNvPr id="13" name="Text 9"/>
          <p:cNvSpPr txBox="1"/>
          <p:nvPr/>
        </p:nvSpPr>
        <p:spPr>
          <a:xfrm>
            <a:off x="1417320" y="2185416"/>
            <a:ext cx="1463040" cy="256032"/>
          </a:xfrm>
          <a:prstGeom prst="rect">
            <a:avLst/>
          </a:prstGeom>
          <a:noFill/>
          <a:ln/>
        </p:spPr>
        <p:txBody>
          <a:bodyPr wrap="square" lIns="0" tIns="0" rIns="0" bIns="0" rtlCol="0" anchor="t"/>
          <a:lstStyle/>
          <a:p>
            <a:pPr indent="0" marL="0">
              <a:buNone/>
            </a:pPr>
            <a:r>
              <a:rPr lang="en-US" sz="1200" dirty="0">
                <a:solidFill>
                  <a:schemeClr val="accent4"/>
                </a:solidFill>
              </a:rPr>
              <a:t>엑셀 표</a:t>
            </a:r>
            <a:endParaRPr lang="en-US" sz="1200" dirty="0"/>
          </a:p>
        </p:txBody>
      </p:sp>
      <p:sp>
        <p:nvSpPr>
          <p:cNvPr id="14" name="scattered 일정 안내·참석"/>
          <p:cNvSpPr/>
          <p:nvPr/>
        </p:nvSpPr>
        <p:spPr>
          <a:xfrm>
            <a:off x="4023360" y="1691640"/>
            <a:ext cx="2377440" cy="914400"/>
          </a:xfrm>
          <a:prstGeom prst="roundRect">
            <a:avLst>
              <a:gd name="adj" fmla="val 14000"/>
            </a:avLst>
          </a:prstGeom>
          <a:solidFill>
            <a:schemeClr val="bg1"/>
          </a:solidFill>
          <a:ln/>
          <a:effectLst>
            <a:outerShdw sx="100000" sy="100000" kx="0" ky="0" algn="bl" rotWithShape="0" blurRad="127000" dist="38100" dir="5400000">
              <a:srgbClr val="0A2540">
                <a:alpha val="14000"/>
              </a:srgbClr>
            </a:outerShdw>
          </a:effectLst>
        </p:spPr>
      </p:sp>
      <p:sp>
        <p:nvSpPr>
          <p:cNvPr id="15" name="일정 안내·참석 circle"/>
          <p:cNvSpPr/>
          <p:nvPr/>
        </p:nvSpPr>
        <p:spPr>
          <a:xfrm>
            <a:off x="4206240" y="1874520"/>
            <a:ext cx="548640" cy="548640"/>
          </a:xfrm>
          <a:prstGeom prst="ellipse">
            <a:avLst/>
          </a:prstGeom>
          <a:solidFill>
            <a:schemeClr val="accent6"/>
          </a:solidFill>
          <a:ln/>
        </p:spPr>
      </p:sp>
      <p:pic>
        <p:nvPicPr>
          <p:cNvPr id="16" name="일정 안내·참석 icon" descr="일정 안내·참석">    </p:cNvPr>
          <p:cNvPicPr>
            <a:picLocks noChangeAspect="1"/>
          </p:cNvPicPr>
          <p:nvPr/>
        </p:nvPicPr>
        <p:blipFill>
          <a:blip r:embed="rId2"/>
          <a:stretch>
            <a:fillRect/>
          </a:stretch>
        </p:blipFill>
        <p:spPr>
          <a:xfrm>
            <a:off x="4354373" y="2022653"/>
            <a:ext cx="252374" cy="252374"/>
          </a:xfrm>
          <a:prstGeom prst="rect">
            <a:avLst/>
          </a:prstGeom>
        </p:spPr>
      </p:pic>
      <p:sp>
        <p:nvSpPr>
          <p:cNvPr id="17" name="Text 12"/>
          <p:cNvSpPr txBox="1"/>
          <p:nvPr/>
        </p:nvSpPr>
        <p:spPr>
          <a:xfrm>
            <a:off x="4892040" y="1874520"/>
            <a:ext cx="1463040" cy="292608"/>
          </a:xfrm>
          <a:prstGeom prst="rect">
            <a:avLst/>
          </a:prstGeom>
          <a:noFill/>
          <a:ln/>
        </p:spPr>
        <p:txBody>
          <a:bodyPr wrap="square" lIns="0" tIns="0" rIns="0" bIns="0" rtlCol="0" anchor="t"/>
          <a:lstStyle/>
          <a:p>
            <a:pPr indent="0" marL="0">
              <a:buNone/>
            </a:pPr>
            <a:r>
              <a:rPr lang="en-US" sz="1400" b="1" dirty="0">
                <a:solidFill>
                  <a:schemeClr val="tx1"/>
                </a:solidFill>
              </a:rPr>
              <a:t>일정 안내·참석</a:t>
            </a:r>
            <a:endParaRPr lang="en-US" sz="1400" dirty="0"/>
          </a:p>
        </p:txBody>
      </p:sp>
      <p:sp>
        <p:nvSpPr>
          <p:cNvPr id="18" name="Text 13"/>
          <p:cNvSpPr txBox="1"/>
          <p:nvPr/>
        </p:nvSpPr>
        <p:spPr>
          <a:xfrm>
            <a:off x="4892040" y="2185416"/>
            <a:ext cx="1463040" cy="256032"/>
          </a:xfrm>
          <a:prstGeom prst="rect">
            <a:avLst/>
          </a:prstGeom>
          <a:noFill/>
          <a:ln/>
        </p:spPr>
        <p:txBody>
          <a:bodyPr wrap="square" lIns="0" tIns="0" rIns="0" bIns="0" rtlCol="0" anchor="t"/>
          <a:lstStyle/>
          <a:p>
            <a:pPr indent="0" marL="0">
              <a:buNone/>
            </a:pPr>
            <a:r>
              <a:rPr lang="en-US" sz="1200" dirty="0">
                <a:solidFill>
                  <a:schemeClr val="accent4"/>
                </a:solidFill>
              </a:rPr>
              <a:t>별도 연락</a:t>
            </a:r>
            <a:endParaRPr lang="en-US" sz="1200" dirty="0"/>
          </a:p>
        </p:txBody>
      </p:sp>
      <p:sp>
        <p:nvSpPr>
          <p:cNvPr id="19" name="scattered 동의서·진술서"/>
          <p:cNvSpPr/>
          <p:nvPr/>
        </p:nvSpPr>
        <p:spPr>
          <a:xfrm>
            <a:off x="548640" y="4983480"/>
            <a:ext cx="2377440" cy="914400"/>
          </a:xfrm>
          <a:prstGeom prst="roundRect">
            <a:avLst>
              <a:gd name="adj" fmla="val 14000"/>
            </a:avLst>
          </a:prstGeom>
          <a:solidFill>
            <a:schemeClr val="bg1"/>
          </a:solidFill>
          <a:ln/>
          <a:effectLst>
            <a:outerShdw sx="100000" sy="100000" kx="0" ky="0" algn="bl" rotWithShape="0" blurRad="127000" dist="38100" dir="5400000">
              <a:srgbClr val="0A2540">
                <a:alpha val="14000"/>
              </a:srgbClr>
            </a:outerShdw>
          </a:effectLst>
        </p:spPr>
      </p:sp>
      <p:sp>
        <p:nvSpPr>
          <p:cNvPr id="20" name="동의서·진술서 circle"/>
          <p:cNvSpPr/>
          <p:nvPr/>
        </p:nvSpPr>
        <p:spPr>
          <a:xfrm>
            <a:off x="731520" y="5166360"/>
            <a:ext cx="548640" cy="548640"/>
          </a:xfrm>
          <a:prstGeom prst="ellipse">
            <a:avLst/>
          </a:prstGeom>
          <a:solidFill>
            <a:schemeClr val="accent6"/>
          </a:solidFill>
          <a:ln/>
        </p:spPr>
      </p:sp>
      <p:pic>
        <p:nvPicPr>
          <p:cNvPr id="21" name="동의서·진술서 icon" descr="동의서·진술서">    </p:cNvPr>
          <p:cNvPicPr>
            <a:picLocks noChangeAspect="1"/>
          </p:cNvPicPr>
          <p:nvPr/>
        </p:nvPicPr>
        <p:blipFill>
          <a:blip r:embed="rId3"/>
          <a:stretch>
            <a:fillRect/>
          </a:stretch>
        </p:blipFill>
        <p:spPr>
          <a:xfrm>
            <a:off x="879653" y="5314493"/>
            <a:ext cx="252374" cy="252374"/>
          </a:xfrm>
          <a:prstGeom prst="rect">
            <a:avLst/>
          </a:prstGeom>
        </p:spPr>
      </p:pic>
      <p:sp>
        <p:nvSpPr>
          <p:cNvPr id="22" name="Text 16"/>
          <p:cNvSpPr txBox="1"/>
          <p:nvPr/>
        </p:nvSpPr>
        <p:spPr>
          <a:xfrm>
            <a:off x="1417320" y="5166360"/>
            <a:ext cx="1463040" cy="292608"/>
          </a:xfrm>
          <a:prstGeom prst="rect">
            <a:avLst/>
          </a:prstGeom>
          <a:noFill/>
          <a:ln/>
        </p:spPr>
        <p:txBody>
          <a:bodyPr wrap="square" lIns="0" tIns="0" rIns="0" bIns="0" rtlCol="0" anchor="t"/>
          <a:lstStyle/>
          <a:p>
            <a:pPr indent="0" marL="0">
              <a:buNone/>
            </a:pPr>
            <a:r>
              <a:rPr lang="en-US" sz="1400" b="1" dirty="0">
                <a:solidFill>
                  <a:schemeClr val="tx1"/>
                </a:solidFill>
              </a:rPr>
              <a:t>동의서·진술서</a:t>
            </a:r>
            <a:endParaRPr lang="en-US" sz="1400" dirty="0"/>
          </a:p>
        </p:txBody>
      </p:sp>
      <p:sp>
        <p:nvSpPr>
          <p:cNvPr id="23" name="Text 17"/>
          <p:cNvSpPr txBox="1"/>
          <p:nvPr/>
        </p:nvSpPr>
        <p:spPr>
          <a:xfrm>
            <a:off x="1417320" y="5477256"/>
            <a:ext cx="1463040" cy="256032"/>
          </a:xfrm>
          <a:prstGeom prst="rect">
            <a:avLst/>
          </a:prstGeom>
          <a:noFill/>
          <a:ln/>
        </p:spPr>
        <p:txBody>
          <a:bodyPr wrap="square" lIns="0" tIns="0" rIns="0" bIns="0" rtlCol="0" anchor="t"/>
          <a:lstStyle/>
          <a:p>
            <a:pPr indent="0" marL="0">
              <a:buNone/>
            </a:pPr>
            <a:r>
              <a:rPr lang="en-US" sz="1200" dirty="0">
                <a:solidFill>
                  <a:schemeClr val="accent4"/>
                </a:solidFill>
              </a:rPr>
              <a:t>별도 서류</a:t>
            </a:r>
            <a:endParaRPr lang="en-US" sz="1200" dirty="0"/>
          </a:p>
        </p:txBody>
      </p:sp>
      <p:sp>
        <p:nvSpPr>
          <p:cNvPr id="24" name="scattered 수업 피드백"/>
          <p:cNvSpPr/>
          <p:nvPr/>
        </p:nvSpPr>
        <p:spPr>
          <a:xfrm>
            <a:off x="4023360" y="4983480"/>
            <a:ext cx="2377440" cy="914400"/>
          </a:xfrm>
          <a:prstGeom prst="roundRect">
            <a:avLst>
              <a:gd name="adj" fmla="val 14000"/>
            </a:avLst>
          </a:prstGeom>
          <a:solidFill>
            <a:schemeClr val="bg1"/>
          </a:solidFill>
          <a:ln/>
          <a:effectLst>
            <a:outerShdw sx="100000" sy="100000" kx="0" ky="0" algn="bl" rotWithShape="0" blurRad="127000" dist="38100" dir="5400000">
              <a:srgbClr val="0A2540">
                <a:alpha val="14000"/>
              </a:srgbClr>
            </a:outerShdw>
          </a:effectLst>
        </p:spPr>
      </p:sp>
      <p:sp>
        <p:nvSpPr>
          <p:cNvPr id="25" name="수업 피드백 circle"/>
          <p:cNvSpPr/>
          <p:nvPr/>
        </p:nvSpPr>
        <p:spPr>
          <a:xfrm>
            <a:off x="4206240" y="5166360"/>
            <a:ext cx="548640" cy="548640"/>
          </a:xfrm>
          <a:prstGeom prst="ellipse">
            <a:avLst/>
          </a:prstGeom>
          <a:solidFill>
            <a:schemeClr val="accent6"/>
          </a:solidFill>
          <a:ln/>
        </p:spPr>
      </p:sp>
      <p:pic>
        <p:nvPicPr>
          <p:cNvPr id="26" name="수업 피드백 icon" descr="수업 피드백">    </p:cNvPr>
          <p:cNvPicPr>
            <a:picLocks noChangeAspect="1"/>
          </p:cNvPicPr>
          <p:nvPr/>
        </p:nvPicPr>
        <p:blipFill>
          <a:blip r:embed="rId4"/>
          <a:stretch>
            <a:fillRect/>
          </a:stretch>
        </p:blipFill>
        <p:spPr>
          <a:xfrm>
            <a:off x="4354373" y="5314493"/>
            <a:ext cx="252374" cy="252374"/>
          </a:xfrm>
          <a:prstGeom prst="rect">
            <a:avLst/>
          </a:prstGeom>
        </p:spPr>
      </p:pic>
      <p:sp>
        <p:nvSpPr>
          <p:cNvPr id="27" name="Text 20"/>
          <p:cNvSpPr txBox="1"/>
          <p:nvPr/>
        </p:nvSpPr>
        <p:spPr>
          <a:xfrm>
            <a:off x="4892040" y="5166360"/>
            <a:ext cx="1463040" cy="292608"/>
          </a:xfrm>
          <a:prstGeom prst="rect">
            <a:avLst/>
          </a:prstGeom>
          <a:noFill/>
          <a:ln/>
        </p:spPr>
        <p:txBody>
          <a:bodyPr wrap="square" lIns="0" tIns="0" rIns="0" bIns="0" rtlCol="0" anchor="t"/>
          <a:lstStyle/>
          <a:p>
            <a:pPr indent="0" marL="0">
              <a:buNone/>
            </a:pPr>
            <a:r>
              <a:rPr lang="en-US" sz="1400" b="1" dirty="0">
                <a:solidFill>
                  <a:schemeClr val="tx1"/>
                </a:solidFill>
              </a:rPr>
              <a:t>수업 피드백</a:t>
            </a:r>
            <a:endParaRPr lang="en-US" sz="1400" dirty="0"/>
          </a:p>
        </p:txBody>
      </p:sp>
      <p:sp>
        <p:nvSpPr>
          <p:cNvPr id="28" name="Text 21"/>
          <p:cNvSpPr txBox="1"/>
          <p:nvPr/>
        </p:nvSpPr>
        <p:spPr>
          <a:xfrm>
            <a:off x="4892040" y="5477256"/>
            <a:ext cx="1463040" cy="256032"/>
          </a:xfrm>
          <a:prstGeom prst="rect">
            <a:avLst/>
          </a:prstGeom>
          <a:noFill/>
          <a:ln/>
        </p:spPr>
        <p:txBody>
          <a:bodyPr wrap="square" lIns="0" tIns="0" rIns="0" bIns="0" rtlCol="0" anchor="t"/>
          <a:lstStyle/>
          <a:p>
            <a:pPr indent="0" marL="0">
              <a:buNone/>
            </a:pPr>
            <a:r>
              <a:rPr lang="en-US" sz="1200" dirty="0">
                <a:solidFill>
                  <a:schemeClr val="accent4"/>
                </a:solidFill>
              </a:rPr>
              <a:t>별도 메모</a:t>
            </a:r>
            <a:endParaRPr lang="en-US" sz="1200" dirty="0"/>
          </a:p>
        </p:txBody>
      </p:sp>
      <p:sp>
        <p:nvSpPr>
          <p:cNvPr id="29" name="student hub"/>
          <p:cNvSpPr/>
          <p:nvPr/>
        </p:nvSpPr>
        <p:spPr>
          <a:xfrm>
            <a:off x="2743200" y="3063240"/>
            <a:ext cx="1463040" cy="1463040"/>
          </a:xfrm>
          <a:prstGeom prst="ellipse">
            <a:avLst/>
          </a:prstGeom>
          <a:solidFill>
            <a:schemeClr val="accent3"/>
          </a:solidFill>
          <a:ln w="50800">
            <a:solidFill>
              <a:schemeClr val="bg1"/>
            </a:solidFill>
            <a:prstDash val="solid"/>
          </a:ln>
          <a:effectLst>
            <a:outerShdw sx="100000" sy="100000" kx="0" ky="0" algn="bl" rotWithShape="0" blurRad="127000" dist="38100" dir="5400000">
              <a:srgbClr val="0A2540">
                <a:alpha val="14000"/>
              </a:srgbClr>
            </a:outerShdw>
          </a:effectLst>
        </p:spPr>
      </p:sp>
      <p:pic>
        <p:nvPicPr>
          <p:cNvPr id="30" name="student icon" descr="교육생">    </p:cNvPr>
          <p:cNvPicPr>
            <a:picLocks noChangeAspect="1"/>
          </p:cNvPicPr>
          <p:nvPr/>
        </p:nvPicPr>
        <p:blipFill>
          <a:blip r:embed="rId5"/>
          <a:stretch>
            <a:fillRect/>
          </a:stretch>
        </p:blipFill>
        <p:spPr>
          <a:xfrm>
            <a:off x="3246120" y="3264408"/>
            <a:ext cx="457200" cy="457200"/>
          </a:xfrm>
          <a:prstGeom prst="rect">
            <a:avLst/>
          </a:prstGeom>
        </p:spPr>
      </p:pic>
      <p:sp>
        <p:nvSpPr>
          <p:cNvPr id="31" name="Text 23"/>
          <p:cNvSpPr txBox="1"/>
          <p:nvPr/>
        </p:nvSpPr>
        <p:spPr>
          <a:xfrm>
            <a:off x="2743200" y="3794760"/>
            <a:ext cx="1463040" cy="320040"/>
          </a:xfrm>
          <a:prstGeom prst="rect">
            <a:avLst/>
          </a:prstGeom>
          <a:noFill/>
          <a:ln/>
        </p:spPr>
        <p:txBody>
          <a:bodyPr wrap="square" lIns="0" tIns="0" rIns="0" bIns="0" rtlCol="0" anchor="t"/>
          <a:lstStyle/>
          <a:p>
            <a:pPr algn="ctr" indent="0" marL="0">
              <a:buNone/>
            </a:pPr>
            <a:r>
              <a:rPr lang="en-US" sz="1300" b="1" dirty="0">
                <a:solidFill>
                  <a:schemeClr val="bg1"/>
                </a:solidFill>
              </a:rPr>
              <a:t>교육생 한 명</a:t>
            </a:r>
            <a:endParaRPr lang="en-US" sz="1300" dirty="0"/>
          </a:p>
        </p:txBody>
      </p:sp>
      <p:sp>
        <p:nvSpPr>
          <p:cNvPr id="32" name="number 1"/>
          <p:cNvSpPr/>
          <p:nvPr/>
        </p:nvSpPr>
        <p:spPr>
          <a:xfrm>
            <a:off x="7040880" y="1874520"/>
            <a:ext cx="502920" cy="502920"/>
          </a:xfrm>
          <a:prstGeom prst="ellipse">
            <a:avLst/>
          </a:prstGeom>
          <a:solidFill>
            <a:schemeClr val="accent2"/>
          </a:solidFill>
          <a:ln/>
        </p:spPr>
      </p:sp>
      <p:sp>
        <p:nvSpPr>
          <p:cNvPr id="33" name="Text 25"/>
          <p:cNvSpPr txBox="1"/>
          <p:nvPr/>
        </p:nvSpPr>
        <p:spPr>
          <a:xfrm>
            <a:off x="7040880" y="1874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34" name="Text 26"/>
          <p:cNvSpPr txBox="1"/>
          <p:nvPr/>
        </p:nvSpPr>
        <p:spPr>
          <a:xfrm>
            <a:off x="7772400" y="1783080"/>
            <a:ext cx="3657600" cy="274320"/>
          </a:xfrm>
          <a:prstGeom prst="rect">
            <a:avLst/>
          </a:prstGeom>
          <a:noFill/>
          <a:ln/>
        </p:spPr>
        <p:txBody>
          <a:bodyPr wrap="square" lIns="0" tIns="0" rIns="0" bIns="0" rtlCol="0" anchor="t"/>
          <a:lstStyle/>
          <a:p>
            <a:pPr indent="0" marL="0">
              <a:buNone/>
            </a:pPr>
            <a:r>
              <a:rPr lang="en-US" sz="1200" b="1" dirty="0">
                <a:solidFill>
                  <a:schemeClr val="accent4"/>
                </a:solidFill>
              </a:rPr>
              <a:t>수업 전</a:t>
            </a:r>
            <a:endParaRPr lang="en-US" sz="1200" dirty="0"/>
          </a:p>
        </p:txBody>
      </p:sp>
      <p:sp>
        <p:nvSpPr>
          <p:cNvPr id="35" name="Text 27"/>
          <p:cNvSpPr txBox="1"/>
          <p:nvPr/>
        </p:nvSpPr>
        <p:spPr>
          <a:xfrm>
            <a:off x="7772400" y="2057400"/>
            <a:ext cx="3840480" cy="411480"/>
          </a:xfrm>
          <a:prstGeom prst="rect">
            <a:avLst/>
          </a:prstGeom>
          <a:noFill/>
          <a:ln/>
        </p:spPr>
        <p:txBody>
          <a:bodyPr wrap="square" lIns="0" tIns="0" rIns="0" bIns="0" rtlCol="0" anchor="t"/>
          <a:lstStyle/>
          <a:p>
            <a:pPr indent="0" marL="0">
              <a:buNone/>
            </a:pPr>
            <a:r>
              <a:rPr lang="en-US" sz="2000" b="1" dirty="0">
                <a:solidFill>
                  <a:schemeClr val="tx1"/>
                </a:solidFill>
              </a:rPr>
              <a:t>지난 진도를 다시 찾고</a:t>
            </a:r>
            <a:endParaRPr lang="en-US" sz="2000" dirty="0"/>
          </a:p>
        </p:txBody>
      </p:sp>
      <p:sp>
        <p:nvSpPr>
          <p:cNvPr id="36" name="number 2"/>
          <p:cNvSpPr/>
          <p:nvPr/>
        </p:nvSpPr>
        <p:spPr>
          <a:xfrm>
            <a:off x="7040880" y="2743200"/>
            <a:ext cx="502920" cy="502920"/>
          </a:xfrm>
          <a:prstGeom prst="ellipse">
            <a:avLst/>
          </a:prstGeom>
          <a:solidFill>
            <a:schemeClr val="accent2"/>
          </a:solidFill>
          <a:ln/>
        </p:spPr>
      </p:sp>
      <p:sp>
        <p:nvSpPr>
          <p:cNvPr id="37" name="Text 29"/>
          <p:cNvSpPr txBox="1"/>
          <p:nvPr/>
        </p:nvSpPr>
        <p:spPr>
          <a:xfrm>
            <a:off x="7040880" y="2743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8" name="Text 30"/>
          <p:cNvSpPr txBox="1"/>
          <p:nvPr/>
        </p:nvSpPr>
        <p:spPr>
          <a:xfrm>
            <a:off x="7772400" y="2651760"/>
            <a:ext cx="3657600" cy="274320"/>
          </a:xfrm>
          <a:prstGeom prst="rect">
            <a:avLst/>
          </a:prstGeom>
          <a:noFill/>
          <a:ln/>
        </p:spPr>
        <p:txBody>
          <a:bodyPr wrap="square" lIns="0" tIns="0" rIns="0" bIns="0" rtlCol="0" anchor="t"/>
          <a:lstStyle/>
          <a:p>
            <a:pPr indent="0" marL="0">
              <a:buNone/>
            </a:pPr>
            <a:r>
              <a:rPr lang="en-US" sz="1200" b="1" dirty="0">
                <a:solidFill>
                  <a:schemeClr val="accent4"/>
                </a:solidFill>
              </a:rPr>
              <a:t>수업 후</a:t>
            </a:r>
            <a:endParaRPr lang="en-US" sz="1200" dirty="0"/>
          </a:p>
        </p:txBody>
      </p:sp>
      <p:sp>
        <p:nvSpPr>
          <p:cNvPr id="39" name="Text 31"/>
          <p:cNvSpPr txBox="1"/>
          <p:nvPr/>
        </p:nvSpPr>
        <p:spPr>
          <a:xfrm>
            <a:off x="7772400" y="2926080"/>
            <a:ext cx="3840480" cy="411480"/>
          </a:xfrm>
          <a:prstGeom prst="rect">
            <a:avLst/>
          </a:prstGeom>
          <a:noFill/>
          <a:ln/>
        </p:spPr>
        <p:txBody>
          <a:bodyPr wrap="square" lIns="0" tIns="0" rIns="0" bIns="0" rtlCol="0" anchor="t"/>
          <a:lstStyle/>
          <a:p>
            <a:pPr indent="0" marL="0">
              <a:buNone/>
            </a:pPr>
            <a:r>
              <a:rPr lang="en-US" sz="2000" b="1" dirty="0">
                <a:solidFill>
                  <a:schemeClr val="tx1"/>
                </a:solidFill>
              </a:rPr>
              <a:t>배운 내용을 따로 정리하고</a:t>
            </a:r>
            <a:endParaRPr lang="en-US" sz="2000" dirty="0"/>
          </a:p>
        </p:txBody>
      </p:sp>
      <p:sp>
        <p:nvSpPr>
          <p:cNvPr id="40" name="number 3"/>
          <p:cNvSpPr/>
          <p:nvPr/>
        </p:nvSpPr>
        <p:spPr>
          <a:xfrm>
            <a:off x="7040880" y="3611880"/>
            <a:ext cx="502920" cy="502920"/>
          </a:xfrm>
          <a:prstGeom prst="ellipse">
            <a:avLst/>
          </a:prstGeom>
          <a:solidFill>
            <a:schemeClr val="accent3"/>
          </a:solidFill>
          <a:ln/>
        </p:spPr>
      </p:sp>
      <p:sp>
        <p:nvSpPr>
          <p:cNvPr id="41" name="Text 33"/>
          <p:cNvSpPr txBox="1"/>
          <p:nvPr/>
        </p:nvSpPr>
        <p:spPr>
          <a:xfrm>
            <a:off x="7040880" y="36118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42" name="Text 34"/>
          <p:cNvSpPr txBox="1"/>
          <p:nvPr/>
        </p:nvSpPr>
        <p:spPr>
          <a:xfrm>
            <a:off x="7772400" y="3520440"/>
            <a:ext cx="3657600" cy="274320"/>
          </a:xfrm>
          <a:prstGeom prst="rect">
            <a:avLst/>
          </a:prstGeom>
          <a:noFill/>
          <a:ln/>
        </p:spPr>
        <p:txBody>
          <a:bodyPr wrap="square" lIns="0" tIns="0" rIns="0" bIns="0" rtlCol="0" anchor="t"/>
          <a:lstStyle/>
          <a:p>
            <a:pPr indent="0" marL="0">
              <a:buNone/>
            </a:pPr>
            <a:r>
              <a:rPr lang="en-US" sz="1200" b="1" dirty="0">
                <a:solidFill>
                  <a:schemeClr val="accent4"/>
                </a:solidFill>
              </a:rPr>
              <a:t>다음 수업</a:t>
            </a:r>
            <a:endParaRPr lang="en-US" sz="1200" dirty="0"/>
          </a:p>
        </p:txBody>
      </p:sp>
      <p:sp>
        <p:nvSpPr>
          <p:cNvPr id="43" name="Text 35"/>
          <p:cNvSpPr txBox="1"/>
          <p:nvPr/>
        </p:nvSpPr>
        <p:spPr>
          <a:xfrm>
            <a:off x="7772400" y="3794760"/>
            <a:ext cx="3840480" cy="411480"/>
          </a:xfrm>
          <a:prstGeom prst="rect">
            <a:avLst/>
          </a:prstGeom>
          <a:noFill/>
          <a:ln/>
        </p:spPr>
        <p:txBody>
          <a:bodyPr wrap="square" lIns="0" tIns="0" rIns="0" bIns="0" rtlCol="0" anchor="t"/>
          <a:lstStyle/>
          <a:p>
            <a:pPr indent="0" marL="0">
              <a:buNone/>
            </a:pPr>
            <a:r>
              <a:rPr lang="en-US" sz="2000" b="1" dirty="0">
                <a:solidFill>
                  <a:schemeClr val="tx1"/>
                </a:solidFill>
              </a:rPr>
              <a:t>기록을 또 확인합니다</a:t>
            </a:r>
            <a:endParaRPr lang="en-US" sz="2000" dirty="0"/>
          </a:p>
        </p:txBody>
      </p:sp>
      <p:sp>
        <p:nvSpPr>
          <p:cNvPr id="44" name="quote box"/>
          <p:cNvSpPr/>
          <p:nvPr/>
        </p:nvSpPr>
        <p:spPr>
          <a:xfrm>
            <a:off x="7040880" y="4526280"/>
            <a:ext cx="4599432" cy="1234440"/>
          </a:xfrm>
          <a:prstGeom prst="roundRect">
            <a:avLst>
              <a:gd name="adj" fmla="val 10370"/>
            </a:avLst>
          </a:prstGeom>
          <a:solidFill>
            <a:schemeClr val="accent6"/>
          </a:solidFill>
          <a:ln/>
        </p:spPr>
      </p:sp>
      <p:sp>
        <p:nvSpPr>
          <p:cNvPr id="45" name="Text 37"/>
          <p:cNvSpPr txBox="1"/>
          <p:nvPr/>
        </p:nvSpPr>
        <p:spPr>
          <a:xfrm>
            <a:off x="7315200" y="4526280"/>
            <a:ext cx="4206240" cy="1234440"/>
          </a:xfrm>
          <a:prstGeom prst="rect">
            <a:avLst/>
          </a:prstGeom>
          <a:noFill/>
          <a:ln/>
        </p:spPr>
        <p:txBody>
          <a:bodyPr wrap="square" lIns="0" tIns="0" rIns="0" bIns="0" rtlCol="0" anchor="ctr"/>
          <a:lstStyle/>
          <a:p>
            <a:pPr indent="0" marL="0">
              <a:buNone/>
            </a:pPr>
            <a:r>
              <a:rPr lang="en-US" sz="2200" b="1" dirty="0">
                <a:solidFill>
                  <a:schemeClr val="accent2"/>
                </a:solidFill>
              </a:rPr>
              <a:t>“진도는 엑셀에,</a:t>
            </a:r>
            <a:endParaRPr lang="en-US" sz="2200" dirty="0"/>
          </a:p>
          <a:p>
            <a:pPr indent="0" marL="0">
              <a:buNone/>
            </a:pPr>
            <a:r>
              <a:rPr lang="en-US" sz="2200" b="1" dirty="0">
                <a:solidFill>
                  <a:schemeClr val="accent2"/>
                </a:solidFill>
              </a:rPr>
              <a:t>다음 수업 준비는 다시.”</a:t>
            </a:r>
            <a:endParaRPr lang="en-US" sz="2200" dirty="0"/>
          </a:p>
        </p:txBody>
      </p:sp>
      <p:sp>
        <p:nvSpPr>
          <p:cNvPr id="46" name="Text 38"/>
          <p:cNvSpPr txBox="1"/>
          <p:nvPr/>
        </p:nvSpPr>
        <p:spPr>
          <a:xfrm>
            <a:off x="7040880" y="5897880"/>
            <a:ext cx="4599432" cy="274320"/>
          </a:xfrm>
          <a:prstGeom prst="rect">
            <a:avLst/>
          </a:prstGeom>
          <a:noFill/>
          <a:ln/>
        </p:spPr>
        <p:txBody>
          <a:bodyPr wrap="square" lIns="0" tIns="0" rIns="0" bIns="0" rtlCol="0" anchor="t"/>
          <a:lstStyle/>
          <a:p>
            <a:pPr indent="0" marL="0">
              <a:buNone/>
            </a:pPr>
            <a:r>
              <a:rPr lang="en-US" sz="1000" dirty="0">
                <a:solidFill>
                  <a:schemeClr val="accent4"/>
                </a:solidFill>
              </a:rPr>
              <a:t>대표자·협업 강사의 현장 관찰 기반 문제 정의 (업계 통계 아님)</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1"/>
                </a:solidFill>
              </a:rPr>
              <a:t>02  해결</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수업 단위로 이어지는 다섯 단계</a:t>
            </a:r>
            <a:endParaRPr lang="en-US" sz="3200" dirty="0"/>
          </a:p>
        </p:txBody>
      </p:sp>
      <p:sp>
        <p:nvSpPr>
          <p:cNvPr id="5" name="step card 1"/>
          <p:cNvSpPr/>
          <p:nvPr/>
        </p:nvSpPr>
        <p:spPr>
          <a:xfrm>
            <a:off x="548640" y="1783080"/>
            <a:ext cx="1999427" cy="2880360"/>
          </a:xfrm>
          <a:prstGeom prst="roundRect">
            <a:avLst>
              <a:gd name="adj" fmla="val 6403"/>
            </a:avLst>
          </a:prstGeom>
          <a:solidFill>
            <a:schemeClr val="bg1">
              <a:alpha val="10000"/>
            </a:schemeClr>
          </a:solidFill>
          <a:ln w="9525">
            <a:solidFill>
              <a:schemeClr val="accent5">
                <a:alpha val="40000"/>
              </a:schemeClr>
            </a:solidFill>
            <a:prstDash val="solid"/>
          </a:ln>
        </p:spPr>
      </p:sp>
      <p:sp>
        <p:nvSpPr>
          <p:cNvPr id="6" name="수업 준비 circle"/>
          <p:cNvSpPr/>
          <p:nvPr/>
        </p:nvSpPr>
        <p:spPr>
          <a:xfrm>
            <a:off x="822960" y="2103120"/>
            <a:ext cx="731520" cy="731520"/>
          </a:xfrm>
          <a:prstGeom prst="ellipse">
            <a:avLst/>
          </a:prstGeom>
          <a:solidFill>
            <a:schemeClr val="accent1"/>
          </a:solidFill>
          <a:ln/>
        </p:spPr>
      </p:sp>
      <p:pic>
        <p:nvPicPr>
          <p:cNvPr id="7" name="수업 준비 icon" descr="수업 준비">    </p:cNvPr>
          <p:cNvPicPr>
            <a:picLocks noChangeAspect="1"/>
          </p:cNvPicPr>
          <p:nvPr/>
        </p:nvPicPr>
        <p:blipFill>
          <a:blip r:embed="rId1"/>
          <a:stretch>
            <a:fillRect/>
          </a:stretch>
        </p:blipFill>
        <p:spPr>
          <a:xfrm>
            <a:off x="1020470" y="2300630"/>
            <a:ext cx="336499" cy="336499"/>
          </a:xfrm>
          <a:prstGeom prst="rect">
            <a:avLst/>
          </a:prstGeom>
        </p:spPr>
      </p:pic>
      <p:sp>
        <p:nvSpPr>
          <p:cNvPr id="8" name="Text 4"/>
          <p:cNvSpPr txBox="1"/>
          <p:nvPr/>
        </p:nvSpPr>
        <p:spPr>
          <a:xfrm>
            <a:off x="822960" y="3017520"/>
            <a:ext cx="1542227"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STEP 1</a:t>
            </a:r>
            <a:endParaRPr lang="en-US" sz="1100" dirty="0"/>
          </a:p>
        </p:txBody>
      </p:sp>
      <p:sp>
        <p:nvSpPr>
          <p:cNvPr id="9" name="Text 5"/>
          <p:cNvSpPr txBox="1"/>
          <p:nvPr/>
        </p:nvSpPr>
        <p:spPr>
          <a:xfrm>
            <a:off x="822960" y="3291840"/>
            <a:ext cx="1542227" cy="384048"/>
          </a:xfrm>
          <a:prstGeom prst="rect">
            <a:avLst/>
          </a:prstGeom>
          <a:noFill/>
          <a:ln/>
        </p:spPr>
        <p:txBody>
          <a:bodyPr wrap="square" lIns="0" tIns="0" rIns="0" bIns="0" rtlCol="0" anchor="t"/>
          <a:lstStyle/>
          <a:p>
            <a:pPr indent="0" marL="0">
              <a:buNone/>
            </a:pPr>
            <a:r>
              <a:rPr lang="en-US" sz="2000" b="1" dirty="0">
                <a:solidFill>
                  <a:schemeClr val="bg1"/>
                </a:solidFill>
              </a:rPr>
              <a:t>수업 준비</a:t>
            </a:r>
            <a:endParaRPr lang="en-US" sz="2000" dirty="0"/>
          </a:p>
        </p:txBody>
      </p:sp>
      <p:sp>
        <p:nvSpPr>
          <p:cNvPr id="10" name="Text 6"/>
          <p:cNvSpPr txBox="1"/>
          <p:nvPr/>
        </p:nvSpPr>
        <p:spPr>
          <a:xfrm>
            <a:off x="822960" y="3749040"/>
            <a:ext cx="1587947" cy="822960"/>
          </a:xfrm>
          <a:prstGeom prst="rect">
            <a:avLst/>
          </a:prstGeom>
          <a:noFill/>
          <a:ln/>
        </p:spPr>
        <p:txBody>
          <a:bodyPr wrap="square" lIns="0" tIns="0" rIns="0" bIns="0" rtlCol="0" anchor="t"/>
          <a:lstStyle/>
          <a:p>
            <a:pPr indent="0" marL="0">
              <a:lnSpc>
                <a:spcPct val="110000"/>
              </a:lnSpc>
              <a:buNone/>
            </a:pPr>
            <a:r>
              <a:rPr lang="en-US" sz="1400" dirty="0">
                <a:solidFill>
                  <a:schemeClr val="accent6"/>
                </a:solidFill>
              </a:rPr>
              <a:t>일정 작성·초대</a:t>
            </a:r>
            <a:endParaRPr lang="en-US" sz="1400" dirty="0"/>
          </a:p>
          <a:p>
            <a:pPr indent="0" marL="0">
              <a:lnSpc>
                <a:spcPct val="110000"/>
              </a:lnSpc>
              <a:buNone/>
            </a:pPr>
            <a:r>
              <a:rPr lang="en-US" sz="1400" dirty="0">
                <a:solidFill>
                  <a:schemeClr val="accent6"/>
                </a:solidFill>
              </a:rPr>
              <a:t>참석 응답 확인</a:t>
            </a:r>
            <a:endParaRPr lang="en-US" sz="1400" dirty="0"/>
          </a:p>
        </p:txBody>
      </p:sp>
      <p:pic>
        <p:nvPicPr>
          <p:cNvPr id="11" name="step arrow 0" descr="다음 단계">    </p:cNvPr>
          <p:cNvPicPr>
            <a:picLocks noChangeAspect="1"/>
          </p:cNvPicPr>
          <p:nvPr/>
        </p:nvPicPr>
        <p:blipFill>
          <a:blip r:embed="rId2"/>
          <a:stretch>
            <a:fillRect/>
          </a:stretch>
        </p:blipFill>
        <p:spPr>
          <a:xfrm>
            <a:off x="2566355" y="3108960"/>
            <a:ext cx="237744" cy="237744"/>
          </a:xfrm>
          <a:prstGeom prst="rect">
            <a:avLst/>
          </a:prstGeom>
        </p:spPr>
      </p:pic>
      <p:sp>
        <p:nvSpPr>
          <p:cNvPr id="12" name="step card 2"/>
          <p:cNvSpPr/>
          <p:nvPr/>
        </p:nvSpPr>
        <p:spPr>
          <a:xfrm>
            <a:off x="2822387" y="1783080"/>
            <a:ext cx="1999427" cy="2880360"/>
          </a:xfrm>
          <a:prstGeom prst="roundRect">
            <a:avLst>
              <a:gd name="adj" fmla="val 6403"/>
            </a:avLst>
          </a:prstGeom>
          <a:solidFill>
            <a:schemeClr val="bg1">
              <a:alpha val="10000"/>
            </a:schemeClr>
          </a:solidFill>
          <a:ln w="9525">
            <a:solidFill>
              <a:schemeClr val="accent5">
                <a:alpha val="40000"/>
              </a:schemeClr>
            </a:solidFill>
            <a:prstDash val="solid"/>
          </a:ln>
        </p:spPr>
      </p:sp>
      <p:sp>
        <p:nvSpPr>
          <p:cNvPr id="13" name="서류 확인 circle"/>
          <p:cNvSpPr/>
          <p:nvPr/>
        </p:nvSpPr>
        <p:spPr>
          <a:xfrm>
            <a:off x="3096707" y="2103120"/>
            <a:ext cx="731520" cy="731520"/>
          </a:xfrm>
          <a:prstGeom prst="ellipse">
            <a:avLst/>
          </a:prstGeom>
          <a:solidFill>
            <a:schemeClr val="accent1"/>
          </a:solidFill>
          <a:ln/>
        </p:spPr>
      </p:sp>
      <p:pic>
        <p:nvPicPr>
          <p:cNvPr id="14" name="서류 확인 icon" descr="서류 확인">    </p:cNvPr>
          <p:cNvPicPr>
            <a:picLocks noChangeAspect="1"/>
          </p:cNvPicPr>
          <p:nvPr/>
        </p:nvPicPr>
        <p:blipFill>
          <a:blip r:embed="rId3"/>
          <a:stretch>
            <a:fillRect/>
          </a:stretch>
        </p:blipFill>
        <p:spPr>
          <a:xfrm>
            <a:off x="3294217" y="2300630"/>
            <a:ext cx="336499" cy="336499"/>
          </a:xfrm>
          <a:prstGeom prst="rect">
            <a:avLst/>
          </a:prstGeom>
        </p:spPr>
      </p:pic>
      <p:sp>
        <p:nvSpPr>
          <p:cNvPr id="15" name="Text 9"/>
          <p:cNvSpPr txBox="1"/>
          <p:nvPr/>
        </p:nvSpPr>
        <p:spPr>
          <a:xfrm>
            <a:off x="3096707" y="3017520"/>
            <a:ext cx="1542227"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STEP 2</a:t>
            </a:r>
            <a:endParaRPr lang="en-US" sz="1100" dirty="0"/>
          </a:p>
        </p:txBody>
      </p:sp>
      <p:sp>
        <p:nvSpPr>
          <p:cNvPr id="16" name="Text 10"/>
          <p:cNvSpPr txBox="1"/>
          <p:nvPr/>
        </p:nvSpPr>
        <p:spPr>
          <a:xfrm>
            <a:off x="3096707" y="3291840"/>
            <a:ext cx="1542227" cy="384048"/>
          </a:xfrm>
          <a:prstGeom prst="rect">
            <a:avLst/>
          </a:prstGeom>
          <a:noFill/>
          <a:ln/>
        </p:spPr>
        <p:txBody>
          <a:bodyPr wrap="square" lIns="0" tIns="0" rIns="0" bIns="0" rtlCol="0" anchor="t"/>
          <a:lstStyle/>
          <a:p>
            <a:pPr indent="0" marL="0">
              <a:buNone/>
            </a:pPr>
            <a:r>
              <a:rPr lang="en-US" sz="2000" b="1" dirty="0">
                <a:solidFill>
                  <a:schemeClr val="bg1"/>
                </a:solidFill>
              </a:rPr>
              <a:t>서류 확인</a:t>
            </a:r>
            <a:endParaRPr lang="en-US" sz="2000" dirty="0"/>
          </a:p>
        </p:txBody>
      </p:sp>
      <p:sp>
        <p:nvSpPr>
          <p:cNvPr id="17" name="Text 11"/>
          <p:cNvSpPr txBox="1"/>
          <p:nvPr/>
        </p:nvSpPr>
        <p:spPr>
          <a:xfrm>
            <a:off x="3096707" y="3749040"/>
            <a:ext cx="1587947" cy="822960"/>
          </a:xfrm>
          <a:prstGeom prst="rect">
            <a:avLst/>
          </a:prstGeom>
          <a:noFill/>
          <a:ln/>
        </p:spPr>
        <p:txBody>
          <a:bodyPr wrap="square" lIns="0" tIns="0" rIns="0" bIns="0" rtlCol="0" anchor="t"/>
          <a:lstStyle/>
          <a:p>
            <a:pPr indent="0" marL="0">
              <a:lnSpc>
                <a:spcPct val="110000"/>
              </a:lnSpc>
              <a:buNone/>
            </a:pPr>
            <a:r>
              <a:rPr lang="en-US" sz="1400" dirty="0">
                <a:solidFill>
                  <a:schemeClr val="accent6"/>
                </a:solidFill>
              </a:rPr>
              <a:t>면책동의서·</a:t>
            </a:r>
            <a:endParaRPr lang="en-US" sz="1400" dirty="0"/>
          </a:p>
          <a:p>
            <a:pPr indent="0" marL="0">
              <a:lnSpc>
                <a:spcPct val="110000"/>
              </a:lnSpc>
              <a:buNone/>
            </a:pPr>
            <a:r>
              <a:rPr lang="en-US" sz="1400" dirty="0">
                <a:solidFill>
                  <a:schemeClr val="accent6"/>
                </a:solidFill>
              </a:rPr>
              <a:t>의료진술서</a:t>
            </a:r>
            <a:endParaRPr lang="en-US" sz="1400" dirty="0"/>
          </a:p>
          <a:p>
            <a:pPr indent="0" marL="0">
              <a:lnSpc>
                <a:spcPct val="110000"/>
              </a:lnSpc>
              <a:buNone/>
            </a:pPr>
            <a:r>
              <a:rPr lang="en-US" sz="1400" dirty="0">
                <a:solidFill>
                  <a:schemeClr val="accent6"/>
                </a:solidFill>
              </a:rPr>
              <a:t>서명 상태 확인</a:t>
            </a:r>
            <a:endParaRPr lang="en-US" sz="1400" dirty="0"/>
          </a:p>
        </p:txBody>
      </p:sp>
      <p:pic>
        <p:nvPicPr>
          <p:cNvPr id="18" name="step arrow 1" descr="다음 단계">    </p:cNvPr>
          <p:cNvPicPr>
            <a:picLocks noChangeAspect="1"/>
          </p:cNvPicPr>
          <p:nvPr/>
        </p:nvPicPr>
        <p:blipFill>
          <a:blip r:embed="rId4"/>
          <a:stretch>
            <a:fillRect/>
          </a:stretch>
        </p:blipFill>
        <p:spPr>
          <a:xfrm>
            <a:off x="4840102" y="3108960"/>
            <a:ext cx="237744" cy="237744"/>
          </a:xfrm>
          <a:prstGeom prst="rect">
            <a:avLst/>
          </a:prstGeom>
        </p:spPr>
      </p:pic>
      <p:sp>
        <p:nvSpPr>
          <p:cNvPr id="19" name="step card 3"/>
          <p:cNvSpPr/>
          <p:nvPr/>
        </p:nvSpPr>
        <p:spPr>
          <a:xfrm>
            <a:off x="5096134" y="1783080"/>
            <a:ext cx="1999427" cy="2880360"/>
          </a:xfrm>
          <a:prstGeom prst="roundRect">
            <a:avLst>
              <a:gd name="adj" fmla="val 6403"/>
            </a:avLst>
          </a:prstGeom>
          <a:solidFill>
            <a:schemeClr val="bg1">
              <a:alpha val="10000"/>
            </a:schemeClr>
          </a:solidFill>
          <a:ln w="9525">
            <a:solidFill>
              <a:schemeClr val="accent5">
                <a:alpha val="40000"/>
              </a:schemeClr>
            </a:solidFill>
            <a:prstDash val="solid"/>
          </a:ln>
        </p:spPr>
      </p:sp>
      <p:sp>
        <p:nvSpPr>
          <p:cNvPr id="20" name="교육 기록 circle"/>
          <p:cNvSpPr/>
          <p:nvPr/>
        </p:nvSpPr>
        <p:spPr>
          <a:xfrm>
            <a:off x="5370454" y="2103120"/>
            <a:ext cx="731520" cy="731520"/>
          </a:xfrm>
          <a:prstGeom prst="ellipse">
            <a:avLst/>
          </a:prstGeom>
          <a:solidFill>
            <a:schemeClr val="accent1"/>
          </a:solidFill>
          <a:ln/>
        </p:spPr>
      </p:sp>
      <p:pic>
        <p:nvPicPr>
          <p:cNvPr id="21" name="교육 기록 icon" descr="교육 기록">    </p:cNvPr>
          <p:cNvPicPr>
            <a:picLocks noChangeAspect="1"/>
          </p:cNvPicPr>
          <p:nvPr/>
        </p:nvPicPr>
        <p:blipFill>
          <a:blip r:embed="rId5"/>
          <a:stretch>
            <a:fillRect/>
          </a:stretch>
        </p:blipFill>
        <p:spPr>
          <a:xfrm>
            <a:off x="5567964" y="2300630"/>
            <a:ext cx="336499" cy="336499"/>
          </a:xfrm>
          <a:prstGeom prst="rect">
            <a:avLst/>
          </a:prstGeom>
        </p:spPr>
      </p:pic>
      <p:sp>
        <p:nvSpPr>
          <p:cNvPr id="22" name="Text 14"/>
          <p:cNvSpPr txBox="1"/>
          <p:nvPr/>
        </p:nvSpPr>
        <p:spPr>
          <a:xfrm>
            <a:off x="5370454" y="3017520"/>
            <a:ext cx="1542227"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STEP 3</a:t>
            </a:r>
            <a:endParaRPr lang="en-US" sz="1100" dirty="0"/>
          </a:p>
        </p:txBody>
      </p:sp>
      <p:sp>
        <p:nvSpPr>
          <p:cNvPr id="23" name="Text 15"/>
          <p:cNvSpPr txBox="1"/>
          <p:nvPr/>
        </p:nvSpPr>
        <p:spPr>
          <a:xfrm>
            <a:off x="5370454" y="3291840"/>
            <a:ext cx="1542227" cy="384048"/>
          </a:xfrm>
          <a:prstGeom prst="rect">
            <a:avLst/>
          </a:prstGeom>
          <a:noFill/>
          <a:ln/>
        </p:spPr>
        <p:txBody>
          <a:bodyPr wrap="square" lIns="0" tIns="0" rIns="0" bIns="0" rtlCol="0" anchor="t"/>
          <a:lstStyle/>
          <a:p>
            <a:pPr indent="0" marL="0">
              <a:buNone/>
            </a:pPr>
            <a:r>
              <a:rPr lang="en-US" sz="2000" b="1" dirty="0">
                <a:solidFill>
                  <a:schemeClr val="bg1"/>
                </a:solidFill>
              </a:rPr>
              <a:t>교육 기록</a:t>
            </a:r>
            <a:endParaRPr lang="en-US" sz="2000" dirty="0"/>
          </a:p>
        </p:txBody>
      </p:sp>
      <p:sp>
        <p:nvSpPr>
          <p:cNvPr id="24" name="Text 16"/>
          <p:cNvSpPr txBox="1"/>
          <p:nvPr/>
        </p:nvSpPr>
        <p:spPr>
          <a:xfrm>
            <a:off x="5370454" y="3749040"/>
            <a:ext cx="1587947" cy="822960"/>
          </a:xfrm>
          <a:prstGeom prst="rect">
            <a:avLst/>
          </a:prstGeom>
          <a:noFill/>
          <a:ln/>
        </p:spPr>
        <p:txBody>
          <a:bodyPr wrap="square" lIns="0" tIns="0" rIns="0" bIns="0" rtlCol="0" anchor="t"/>
          <a:lstStyle/>
          <a:p>
            <a:pPr indent="0" marL="0">
              <a:lnSpc>
                <a:spcPct val="110000"/>
              </a:lnSpc>
              <a:buNone/>
            </a:pPr>
            <a:r>
              <a:rPr lang="en-US" sz="1400" dirty="0">
                <a:solidFill>
                  <a:schemeClr val="accent6"/>
                </a:solidFill>
              </a:rPr>
              <a:t>과정별 요건</a:t>
            </a:r>
            <a:endParaRPr lang="en-US" sz="1400" dirty="0"/>
          </a:p>
          <a:p>
            <a:pPr indent="0" marL="0">
              <a:lnSpc>
                <a:spcPct val="110000"/>
              </a:lnSpc>
              <a:buNone/>
            </a:pPr>
            <a:r>
              <a:rPr lang="en-US" sz="1400" dirty="0">
                <a:solidFill>
                  <a:schemeClr val="accent6"/>
                </a:solidFill>
              </a:rPr>
              <a:t>완료 상태 관리</a:t>
            </a:r>
            <a:endParaRPr lang="en-US" sz="1400" dirty="0"/>
          </a:p>
        </p:txBody>
      </p:sp>
      <p:pic>
        <p:nvPicPr>
          <p:cNvPr id="25" name="step arrow 2" descr="다음 단계">    </p:cNvPr>
          <p:cNvPicPr>
            <a:picLocks noChangeAspect="1"/>
          </p:cNvPicPr>
          <p:nvPr/>
        </p:nvPicPr>
        <p:blipFill>
          <a:blip r:embed="rId6"/>
          <a:stretch>
            <a:fillRect/>
          </a:stretch>
        </p:blipFill>
        <p:spPr>
          <a:xfrm>
            <a:off x="7113849" y="3108960"/>
            <a:ext cx="237744" cy="237744"/>
          </a:xfrm>
          <a:prstGeom prst="rect">
            <a:avLst/>
          </a:prstGeom>
        </p:spPr>
      </p:pic>
      <p:sp>
        <p:nvSpPr>
          <p:cNvPr id="26" name="step card 4"/>
          <p:cNvSpPr/>
          <p:nvPr/>
        </p:nvSpPr>
        <p:spPr>
          <a:xfrm>
            <a:off x="7369881" y="1783080"/>
            <a:ext cx="1999427" cy="2880360"/>
          </a:xfrm>
          <a:prstGeom prst="roundRect">
            <a:avLst>
              <a:gd name="adj" fmla="val 6403"/>
            </a:avLst>
          </a:prstGeom>
          <a:solidFill>
            <a:schemeClr val="bg1">
              <a:alpha val="10000"/>
            </a:schemeClr>
          </a:solidFill>
          <a:ln w="9525">
            <a:solidFill>
              <a:schemeClr val="accent5">
                <a:alpha val="40000"/>
              </a:schemeClr>
            </a:solidFill>
            <a:prstDash val="solid"/>
          </a:ln>
        </p:spPr>
      </p:sp>
      <p:sp>
        <p:nvSpPr>
          <p:cNvPr id="27" name="수업 마무리 circle"/>
          <p:cNvSpPr/>
          <p:nvPr/>
        </p:nvSpPr>
        <p:spPr>
          <a:xfrm>
            <a:off x="7644201" y="2103120"/>
            <a:ext cx="731520" cy="731520"/>
          </a:xfrm>
          <a:prstGeom prst="ellipse">
            <a:avLst/>
          </a:prstGeom>
          <a:solidFill>
            <a:schemeClr val="accent3"/>
          </a:solidFill>
          <a:ln/>
        </p:spPr>
      </p:sp>
      <p:pic>
        <p:nvPicPr>
          <p:cNvPr id="28" name="수업 마무리 icon" descr="수업 마무리">    </p:cNvPr>
          <p:cNvPicPr>
            <a:picLocks noChangeAspect="1"/>
          </p:cNvPicPr>
          <p:nvPr/>
        </p:nvPicPr>
        <p:blipFill>
          <a:blip r:embed="rId7"/>
          <a:stretch>
            <a:fillRect/>
          </a:stretch>
        </p:blipFill>
        <p:spPr>
          <a:xfrm>
            <a:off x="7841712" y="2300630"/>
            <a:ext cx="336499" cy="336499"/>
          </a:xfrm>
          <a:prstGeom prst="rect">
            <a:avLst/>
          </a:prstGeom>
        </p:spPr>
      </p:pic>
      <p:sp>
        <p:nvSpPr>
          <p:cNvPr id="29" name="Text 19"/>
          <p:cNvSpPr txBox="1"/>
          <p:nvPr/>
        </p:nvSpPr>
        <p:spPr>
          <a:xfrm>
            <a:off x="7644201" y="3017520"/>
            <a:ext cx="1542227"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STEP 4</a:t>
            </a:r>
            <a:endParaRPr lang="en-US" sz="1100" dirty="0"/>
          </a:p>
        </p:txBody>
      </p:sp>
      <p:sp>
        <p:nvSpPr>
          <p:cNvPr id="30" name="Text 20"/>
          <p:cNvSpPr txBox="1"/>
          <p:nvPr/>
        </p:nvSpPr>
        <p:spPr>
          <a:xfrm>
            <a:off x="7644201" y="3291840"/>
            <a:ext cx="1542227" cy="384048"/>
          </a:xfrm>
          <a:prstGeom prst="rect">
            <a:avLst/>
          </a:prstGeom>
          <a:noFill/>
          <a:ln/>
        </p:spPr>
        <p:txBody>
          <a:bodyPr wrap="square" lIns="0" tIns="0" rIns="0" bIns="0" rtlCol="0" anchor="t"/>
          <a:lstStyle/>
          <a:p>
            <a:pPr indent="0" marL="0">
              <a:buNone/>
            </a:pPr>
            <a:r>
              <a:rPr lang="en-US" sz="2000" b="1" dirty="0">
                <a:solidFill>
                  <a:schemeClr val="bg1"/>
                </a:solidFill>
              </a:rPr>
              <a:t>수업 마무리</a:t>
            </a:r>
            <a:endParaRPr lang="en-US" sz="2000" dirty="0"/>
          </a:p>
        </p:txBody>
      </p:sp>
      <p:sp>
        <p:nvSpPr>
          <p:cNvPr id="31" name="Text 21"/>
          <p:cNvSpPr txBox="1"/>
          <p:nvPr/>
        </p:nvSpPr>
        <p:spPr>
          <a:xfrm>
            <a:off x="7644201" y="3749040"/>
            <a:ext cx="1587947" cy="822960"/>
          </a:xfrm>
          <a:prstGeom prst="rect">
            <a:avLst/>
          </a:prstGeom>
          <a:noFill/>
          <a:ln/>
        </p:spPr>
        <p:txBody>
          <a:bodyPr wrap="square" lIns="0" tIns="0" rIns="0" bIns="0" rtlCol="0" anchor="t"/>
          <a:lstStyle/>
          <a:p>
            <a:pPr indent="0" marL="0">
              <a:lnSpc>
                <a:spcPct val="110000"/>
              </a:lnSpc>
              <a:buNone/>
            </a:pPr>
            <a:r>
              <a:rPr lang="en-US" sz="1400" dirty="0">
                <a:solidFill>
                  <a:schemeClr val="accent6"/>
                </a:solidFill>
              </a:rPr>
              <a:t>디브리핑 작성</a:t>
            </a:r>
            <a:endParaRPr lang="en-US" sz="1400" dirty="0"/>
          </a:p>
          <a:p>
            <a:pPr indent="0" marL="0">
              <a:lnSpc>
                <a:spcPct val="110000"/>
              </a:lnSpc>
              <a:buNone/>
            </a:pPr>
            <a:r>
              <a:rPr lang="en-US" sz="1400" dirty="0">
                <a:solidFill>
                  <a:schemeClr val="accent6"/>
                </a:solidFill>
              </a:rPr>
              <a:t>이전 기록 조회</a:t>
            </a:r>
            <a:endParaRPr lang="en-US" sz="1400" dirty="0"/>
          </a:p>
        </p:txBody>
      </p:sp>
      <p:pic>
        <p:nvPicPr>
          <p:cNvPr id="32" name="step arrow 3" descr="다음 단계">    </p:cNvPr>
          <p:cNvPicPr>
            <a:picLocks noChangeAspect="1"/>
          </p:cNvPicPr>
          <p:nvPr/>
        </p:nvPicPr>
        <p:blipFill>
          <a:blip r:embed="rId8"/>
          <a:stretch>
            <a:fillRect/>
          </a:stretch>
        </p:blipFill>
        <p:spPr>
          <a:xfrm>
            <a:off x="9387596" y="3108960"/>
            <a:ext cx="237744" cy="237744"/>
          </a:xfrm>
          <a:prstGeom prst="rect">
            <a:avLst/>
          </a:prstGeom>
        </p:spPr>
      </p:pic>
      <p:sp>
        <p:nvSpPr>
          <p:cNvPr id="33" name="step card 5"/>
          <p:cNvSpPr/>
          <p:nvPr/>
        </p:nvSpPr>
        <p:spPr>
          <a:xfrm>
            <a:off x="9643628" y="1783080"/>
            <a:ext cx="1999427" cy="2880360"/>
          </a:xfrm>
          <a:prstGeom prst="roundRect">
            <a:avLst>
              <a:gd name="adj" fmla="val 6403"/>
            </a:avLst>
          </a:prstGeom>
          <a:solidFill>
            <a:schemeClr val="bg1">
              <a:alpha val="10000"/>
            </a:schemeClr>
          </a:solidFill>
          <a:ln w="9525">
            <a:solidFill>
              <a:schemeClr val="accent5">
                <a:alpha val="40000"/>
              </a:schemeClr>
            </a:solidFill>
            <a:prstDash val="solid"/>
          </a:ln>
        </p:spPr>
      </p:sp>
      <p:sp>
        <p:nvSpPr>
          <p:cNvPr id="34" name="관계 관리 circle"/>
          <p:cNvSpPr/>
          <p:nvPr/>
        </p:nvSpPr>
        <p:spPr>
          <a:xfrm>
            <a:off x="9917948" y="2103120"/>
            <a:ext cx="731520" cy="731520"/>
          </a:xfrm>
          <a:prstGeom prst="ellipse">
            <a:avLst/>
          </a:prstGeom>
          <a:solidFill>
            <a:schemeClr val="accent1"/>
          </a:solidFill>
          <a:ln/>
        </p:spPr>
      </p:sp>
      <p:pic>
        <p:nvPicPr>
          <p:cNvPr id="35" name="관계 관리 icon" descr="관계 관리">    </p:cNvPr>
          <p:cNvPicPr>
            <a:picLocks noChangeAspect="1"/>
          </p:cNvPicPr>
          <p:nvPr/>
        </p:nvPicPr>
        <p:blipFill>
          <a:blip r:embed="rId9"/>
          <a:stretch>
            <a:fillRect/>
          </a:stretch>
        </p:blipFill>
        <p:spPr>
          <a:xfrm>
            <a:off x="10115459" y="2300630"/>
            <a:ext cx="336499" cy="336499"/>
          </a:xfrm>
          <a:prstGeom prst="rect">
            <a:avLst/>
          </a:prstGeom>
        </p:spPr>
      </p:pic>
      <p:sp>
        <p:nvSpPr>
          <p:cNvPr id="36" name="Text 24"/>
          <p:cNvSpPr txBox="1"/>
          <p:nvPr/>
        </p:nvSpPr>
        <p:spPr>
          <a:xfrm>
            <a:off x="9917948" y="3017520"/>
            <a:ext cx="1542227" cy="256032"/>
          </a:xfrm>
          <a:prstGeom prst="rect">
            <a:avLst/>
          </a:prstGeom>
          <a:noFill/>
          <a:ln/>
        </p:spPr>
        <p:txBody>
          <a:bodyPr wrap="square" lIns="0" tIns="0" rIns="0" bIns="0" rtlCol="0" anchor="t"/>
          <a:lstStyle/>
          <a:p>
            <a:pPr indent="0" marL="0">
              <a:buNone/>
            </a:pPr>
            <a:r>
              <a:rPr lang="en-US" sz="1100" b="1" spc="100" kern="0" dirty="0">
                <a:solidFill>
                  <a:schemeClr val="accent1"/>
                </a:solidFill>
              </a:rPr>
              <a:t>STEP 5</a:t>
            </a:r>
            <a:endParaRPr lang="en-US" sz="1100" dirty="0"/>
          </a:p>
        </p:txBody>
      </p:sp>
      <p:sp>
        <p:nvSpPr>
          <p:cNvPr id="37" name="Text 25"/>
          <p:cNvSpPr txBox="1"/>
          <p:nvPr/>
        </p:nvSpPr>
        <p:spPr>
          <a:xfrm>
            <a:off x="9917948" y="3291840"/>
            <a:ext cx="1542227" cy="384048"/>
          </a:xfrm>
          <a:prstGeom prst="rect">
            <a:avLst/>
          </a:prstGeom>
          <a:noFill/>
          <a:ln/>
        </p:spPr>
        <p:txBody>
          <a:bodyPr wrap="square" lIns="0" tIns="0" rIns="0" bIns="0" rtlCol="0" anchor="t"/>
          <a:lstStyle/>
          <a:p>
            <a:pPr indent="0" marL="0">
              <a:buNone/>
            </a:pPr>
            <a:r>
              <a:rPr lang="en-US" sz="2000" b="1" dirty="0">
                <a:solidFill>
                  <a:schemeClr val="bg1"/>
                </a:solidFill>
              </a:rPr>
              <a:t>관계 관리</a:t>
            </a:r>
            <a:endParaRPr lang="en-US" sz="2000" dirty="0"/>
          </a:p>
        </p:txBody>
      </p:sp>
      <p:sp>
        <p:nvSpPr>
          <p:cNvPr id="38" name="Text 26"/>
          <p:cNvSpPr txBox="1"/>
          <p:nvPr/>
        </p:nvSpPr>
        <p:spPr>
          <a:xfrm>
            <a:off x="9917948" y="3749040"/>
            <a:ext cx="1587947" cy="822960"/>
          </a:xfrm>
          <a:prstGeom prst="rect">
            <a:avLst/>
          </a:prstGeom>
          <a:noFill/>
          <a:ln/>
        </p:spPr>
        <p:txBody>
          <a:bodyPr wrap="square" lIns="0" tIns="0" rIns="0" bIns="0" rtlCol="0" anchor="t"/>
          <a:lstStyle/>
          <a:p>
            <a:pPr indent="0" marL="0">
              <a:lnSpc>
                <a:spcPct val="110000"/>
              </a:lnSpc>
              <a:buNone/>
            </a:pPr>
            <a:r>
              <a:rPr lang="en-US" sz="1400" dirty="0">
                <a:solidFill>
                  <a:schemeClr val="accent6"/>
                </a:solidFill>
              </a:rPr>
              <a:t>강사·교육생</a:t>
            </a:r>
            <a:endParaRPr lang="en-US" sz="1400" dirty="0"/>
          </a:p>
          <a:p>
            <a:pPr indent="0" marL="0">
              <a:lnSpc>
                <a:spcPct val="110000"/>
              </a:lnSpc>
              <a:buNone/>
            </a:pPr>
            <a:r>
              <a:rPr lang="en-US" sz="1400" dirty="0">
                <a:solidFill>
                  <a:schemeClr val="accent6"/>
                </a:solidFill>
              </a:rPr>
              <a:t>그룹으로 연결</a:t>
            </a:r>
            <a:endParaRPr lang="en-US" sz="1400" dirty="0"/>
          </a:p>
        </p:txBody>
      </p:sp>
      <p:sp>
        <p:nvSpPr>
          <p:cNvPr id="39" name="loop circle"/>
          <p:cNvSpPr/>
          <p:nvPr/>
        </p:nvSpPr>
        <p:spPr>
          <a:xfrm>
            <a:off x="548640" y="5120640"/>
            <a:ext cx="685800" cy="685800"/>
          </a:xfrm>
          <a:prstGeom prst="ellipse">
            <a:avLst/>
          </a:prstGeom>
          <a:solidFill>
            <a:schemeClr val="accent3"/>
          </a:solidFill>
          <a:ln/>
        </p:spPr>
      </p:sp>
      <p:pic>
        <p:nvPicPr>
          <p:cNvPr id="40" name="loop icon" descr="loop">    </p:cNvPr>
          <p:cNvPicPr>
            <a:picLocks noChangeAspect="1"/>
          </p:cNvPicPr>
          <p:nvPr/>
        </p:nvPicPr>
        <p:blipFill>
          <a:blip r:embed="rId10"/>
          <a:stretch>
            <a:fillRect/>
          </a:stretch>
        </p:blipFill>
        <p:spPr>
          <a:xfrm>
            <a:off x="733806" y="5305806"/>
            <a:ext cx="315468" cy="315468"/>
          </a:xfrm>
          <a:prstGeom prst="rect">
            <a:avLst/>
          </a:prstGeom>
        </p:spPr>
      </p:pic>
      <p:sp>
        <p:nvSpPr>
          <p:cNvPr id="41" name="Text 28"/>
          <p:cNvSpPr txBox="1"/>
          <p:nvPr/>
        </p:nvSpPr>
        <p:spPr>
          <a:xfrm>
            <a:off x="1463040" y="5074920"/>
            <a:ext cx="9144000" cy="777240"/>
          </a:xfrm>
          <a:prstGeom prst="rect">
            <a:avLst/>
          </a:prstGeom>
          <a:noFill/>
          <a:ln/>
        </p:spPr>
        <p:txBody>
          <a:bodyPr wrap="square" lIns="0" tIns="0" rIns="0" bIns="0" rtlCol="0" anchor="ctr"/>
          <a:lstStyle/>
          <a:p>
            <a:pPr indent="0" marL="0">
              <a:buNone/>
            </a:pPr>
            <a:r>
              <a:rPr lang="en-US" sz="2600" b="1" dirty="0">
                <a:solidFill>
                  <a:schemeClr val="bg1"/>
                </a:solidFill>
              </a:rPr>
              <a:t>수업이 끝난 기록이 </a:t>
            </a:r>
            <a:pPr indent="0" marL="0">
              <a:buNone/>
            </a:pPr>
            <a:r>
              <a:rPr lang="en-US" sz="2600" b="1" dirty="0">
                <a:solidFill>
                  <a:schemeClr val="accent1"/>
                </a:solidFill>
              </a:rPr>
              <a:t>다음 수업의 출발점</a:t>
            </a:r>
            <a:pPr indent="0" marL="0">
              <a:buNone/>
            </a:pPr>
            <a:r>
              <a:rPr lang="en-US" sz="2600" b="1" dirty="0">
                <a:solidFill>
                  <a:schemeClr val="bg1"/>
                </a:solidFill>
              </a:rPr>
              <a:t>이 됩니다</a:t>
            </a:r>
            <a:endParaRPr lang="en-US" sz="2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03  제품</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수업 전부터 수업 후까지, 휴대전화 하나로</a:t>
            </a:r>
            <a:endParaRPr lang="en-US" sz="3200" dirty="0"/>
          </a:p>
        </p:txBody>
      </p:sp>
      <p:pic>
        <p:nvPicPr>
          <p:cNvPr id="5" name="phone 10_feature_8.png" descr="AllBlue 앱 화면">    </p:cNvPr>
          <p:cNvPicPr>
            <a:picLocks noChangeAspect="1"/>
          </p:cNvPicPr>
          <p:nvPr/>
        </p:nvPicPr>
        <p:blipFill>
          <a:blip r:embed="rId1"/>
          <a:stretch>
            <a:fillRect/>
          </a:stretch>
        </p:blipFill>
        <p:spPr>
          <a:xfrm>
            <a:off x="960120" y="1600200"/>
            <a:ext cx="1871472" cy="3931920"/>
          </a:xfrm>
          <a:prstGeom prst="rect">
            <a:avLst/>
          </a:prstGeom>
        </p:spPr>
      </p:pic>
      <p:sp>
        <p:nvSpPr>
          <p:cNvPr id="6" name="number 1"/>
          <p:cNvSpPr/>
          <p:nvPr/>
        </p:nvSpPr>
        <p:spPr>
          <a:xfrm>
            <a:off x="731520" y="1463040"/>
            <a:ext cx="457200" cy="457200"/>
          </a:xfrm>
          <a:prstGeom prst="ellipse">
            <a:avLst/>
          </a:prstGeom>
          <a:solidFill>
            <a:schemeClr val="accent2"/>
          </a:solidFill>
          <a:ln/>
        </p:spPr>
      </p:sp>
      <p:sp>
        <p:nvSpPr>
          <p:cNvPr id="7" name="Text 3"/>
          <p:cNvSpPr txBox="1"/>
          <p:nvPr/>
        </p:nvSpPr>
        <p:spPr>
          <a:xfrm>
            <a:off x="731520" y="1463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4"/>
          <p:cNvSpPr txBox="1"/>
          <p:nvPr/>
        </p:nvSpPr>
        <p:spPr>
          <a:xfrm>
            <a:off x="960120" y="5623560"/>
            <a:ext cx="1874520" cy="365760"/>
          </a:xfrm>
          <a:prstGeom prst="rect">
            <a:avLst/>
          </a:prstGeom>
          <a:noFill/>
          <a:ln/>
        </p:spPr>
        <p:txBody>
          <a:bodyPr wrap="square" lIns="0" tIns="0" rIns="0" bIns="0" rtlCol="0" anchor="t"/>
          <a:lstStyle/>
          <a:p>
            <a:pPr algn="ctr" indent="0" marL="0">
              <a:buNone/>
            </a:pPr>
            <a:r>
              <a:rPr lang="en-US" sz="1600" b="1" dirty="0">
                <a:solidFill>
                  <a:schemeClr val="tx1"/>
                </a:solidFill>
              </a:rPr>
              <a:t>캘린더</a:t>
            </a:r>
            <a:endParaRPr lang="en-US" sz="1600" dirty="0"/>
          </a:p>
        </p:txBody>
      </p:sp>
      <p:pic>
        <p:nvPicPr>
          <p:cNvPr id="9" name="phone 07_feature_5.png" descr="AllBlue 앱 화면">    </p:cNvPr>
          <p:cNvPicPr>
            <a:picLocks noChangeAspect="1"/>
          </p:cNvPicPr>
          <p:nvPr/>
        </p:nvPicPr>
        <p:blipFill>
          <a:blip r:embed="rId2"/>
          <a:stretch>
            <a:fillRect/>
          </a:stretch>
        </p:blipFill>
        <p:spPr>
          <a:xfrm>
            <a:off x="3749040" y="1600200"/>
            <a:ext cx="1871472" cy="3931920"/>
          </a:xfrm>
          <a:prstGeom prst="rect">
            <a:avLst/>
          </a:prstGeom>
        </p:spPr>
      </p:pic>
      <p:sp>
        <p:nvSpPr>
          <p:cNvPr id="10" name="number 2"/>
          <p:cNvSpPr/>
          <p:nvPr/>
        </p:nvSpPr>
        <p:spPr>
          <a:xfrm>
            <a:off x="3520440" y="1463040"/>
            <a:ext cx="457200" cy="457200"/>
          </a:xfrm>
          <a:prstGeom prst="ellipse">
            <a:avLst/>
          </a:prstGeom>
          <a:solidFill>
            <a:schemeClr val="accent2"/>
          </a:solidFill>
          <a:ln/>
        </p:spPr>
      </p:sp>
      <p:sp>
        <p:nvSpPr>
          <p:cNvPr id="11" name="Text 6"/>
          <p:cNvSpPr txBox="1"/>
          <p:nvPr/>
        </p:nvSpPr>
        <p:spPr>
          <a:xfrm>
            <a:off x="3520440" y="1463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2" name="Text 7"/>
          <p:cNvSpPr txBox="1"/>
          <p:nvPr/>
        </p:nvSpPr>
        <p:spPr>
          <a:xfrm>
            <a:off x="3749040" y="5623560"/>
            <a:ext cx="1874520" cy="365760"/>
          </a:xfrm>
          <a:prstGeom prst="rect">
            <a:avLst/>
          </a:prstGeom>
          <a:noFill/>
          <a:ln/>
        </p:spPr>
        <p:txBody>
          <a:bodyPr wrap="square" lIns="0" tIns="0" rIns="0" bIns="0" rtlCol="0" anchor="t"/>
          <a:lstStyle/>
          <a:p>
            <a:pPr algn="ctr" indent="0" marL="0">
              <a:buNone/>
            </a:pPr>
            <a:r>
              <a:rPr lang="en-US" sz="1600" b="1" dirty="0">
                <a:solidFill>
                  <a:schemeClr val="tx1"/>
                </a:solidFill>
              </a:rPr>
              <a:t>서류 현황</a:t>
            </a:r>
            <a:endParaRPr lang="en-US" sz="1600" dirty="0"/>
          </a:p>
        </p:txBody>
      </p:sp>
      <p:pic>
        <p:nvPicPr>
          <p:cNvPr id="13" name="phone 05_feature_3.png" descr="AllBlue 앱 화면">    </p:cNvPr>
          <p:cNvPicPr>
            <a:picLocks noChangeAspect="1"/>
          </p:cNvPicPr>
          <p:nvPr/>
        </p:nvPicPr>
        <p:blipFill>
          <a:blip r:embed="rId3"/>
          <a:stretch>
            <a:fillRect/>
          </a:stretch>
        </p:blipFill>
        <p:spPr>
          <a:xfrm>
            <a:off x="6537960" y="1600200"/>
            <a:ext cx="1871472" cy="3931920"/>
          </a:xfrm>
          <a:prstGeom prst="rect">
            <a:avLst/>
          </a:prstGeom>
        </p:spPr>
      </p:pic>
      <p:sp>
        <p:nvSpPr>
          <p:cNvPr id="14" name="number 3"/>
          <p:cNvSpPr/>
          <p:nvPr/>
        </p:nvSpPr>
        <p:spPr>
          <a:xfrm>
            <a:off x="6309360" y="1463040"/>
            <a:ext cx="457200" cy="457200"/>
          </a:xfrm>
          <a:prstGeom prst="ellipse">
            <a:avLst/>
          </a:prstGeom>
          <a:solidFill>
            <a:schemeClr val="accent2"/>
          </a:solidFill>
          <a:ln/>
        </p:spPr>
      </p:sp>
      <p:sp>
        <p:nvSpPr>
          <p:cNvPr id="15" name="Text 9"/>
          <p:cNvSpPr txBox="1"/>
          <p:nvPr/>
        </p:nvSpPr>
        <p:spPr>
          <a:xfrm>
            <a:off x="6309360" y="1463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0"/>
          <p:cNvSpPr txBox="1"/>
          <p:nvPr/>
        </p:nvSpPr>
        <p:spPr>
          <a:xfrm>
            <a:off x="6537960" y="5623560"/>
            <a:ext cx="1874520" cy="365760"/>
          </a:xfrm>
          <a:prstGeom prst="rect">
            <a:avLst/>
          </a:prstGeom>
          <a:noFill/>
          <a:ln/>
        </p:spPr>
        <p:txBody>
          <a:bodyPr wrap="square" lIns="0" tIns="0" rIns="0" bIns="0" rtlCol="0" anchor="t"/>
          <a:lstStyle/>
          <a:p>
            <a:pPr algn="ctr" indent="0" marL="0">
              <a:buNone/>
            </a:pPr>
            <a:r>
              <a:rPr lang="en-US" sz="1600" b="1" dirty="0">
                <a:solidFill>
                  <a:schemeClr val="tx1"/>
                </a:solidFill>
              </a:rPr>
              <a:t>과정별 요건</a:t>
            </a:r>
            <a:endParaRPr lang="en-US" sz="1600" dirty="0"/>
          </a:p>
        </p:txBody>
      </p:sp>
      <p:pic>
        <p:nvPicPr>
          <p:cNvPr id="17" name="phone 06_feature_4.png" descr="AllBlue 앱 화면">    </p:cNvPr>
          <p:cNvPicPr>
            <a:picLocks noChangeAspect="1"/>
          </p:cNvPicPr>
          <p:nvPr/>
        </p:nvPicPr>
        <p:blipFill>
          <a:blip r:embed="rId4"/>
          <a:stretch>
            <a:fillRect/>
          </a:stretch>
        </p:blipFill>
        <p:spPr>
          <a:xfrm>
            <a:off x="9326880" y="1600200"/>
            <a:ext cx="1871472" cy="3931920"/>
          </a:xfrm>
          <a:prstGeom prst="rect">
            <a:avLst/>
          </a:prstGeom>
        </p:spPr>
      </p:pic>
      <p:sp>
        <p:nvSpPr>
          <p:cNvPr id="18" name="number 4"/>
          <p:cNvSpPr/>
          <p:nvPr/>
        </p:nvSpPr>
        <p:spPr>
          <a:xfrm>
            <a:off x="9098280" y="1463040"/>
            <a:ext cx="457200" cy="457200"/>
          </a:xfrm>
          <a:prstGeom prst="ellipse">
            <a:avLst/>
          </a:prstGeom>
          <a:solidFill>
            <a:schemeClr val="accent3"/>
          </a:solidFill>
          <a:ln/>
        </p:spPr>
      </p:sp>
      <p:sp>
        <p:nvSpPr>
          <p:cNvPr id="19" name="Text 12"/>
          <p:cNvSpPr txBox="1"/>
          <p:nvPr/>
        </p:nvSpPr>
        <p:spPr>
          <a:xfrm>
            <a:off x="9098280" y="1463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0" name="Text 13"/>
          <p:cNvSpPr txBox="1"/>
          <p:nvPr/>
        </p:nvSpPr>
        <p:spPr>
          <a:xfrm>
            <a:off x="9326880" y="5623560"/>
            <a:ext cx="1874520" cy="365760"/>
          </a:xfrm>
          <a:prstGeom prst="rect">
            <a:avLst/>
          </a:prstGeom>
          <a:noFill/>
          <a:ln/>
        </p:spPr>
        <p:txBody>
          <a:bodyPr wrap="square" lIns="0" tIns="0" rIns="0" bIns="0" rtlCol="0" anchor="t"/>
          <a:lstStyle/>
          <a:p>
            <a:pPr algn="ctr" indent="0" marL="0">
              <a:buNone/>
            </a:pPr>
            <a:r>
              <a:rPr lang="en-US" sz="1600" b="1" dirty="0">
                <a:solidFill>
                  <a:schemeClr val="tx1"/>
                </a:solidFill>
              </a:rPr>
              <a:t>디브리핑</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1"/>
                </a:solidFill>
              </a:rPr>
              <a:t>04  시장</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프리다이빙에서 시작해 소규모 스포츠 강습으로</a:t>
            </a:r>
            <a:endParaRPr lang="en-US" sz="3200" dirty="0"/>
          </a:p>
        </p:txBody>
      </p:sp>
      <p:sp>
        <p:nvSpPr>
          <p:cNvPr id="5" name="Text 2"/>
          <p:cNvSpPr txBox="1"/>
          <p:nvPr/>
        </p:nvSpPr>
        <p:spPr>
          <a:xfrm>
            <a:off x="548640" y="1645920"/>
            <a:ext cx="5486400" cy="1188720"/>
          </a:xfrm>
          <a:prstGeom prst="rect">
            <a:avLst/>
          </a:prstGeom>
          <a:noFill/>
          <a:ln/>
        </p:spPr>
        <p:txBody>
          <a:bodyPr wrap="square" lIns="0" tIns="0" rIns="0" bIns="0" rtlCol="0" anchor="ctr"/>
          <a:lstStyle/>
          <a:p>
            <a:pPr indent="0" marL="0">
              <a:buNone/>
            </a:pPr>
            <a:r>
              <a:rPr lang="en-US" sz="7200" b="1" dirty="0">
                <a:solidFill>
                  <a:schemeClr val="accent1"/>
                </a:solidFill>
              </a:rPr>
              <a:t>60,000+</a:t>
            </a:r>
            <a:endParaRPr lang="en-US" sz="7200" dirty="0"/>
          </a:p>
        </p:txBody>
      </p:sp>
      <p:sp>
        <p:nvSpPr>
          <p:cNvPr id="6" name="Text 3"/>
          <p:cNvSpPr txBox="1"/>
          <p:nvPr/>
        </p:nvSpPr>
        <p:spPr>
          <a:xfrm>
            <a:off x="548640" y="2788920"/>
            <a:ext cx="5303520" cy="685800"/>
          </a:xfrm>
          <a:prstGeom prst="rect">
            <a:avLst/>
          </a:prstGeom>
          <a:noFill/>
          <a:ln/>
        </p:spPr>
        <p:txBody>
          <a:bodyPr wrap="square" lIns="0" tIns="0" rIns="0" bIns="0" rtlCol="0" anchor="t"/>
          <a:lstStyle/>
          <a:p>
            <a:pPr indent="0" marL="0">
              <a:buNone/>
            </a:pPr>
            <a:r>
              <a:rPr lang="en-US" sz="1500" dirty="0">
                <a:solidFill>
                  <a:schemeClr val="accent6"/>
                </a:solidFill>
              </a:rPr>
              <a:t>AIDA가 2024년 전 세계에서 발급한 자격 수</a:t>
            </a:r>
            <a:endParaRPr lang="en-US" sz="1500" dirty="0"/>
          </a:p>
          <a:p>
            <a:pPr indent="0" marL="0">
              <a:buNone/>
            </a:pPr>
            <a:r>
              <a:rPr lang="en-US" sz="1500" dirty="0">
                <a:solidFill>
                  <a:schemeClr val="accent6"/>
                </a:solidFill>
              </a:rPr>
              <a:t>(교육생·강사 합계) ¹</a:t>
            </a:r>
            <a:endParaRPr lang="en-US" sz="1500" dirty="0"/>
          </a:p>
        </p:txBody>
      </p:sp>
      <p:sp>
        <p:nvSpPr>
          <p:cNvPr id="7" name="Text 4"/>
          <p:cNvSpPr txBox="1"/>
          <p:nvPr/>
        </p:nvSpPr>
        <p:spPr>
          <a:xfrm>
            <a:off x="548640" y="3657600"/>
            <a:ext cx="5303520" cy="320040"/>
          </a:xfrm>
          <a:prstGeom prst="rect">
            <a:avLst/>
          </a:prstGeom>
          <a:noFill/>
          <a:ln/>
        </p:spPr>
        <p:txBody>
          <a:bodyPr wrap="square" lIns="0" tIns="0" rIns="0" bIns="0" rtlCol="0" anchor="t"/>
          <a:lstStyle/>
          <a:p>
            <a:pPr indent="0" marL="0">
              <a:buNone/>
            </a:pPr>
            <a:r>
              <a:rPr lang="en-US" sz="1400" b="1" dirty="0">
                <a:solidFill>
                  <a:schemeClr val="bg1"/>
                </a:solidFill>
              </a:rPr>
              <a:t>주요 교육단체 비중 (영어권 다이버 설문) ²</a:t>
            </a:r>
            <a:endParaRPr lang="en-US" sz="1400" dirty="0"/>
          </a:p>
        </p:txBody>
      </p:sp>
      <p:sp>
        <p:nvSpPr>
          <p:cNvPr id="8" name="Text 5"/>
          <p:cNvSpPr txBox="1"/>
          <p:nvPr/>
        </p:nvSpPr>
        <p:spPr>
          <a:xfrm>
            <a:off x="548640" y="4114800"/>
            <a:ext cx="822960" cy="365760"/>
          </a:xfrm>
          <a:prstGeom prst="rect">
            <a:avLst/>
          </a:prstGeom>
          <a:noFill/>
          <a:ln/>
        </p:spPr>
        <p:txBody>
          <a:bodyPr wrap="square" lIns="0" tIns="0" rIns="0" bIns="0" rtlCol="0" anchor="ctr"/>
          <a:lstStyle/>
          <a:p>
            <a:pPr indent="0" marL="0">
              <a:buNone/>
            </a:pPr>
            <a:r>
              <a:rPr lang="en-US" sz="1400" b="1" dirty="0">
                <a:solidFill>
                  <a:schemeClr val="accent6"/>
                </a:solidFill>
              </a:rPr>
              <a:t>AIDA</a:t>
            </a:r>
            <a:endParaRPr lang="en-US" sz="1400" dirty="0"/>
          </a:p>
        </p:txBody>
      </p:sp>
      <p:sp>
        <p:nvSpPr>
          <p:cNvPr id="9" name="share bar AIDA"/>
          <p:cNvSpPr/>
          <p:nvPr/>
        </p:nvSpPr>
        <p:spPr>
          <a:xfrm>
            <a:off x="1463040" y="4187952"/>
            <a:ext cx="3657600" cy="237744"/>
          </a:xfrm>
          <a:prstGeom prst="roundRect">
            <a:avLst>
              <a:gd name="adj" fmla="val 50000"/>
            </a:avLst>
          </a:prstGeom>
          <a:solidFill>
            <a:schemeClr val="accent1"/>
          </a:solidFill>
          <a:ln/>
        </p:spPr>
      </p:sp>
      <p:sp>
        <p:nvSpPr>
          <p:cNvPr id="10" name="Text 7"/>
          <p:cNvSpPr txBox="1"/>
          <p:nvPr/>
        </p:nvSpPr>
        <p:spPr>
          <a:xfrm>
            <a:off x="5257800" y="4114800"/>
            <a:ext cx="822960" cy="365760"/>
          </a:xfrm>
          <a:prstGeom prst="rect">
            <a:avLst/>
          </a:prstGeom>
          <a:noFill/>
          <a:ln/>
        </p:spPr>
        <p:txBody>
          <a:bodyPr wrap="square" lIns="0" tIns="0" rIns="0" bIns="0" rtlCol="0" anchor="ctr"/>
          <a:lstStyle/>
          <a:p>
            <a:pPr indent="0" marL="0">
              <a:buNone/>
            </a:pPr>
            <a:r>
              <a:rPr lang="en-US" sz="1300" dirty="0">
                <a:solidFill>
                  <a:schemeClr val="bg1"/>
                </a:solidFill>
              </a:rPr>
              <a:t>33.4%</a:t>
            </a:r>
            <a:endParaRPr lang="en-US" sz="1300" dirty="0"/>
          </a:p>
        </p:txBody>
      </p:sp>
      <p:sp>
        <p:nvSpPr>
          <p:cNvPr id="11" name="Text 8"/>
          <p:cNvSpPr txBox="1"/>
          <p:nvPr/>
        </p:nvSpPr>
        <p:spPr>
          <a:xfrm>
            <a:off x="548640" y="4617720"/>
            <a:ext cx="822960" cy="365760"/>
          </a:xfrm>
          <a:prstGeom prst="rect">
            <a:avLst/>
          </a:prstGeom>
          <a:noFill/>
          <a:ln/>
        </p:spPr>
        <p:txBody>
          <a:bodyPr wrap="square" lIns="0" tIns="0" rIns="0" bIns="0" rtlCol="0" anchor="ctr"/>
          <a:lstStyle/>
          <a:p>
            <a:pPr indent="0" marL="0">
              <a:buNone/>
            </a:pPr>
            <a:r>
              <a:rPr lang="en-US" sz="1400" b="1" dirty="0">
                <a:solidFill>
                  <a:schemeClr val="accent6"/>
                </a:solidFill>
              </a:rPr>
              <a:t>SSI</a:t>
            </a:r>
            <a:endParaRPr lang="en-US" sz="1400" dirty="0"/>
          </a:p>
        </p:txBody>
      </p:sp>
      <p:sp>
        <p:nvSpPr>
          <p:cNvPr id="12" name="share bar SSI"/>
          <p:cNvSpPr/>
          <p:nvPr/>
        </p:nvSpPr>
        <p:spPr>
          <a:xfrm>
            <a:off x="1463040" y="4690872"/>
            <a:ext cx="2529657" cy="237744"/>
          </a:xfrm>
          <a:prstGeom prst="roundRect">
            <a:avLst>
              <a:gd name="adj" fmla="val 50000"/>
            </a:avLst>
          </a:prstGeom>
          <a:solidFill>
            <a:schemeClr val="accent5"/>
          </a:solidFill>
          <a:ln/>
        </p:spPr>
      </p:sp>
      <p:sp>
        <p:nvSpPr>
          <p:cNvPr id="13" name="Text 10"/>
          <p:cNvSpPr txBox="1"/>
          <p:nvPr/>
        </p:nvSpPr>
        <p:spPr>
          <a:xfrm>
            <a:off x="4129857" y="4617720"/>
            <a:ext cx="822960" cy="365760"/>
          </a:xfrm>
          <a:prstGeom prst="rect">
            <a:avLst/>
          </a:prstGeom>
          <a:noFill/>
          <a:ln/>
        </p:spPr>
        <p:txBody>
          <a:bodyPr wrap="square" lIns="0" tIns="0" rIns="0" bIns="0" rtlCol="0" anchor="ctr"/>
          <a:lstStyle/>
          <a:p>
            <a:pPr indent="0" marL="0">
              <a:buNone/>
            </a:pPr>
            <a:r>
              <a:rPr lang="en-US" sz="1300" dirty="0">
                <a:solidFill>
                  <a:schemeClr val="bg1"/>
                </a:solidFill>
              </a:rPr>
              <a:t>23.1%</a:t>
            </a:r>
            <a:endParaRPr lang="en-US" sz="1300" dirty="0"/>
          </a:p>
        </p:txBody>
      </p:sp>
      <p:sp>
        <p:nvSpPr>
          <p:cNvPr id="14" name="Text 11"/>
          <p:cNvSpPr txBox="1"/>
          <p:nvPr/>
        </p:nvSpPr>
        <p:spPr>
          <a:xfrm>
            <a:off x="548640" y="5120640"/>
            <a:ext cx="822960" cy="365760"/>
          </a:xfrm>
          <a:prstGeom prst="rect">
            <a:avLst/>
          </a:prstGeom>
          <a:noFill/>
          <a:ln/>
        </p:spPr>
        <p:txBody>
          <a:bodyPr wrap="square" lIns="0" tIns="0" rIns="0" bIns="0" rtlCol="0" anchor="ctr"/>
          <a:lstStyle/>
          <a:p>
            <a:pPr indent="0" marL="0">
              <a:buNone/>
            </a:pPr>
            <a:r>
              <a:rPr lang="en-US" sz="1400" b="1" dirty="0">
                <a:solidFill>
                  <a:schemeClr val="accent6"/>
                </a:solidFill>
              </a:rPr>
              <a:t>PADI</a:t>
            </a:r>
            <a:endParaRPr lang="en-US" sz="1400" dirty="0"/>
          </a:p>
        </p:txBody>
      </p:sp>
      <p:sp>
        <p:nvSpPr>
          <p:cNvPr id="15" name="share bar PADI"/>
          <p:cNvSpPr/>
          <p:nvPr/>
        </p:nvSpPr>
        <p:spPr>
          <a:xfrm>
            <a:off x="1463040" y="5193792"/>
            <a:ext cx="1960211" cy="237744"/>
          </a:xfrm>
          <a:prstGeom prst="roundRect">
            <a:avLst>
              <a:gd name="adj" fmla="val 50000"/>
            </a:avLst>
          </a:prstGeom>
          <a:solidFill>
            <a:schemeClr val="accent5"/>
          </a:solidFill>
          <a:ln/>
        </p:spPr>
      </p:sp>
      <p:sp>
        <p:nvSpPr>
          <p:cNvPr id="16" name="Text 13"/>
          <p:cNvSpPr txBox="1"/>
          <p:nvPr/>
        </p:nvSpPr>
        <p:spPr>
          <a:xfrm>
            <a:off x="3560411" y="5120640"/>
            <a:ext cx="822960" cy="365760"/>
          </a:xfrm>
          <a:prstGeom prst="rect">
            <a:avLst/>
          </a:prstGeom>
          <a:noFill/>
          <a:ln/>
        </p:spPr>
        <p:txBody>
          <a:bodyPr wrap="square" lIns="0" tIns="0" rIns="0" bIns="0" rtlCol="0" anchor="ctr"/>
          <a:lstStyle/>
          <a:p>
            <a:pPr indent="0" marL="0">
              <a:buNone/>
            </a:pPr>
            <a:r>
              <a:rPr lang="en-US" sz="1300" dirty="0">
                <a:solidFill>
                  <a:schemeClr val="bg1"/>
                </a:solidFill>
              </a:rPr>
              <a:t>17.9%</a:t>
            </a:r>
            <a:endParaRPr lang="en-US" sz="1300" dirty="0"/>
          </a:p>
        </p:txBody>
      </p:sp>
      <p:sp>
        <p:nvSpPr>
          <p:cNvPr id="17" name="expand card 0"/>
          <p:cNvSpPr/>
          <p:nvPr/>
        </p:nvSpPr>
        <p:spPr>
          <a:xfrm>
            <a:off x="6309360" y="1691640"/>
            <a:ext cx="5330952" cy="1097280"/>
          </a:xfrm>
          <a:prstGeom prst="roundRect">
            <a:avLst>
              <a:gd name="adj" fmla="val 11667"/>
            </a:avLst>
          </a:prstGeom>
          <a:solidFill>
            <a:schemeClr val="bg1">
              <a:alpha val="10000"/>
            </a:schemeClr>
          </a:solidFill>
          <a:ln w="9525">
            <a:solidFill>
              <a:schemeClr val="accent5">
                <a:alpha val="40000"/>
              </a:schemeClr>
            </a:solidFill>
            <a:prstDash val="solid"/>
          </a:ln>
        </p:spPr>
      </p:sp>
      <p:sp>
        <p:nvSpPr>
          <p:cNvPr id="18" name="1단계 · 프리다이빙 circle"/>
          <p:cNvSpPr/>
          <p:nvPr/>
        </p:nvSpPr>
        <p:spPr>
          <a:xfrm>
            <a:off x="6537960" y="1920240"/>
            <a:ext cx="640080" cy="640080"/>
          </a:xfrm>
          <a:prstGeom prst="ellipse">
            <a:avLst/>
          </a:prstGeom>
          <a:solidFill>
            <a:schemeClr val="accent3"/>
          </a:solidFill>
          <a:ln/>
        </p:spPr>
      </p:sp>
      <p:pic>
        <p:nvPicPr>
          <p:cNvPr id="19" name="1단계 · 프리다이빙 icon" descr="1단계 · 프리다이빙">    </p:cNvPr>
          <p:cNvPicPr>
            <a:picLocks noChangeAspect="1"/>
          </p:cNvPicPr>
          <p:nvPr/>
        </p:nvPicPr>
        <p:blipFill>
          <a:blip r:embed="rId1"/>
          <a:stretch>
            <a:fillRect/>
          </a:stretch>
        </p:blipFill>
        <p:spPr>
          <a:xfrm>
            <a:off x="6710782" y="2093062"/>
            <a:ext cx="294437" cy="294437"/>
          </a:xfrm>
          <a:prstGeom prst="rect">
            <a:avLst/>
          </a:prstGeom>
        </p:spPr>
      </p:pic>
      <p:sp>
        <p:nvSpPr>
          <p:cNvPr id="20" name="Text 16"/>
          <p:cNvSpPr txBox="1"/>
          <p:nvPr/>
        </p:nvSpPr>
        <p:spPr>
          <a:xfrm>
            <a:off x="7406640" y="1856232"/>
            <a:ext cx="4114800" cy="347472"/>
          </a:xfrm>
          <a:prstGeom prst="rect">
            <a:avLst/>
          </a:prstGeom>
          <a:noFill/>
          <a:ln/>
        </p:spPr>
        <p:txBody>
          <a:bodyPr wrap="square" lIns="0" tIns="0" rIns="0" bIns="0" rtlCol="0" anchor="t"/>
          <a:lstStyle/>
          <a:p>
            <a:pPr indent="0" marL="0">
              <a:buNone/>
            </a:pPr>
            <a:r>
              <a:rPr lang="en-US" sz="1700" b="1" dirty="0">
                <a:solidFill>
                  <a:schemeClr val="bg1"/>
                </a:solidFill>
              </a:rPr>
              <a:t>1단계 · 프리다이빙</a:t>
            </a:r>
            <a:endParaRPr lang="en-US" sz="1700" dirty="0"/>
          </a:p>
        </p:txBody>
      </p:sp>
      <p:sp>
        <p:nvSpPr>
          <p:cNvPr id="21" name="Text 17"/>
          <p:cNvSpPr txBox="1"/>
          <p:nvPr/>
        </p:nvSpPr>
        <p:spPr>
          <a:xfrm>
            <a:off x="7406640" y="2221992"/>
            <a:ext cx="4114800" cy="457200"/>
          </a:xfrm>
          <a:prstGeom prst="rect">
            <a:avLst/>
          </a:prstGeom>
          <a:noFill/>
          <a:ln/>
        </p:spPr>
        <p:txBody>
          <a:bodyPr wrap="square" lIns="0" tIns="0" rIns="0" bIns="0" rtlCol="0" anchor="t"/>
          <a:lstStyle/>
          <a:p>
            <a:pPr indent="0" marL="0">
              <a:buNone/>
            </a:pPr>
            <a:r>
              <a:rPr lang="en-US" sz="1300" dirty="0">
                <a:solidFill>
                  <a:schemeClr val="accent6"/>
                </a:solidFill>
              </a:rPr>
              <a:t>AIDA 과정 요건과 서류 흐름을 반영한 강사용 도구</a:t>
            </a:r>
            <a:endParaRPr lang="en-US" sz="1300" dirty="0"/>
          </a:p>
        </p:txBody>
      </p:sp>
      <p:sp>
        <p:nvSpPr>
          <p:cNvPr id="22" name="expand card 1"/>
          <p:cNvSpPr/>
          <p:nvPr/>
        </p:nvSpPr>
        <p:spPr>
          <a:xfrm>
            <a:off x="6309360" y="3017520"/>
            <a:ext cx="5330952" cy="1097280"/>
          </a:xfrm>
          <a:prstGeom prst="roundRect">
            <a:avLst>
              <a:gd name="adj" fmla="val 11667"/>
            </a:avLst>
          </a:prstGeom>
          <a:solidFill>
            <a:schemeClr val="bg1">
              <a:alpha val="10000"/>
            </a:schemeClr>
          </a:solidFill>
          <a:ln w="9525">
            <a:solidFill>
              <a:schemeClr val="accent5">
                <a:alpha val="40000"/>
              </a:schemeClr>
            </a:solidFill>
            <a:prstDash val="solid"/>
          </a:ln>
        </p:spPr>
      </p:sp>
      <p:sp>
        <p:nvSpPr>
          <p:cNvPr id="23" name="2단계 · 수중·해양 레저 circle"/>
          <p:cNvSpPr/>
          <p:nvPr/>
        </p:nvSpPr>
        <p:spPr>
          <a:xfrm>
            <a:off x="6537960" y="3246120"/>
            <a:ext cx="640080" cy="640080"/>
          </a:xfrm>
          <a:prstGeom prst="ellipse">
            <a:avLst/>
          </a:prstGeom>
          <a:solidFill>
            <a:schemeClr val="accent1"/>
          </a:solidFill>
          <a:ln/>
        </p:spPr>
      </p:sp>
      <p:pic>
        <p:nvPicPr>
          <p:cNvPr id="24" name="2단계 · 수중·해양 레저 icon" descr="2단계 · 수중·해양 레저">    </p:cNvPr>
          <p:cNvPicPr>
            <a:picLocks noChangeAspect="1"/>
          </p:cNvPicPr>
          <p:nvPr/>
        </p:nvPicPr>
        <p:blipFill>
          <a:blip r:embed="rId2"/>
          <a:stretch>
            <a:fillRect/>
          </a:stretch>
        </p:blipFill>
        <p:spPr>
          <a:xfrm>
            <a:off x="6710782" y="3418942"/>
            <a:ext cx="294437" cy="294437"/>
          </a:xfrm>
          <a:prstGeom prst="rect">
            <a:avLst/>
          </a:prstGeom>
        </p:spPr>
      </p:pic>
      <p:sp>
        <p:nvSpPr>
          <p:cNvPr id="25" name="Text 20"/>
          <p:cNvSpPr txBox="1"/>
          <p:nvPr/>
        </p:nvSpPr>
        <p:spPr>
          <a:xfrm>
            <a:off x="7406640" y="3182112"/>
            <a:ext cx="4114800" cy="347472"/>
          </a:xfrm>
          <a:prstGeom prst="rect">
            <a:avLst/>
          </a:prstGeom>
          <a:noFill/>
          <a:ln/>
        </p:spPr>
        <p:txBody>
          <a:bodyPr wrap="square" lIns="0" tIns="0" rIns="0" bIns="0" rtlCol="0" anchor="t"/>
          <a:lstStyle/>
          <a:p>
            <a:pPr indent="0" marL="0">
              <a:buNone/>
            </a:pPr>
            <a:r>
              <a:rPr lang="en-US" sz="1700" b="1" dirty="0">
                <a:solidFill>
                  <a:schemeClr val="bg1"/>
                </a:solidFill>
              </a:rPr>
              <a:t>2단계 · 수중·해양 레저</a:t>
            </a:r>
            <a:endParaRPr lang="en-US" sz="1700" dirty="0"/>
          </a:p>
        </p:txBody>
      </p:sp>
      <p:sp>
        <p:nvSpPr>
          <p:cNvPr id="26" name="Text 21"/>
          <p:cNvSpPr txBox="1"/>
          <p:nvPr/>
        </p:nvSpPr>
        <p:spPr>
          <a:xfrm>
            <a:off x="7406640" y="3547872"/>
            <a:ext cx="4114800" cy="457200"/>
          </a:xfrm>
          <a:prstGeom prst="rect">
            <a:avLst/>
          </a:prstGeom>
          <a:noFill/>
          <a:ln/>
        </p:spPr>
        <p:txBody>
          <a:bodyPr wrap="square" lIns="0" tIns="0" rIns="0" bIns="0" rtlCol="0" anchor="t"/>
          <a:lstStyle/>
          <a:p>
            <a:pPr indent="0" marL="0">
              <a:buNone/>
            </a:pPr>
            <a:r>
              <a:rPr lang="en-US" sz="1300" dirty="0">
                <a:solidFill>
                  <a:schemeClr val="accent6"/>
                </a:solidFill>
              </a:rPr>
              <a:t>과정·서류 구조가 비슷한 스쿠버 등으로 확장</a:t>
            </a:r>
            <a:endParaRPr lang="en-US" sz="1300" dirty="0"/>
          </a:p>
        </p:txBody>
      </p:sp>
      <p:sp>
        <p:nvSpPr>
          <p:cNvPr id="27" name="expand card 2"/>
          <p:cNvSpPr/>
          <p:nvPr/>
        </p:nvSpPr>
        <p:spPr>
          <a:xfrm>
            <a:off x="6309360" y="4343400"/>
            <a:ext cx="5330952" cy="1097280"/>
          </a:xfrm>
          <a:prstGeom prst="roundRect">
            <a:avLst>
              <a:gd name="adj" fmla="val 11667"/>
            </a:avLst>
          </a:prstGeom>
          <a:solidFill>
            <a:schemeClr val="bg1">
              <a:alpha val="10000"/>
            </a:schemeClr>
          </a:solidFill>
          <a:ln w="9525">
            <a:solidFill>
              <a:schemeClr val="accent5">
                <a:alpha val="40000"/>
              </a:schemeClr>
            </a:solidFill>
            <a:prstDash val="solid"/>
          </a:ln>
        </p:spPr>
      </p:sp>
      <p:sp>
        <p:nvSpPr>
          <p:cNvPr id="28" name="3단계 · 소규모 스포츠 강습 circle"/>
          <p:cNvSpPr/>
          <p:nvPr/>
        </p:nvSpPr>
        <p:spPr>
          <a:xfrm>
            <a:off x="6537960" y="4572000"/>
            <a:ext cx="640080" cy="640080"/>
          </a:xfrm>
          <a:prstGeom prst="ellipse">
            <a:avLst/>
          </a:prstGeom>
          <a:solidFill>
            <a:schemeClr val="accent1"/>
          </a:solidFill>
          <a:ln/>
        </p:spPr>
      </p:sp>
      <p:pic>
        <p:nvPicPr>
          <p:cNvPr id="29" name="3단계 · 소규모 스포츠 강습 icon" descr="3단계 · 소규모 스포츠 강습">    </p:cNvPr>
          <p:cNvPicPr>
            <a:picLocks noChangeAspect="1"/>
          </p:cNvPicPr>
          <p:nvPr/>
        </p:nvPicPr>
        <p:blipFill>
          <a:blip r:embed="rId3"/>
          <a:stretch>
            <a:fillRect/>
          </a:stretch>
        </p:blipFill>
        <p:spPr>
          <a:xfrm>
            <a:off x="6710782" y="4744822"/>
            <a:ext cx="294437" cy="294437"/>
          </a:xfrm>
          <a:prstGeom prst="rect">
            <a:avLst/>
          </a:prstGeom>
        </p:spPr>
      </p:pic>
      <p:sp>
        <p:nvSpPr>
          <p:cNvPr id="30" name="Text 24"/>
          <p:cNvSpPr txBox="1"/>
          <p:nvPr/>
        </p:nvSpPr>
        <p:spPr>
          <a:xfrm>
            <a:off x="7406640" y="4507992"/>
            <a:ext cx="4114800" cy="347472"/>
          </a:xfrm>
          <a:prstGeom prst="rect">
            <a:avLst/>
          </a:prstGeom>
          <a:noFill/>
          <a:ln/>
        </p:spPr>
        <p:txBody>
          <a:bodyPr wrap="square" lIns="0" tIns="0" rIns="0" bIns="0" rtlCol="0" anchor="t"/>
          <a:lstStyle/>
          <a:p>
            <a:pPr indent="0" marL="0">
              <a:buNone/>
            </a:pPr>
            <a:r>
              <a:rPr lang="en-US" sz="1700" b="1" dirty="0">
                <a:solidFill>
                  <a:schemeClr val="bg1"/>
                </a:solidFill>
              </a:rPr>
              <a:t>3단계 · 소규모 스포츠 강습</a:t>
            </a:r>
            <a:endParaRPr lang="en-US" sz="1700" dirty="0"/>
          </a:p>
        </p:txBody>
      </p:sp>
      <p:sp>
        <p:nvSpPr>
          <p:cNvPr id="31" name="Text 25"/>
          <p:cNvSpPr txBox="1"/>
          <p:nvPr/>
        </p:nvSpPr>
        <p:spPr>
          <a:xfrm>
            <a:off x="7406640" y="4873752"/>
            <a:ext cx="4114800" cy="457200"/>
          </a:xfrm>
          <a:prstGeom prst="rect">
            <a:avLst/>
          </a:prstGeom>
          <a:noFill/>
          <a:ln/>
        </p:spPr>
        <p:txBody>
          <a:bodyPr wrap="square" lIns="0" tIns="0" rIns="0" bIns="0" rtlCol="0" anchor="t"/>
          <a:lstStyle/>
          <a:p>
            <a:pPr indent="0" marL="0">
              <a:buNone/>
            </a:pPr>
            <a:r>
              <a:rPr lang="en-US" sz="1300" dirty="0">
                <a:solidFill>
                  <a:schemeClr val="accent6"/>
                </a:solidFill>
              </a:rPr>
              <a:t>진도·피드백이 필요한 1인 강사 종목 검토</a:t>
            </a:r>
            <a:endParaRPr lang="en-US" sz="1300" dirty="0"/>
          </a:p>
        </p:txBody>
      </p:sp>
      <p:sp>
        <p:nvSpPr>
          <p:cNvPr id="32" name="Text 26"/>
          <p:cNvSpPr txBox="1"/>
          <p:nvPr/>
        </p:nvSpPr>
        <p:spPr>
          <a:xfrm>
            <a:off x="6309360" y="5669280"/>
            <a:ext cx="5330952" cy="457200"/>
          </a:xfrm>
          <a:prstGeom prst="rect">
            <a:avLst/>
          </a:prstGeom>
          <a:noFill/>
          <a:ln/>
        </p:spPr>
        <p:txBody>
          <a:bodyPr wrap="square" lIns="0" tIns="0" rIns="0" bIns="0" rtlCol="0" anchor="t"/>
          <a:lstStyle/>
          <a:p>
            <a:pPr indent="0" marL="0">
              <a:buNone/>
            </a:pPr>
            <a:r>
              <a:rPr lang="en-US" sz="1000" dirty="0">
                <a:solidFill>
                  <a:schemeClr val="accent5"/>
                </a:solidFill>
              </a:rPr>
              <a:t>국내 프리다이빙 강사 수는 공식 통계가 없어, 출시 후 협업 채널 유입과 강사 인터뷰로 직접 측정합니다. 2·3단계는 검증 전 확장 가설입니다.</a:t>
            </a:r>
            <a:endParaRPr lang="en-US" sz="1000" dirty="0"/>
          </a:p>
        </p:txBody>
      </p:sp>
      <p:sp>
        <p:nvSpPr>
          <p:cNvPr id="33" name="Text 27"/>
          <p:cNvSpPr txBox="1"/>
          <p:nvPr/>
        </p:nvSpPr>
        <p:spPr>
          <a:xfrm>
            <a:off x="548640" y="5852160"/>
            <a:ext cx="5486400" cy="274320"/>
          </a:xfrm>
          <a:prstGeom prst="rect">
            <a:avLst/>
          </a:prstGeom>
          <a:noFill/>
          <a:ln/>
        </p:spPr>
        <p:txBody>
          <a:bodyPr wrap="square" lIns="0" tIns="0" rIns="0" bIns="0" rtlCol="0" anchor="t"/>
          <a:lstStyle/>
          <a:p>
            <a:pPr indent="0" marL="0">
              <a:buNone/>
            </a:pPr>
            <a:r>
              <a:rPr lang="en-US" sz="1000" dirty="0">
                <a:solidFill>
                  <a:schemeClr val="accent5"/>
                </a:solidFill>
              </a:rPr>
              <a:t>¹ AIDA International, 2024 연말 리뷰  ² Deeper Blue 독자 설문(2025, 영어권 응답 중심)</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1"/>
                </a:solidFill>
              </a:rPr>
              <a:t>05  사업 모델</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강사 구독 모델</a:t>
            </a:r>
            <a:endParaRPr lang="en-US" sz="3200" dirty="0"/>
          </a:p>
        </p:txBody>
      </p:sp>
      <p:sp>
        <p:nvSpPr>
          <p:cNvPr id="5" name="Text 2"/>
          <p:cNvSpPr txBox="1"/>
          <p:nvPr/>
        </p:nvSpPr>
        <p:spPr>
          <a:xfrm>
            <a:off x="548640" y="1737360"/>
            <a:ext cx="4572000" cy="320040"/>
          </a:xfrm>
          <a:prstGeom prst="rect">
            <a:avLst/>
          </a:prstGeom>
          <a:noFill/>
          <a:ln/>
        </p:spPr>
        <p:txBody>
          <a:bodyPr wrap="square" lIns="0" tIns="0" rIns="0" bIns="0" rtlCol="0" anchor="t"/>
          <a:lstStyle/>
          <a:p>
            <a:pPr indent="0" marL="0">
              <a:buNone/>
            </a:pPr>
            <a:r>
              <a:rPr lang="en-US" sz="1500" b="1" dirty="0">
                <a:solidFill>
                  <a:schemeClr val="accent1"/>
                </a:solidFill>
              </a:rPr>
              <a:t>강사 1인 기준</a:t>
            </a:r>
            <a:endParaRPr lang="en-US" sz="1500" dirty="0"/>
          </a:p>
        </p:txBody>
      </p:sp>
      <p:sp>
        <p:nvSpPr>
          <p:cNvPr id="6" name="Text 3"/>
          <p:cNvSpPr txBox="1"/>
          <p:nvPr/>
        </p:nvSpPr>
        <p:spPr>
          <a:xfrm>
            <a:off x="548640" y="2057400"/>
            <a:ext cx="5486400" cy="1371600"/>
          </a:xfrm>
          <a:prstGeom prst="rect">
            <a:avLst/>
          </a:prstGeom>
          <a:noFill/>
          <a:ln/>
        </p:spPr>
        <p:txBody>
          <a:bodyPr wrap="square" lIns="0" tIns="0" rIns="0" bIns="0" rtlCol="0" anchor="ctr"/>
          <a:lstStyle/>
          <a:p>
            <a:pPr indent="0" marL="0">
              <a:buNone/>
            </a:pPr>
            <a:r>
              <a:rPr lang="en-US" sz="3000" b="1" dirty="0">
                <a:solidFill>
                  <a:schemeClr val="accent5"/>
                </a:solidFill>
              </a:rPr>
              <a:t>월 </a:t>
            </a:r>
            <a:pPr indent="0" marL="0">
              <a:buNone/>
            </a:pPr>
            <a:r>
              <a:rPr lang="en-US" sz="8800" b="1" dirty="0">
                <a:solidFill>
                  <a:schemeClr val="bg1"/>
                </a:solidFill>
              </a:rPr>
              <a:t>3,900</a:t>
            </a:r>
            <a:pPr indent="0" marL="0">
              <a:buNone/>
            </a:pPr>
            <a:r>
              <a:rPr lang="en-US" sz="3000" b="1" dirty="0">
                <a:solidFill>
                  <a:schemeClr val="accent5"/>
                </a:solidFill>
              </a:rPr>
              <a:t>원</a:t>
            </a:r>
            <a:endParaRPr lang="en-US" sz="3000" dirty="0"/>
          </a:p>
        </p:txBody>
      </p:sp>
      <p:sp>
        <p:nvSpPr>
          <p:cNvPr id="7" name="최초 3개월 무료 circle"/>
          <p:cNvSpPr/>
          <p:nvPr/>
        </p:nvSpPr>
        <p:spPr>
          <a:xfrm>
            <a:off x="548640" y="3657600"/>
            <a:ext cx="566928" cy="566928"/>
          </a:xfrm>
          <a:prstGeom prst="ellipse">
            <a:avLst/>
          </a:prstGeom>
          <a:solidFill>
            <a:schemeClr val="accent3"/>
          </a:solidFill>
          <a:ln/>
        </p:spPr>
      </p:sp>
      <p:pic>
        <p:nvPicPr>
          <p:cNvPr id="8" name="최초 3개월 무료 icon" descr="최초 3개월 무료">    </p:cNvPr>
          <p:cNvPicPr>
            <a:picLocks noChangeAspect="1"/>
          </p:cNvPicPr>
          <p:nvPr/>
        </p:nvPicPr>
        <p:blipFill>
          <a:blip r:embed="rId1"/>
          <a:stretch>
            <a:fillRect/>
          </a:stretch>
        </p:blipFill>
        <p:spPr>
          <a:xfrm>
            <a:off x="701711" y="3810671"/>
            <a:ext cx="260787" cy="260787"/>
          </a:xfrm>
          <a:prstGeom prst="rect">
            <a:avLst/>
          </a:prstGeom>
        </p:spPr>
      </p:pic>
      <p:sp>
        <p:nvSpPr>
          <p:cNvPr id="9" name="Text 5"/>
          <p:cNvSpPr txBox="1"/>
          <p:nvPr/>
        </p:nvSpPr>
        <p:spPr>
          <a:xfrm>
            <a:off x="1325880" y="3657600"/>
            <a:ext cx="4206240" cy="310896"/>
          </a:xfrm>
          <a:prstGeom prst="rect">
            <a:avLst/>
          </a:prstGeom>
          <a:noFill/>
          <a:ln/>
        </p:spPr>
        <p:txBody>
          <a:bodyPr wrap="square" lIns="0" tIns="0" rIns="0" bIns="0" rtlCol="0" anchor="t"/>
          <a:lstStyle/>
          <a:p>
            <a:pPr indent="0" marL="0">
              <a:buNone/>
            </a:pPr>
            <a:r>
              <a:rPr lang="en-US" sz="1700" b="1" dirty="0">
                <a:solidFill>
                  <a:schemeClr val="bg1"/>
                </a:solidFill>
              </a:rPr>
              <a:t>최초 3개월 무료</a:t>
            </a:r>
            <a:endParaRPr lang="en-US" sz="1700" dirty="0"/>
          </a:p>
        </p:txBody>
      </p:sp>
      <p:sp>
        <p:nvSpPr>
          <p:cNvPr id="10" name="Text 6"/>
          <p:cNvSpPr txBox="1"/>
          <p:nvPr/>
        </p:nvSpPr>
        <p:spPr>
          <a:xfrm>
            <a:off x="1325880" y="3968496"/>
            <a:ext cx="4206240" cy="274320"/>
          </a:xfrm>
          <a:prstGeom prst="rect">
            <a:avLst/>
          </a:prstGeom>
          <a:noFill/>
          <a:ln/>
        </p:spPr>
        <p:txBody>
          <a:bodyPr wrap="square" lIns="0" tIns="0" rIns="0" bIns="0" rtlCol="0" anchor="t"/>
          <a:lstStyle/>
          <a:p>
            <a:pPr indent="0" marL="0">
              <a:buNone/>
            </a:pPr>
            <a:r>
              <a:rPr lang="en-US" sz="1200" dirty="0">
                <a:solidFill>
                  <a:schemeClr val="accent5"/>
                </a:solidFill>
              </a:rPr>
              <a:t>실제 수업에 적용해 볼 시간</a:t>
            </a:r>
            <a:endParaRPr lang="en-US" sz="1200" dirty="0"/>
          </a:p>
        </p:txBody>
      </p:sp>
      <p:sp>
        <p:nvSpPr>
          <p:cNvPr id="11" name="교육생은 무료 circle"/>
          <p:cNvSpPr/>
          <p:nvPr/>
        </p:nvSpPr>
        <p:spPr>
          <a:xfrm>
            <a:off x="548640" y="4462272"/>
            <a:ext cx="566928" cy="566928"/>
          </a:xfrm>
          <a:prstGeom prst="ellipse">
            <a:avLst/>
          </a:prstGeom>
          <a:solidFill>
            <a:schemeClr val="accent1"/>
          </a:solidFill>
          <a:ln/>
        </p:spPr>
      </p:sp>
      <p:pic>
        <p:nvPicPr>
          <p:cNvPr id="12" name="교육생은 무료 icon" descr="교육생은 무료">    </p:cNvPr>
          <p:cNvPicPr>
            <a:picLocks noChangeAspect="1"/>
          </p:cNvPicPr>
          <p:nvPr/>
        </p:nvPicPr>
        <p:blipFill>
          <a:blip r:embed="rId2"/>
          <a:stretch>
            <a:fillRect/>
          </a:stretch>
        </p:blipFill>
        <p:spPr>
          <a:xfrm>
            <a:off x="701711" y="4615343"/>
            <a:ext cx="260787" cy="260787"/>
          </a:xfrm>
          <a:prstGeom prst="rect">
            <a:avLst/>
          </a:prstGeom>
        </p:spPr>
      </p:pic>
      <p:sp>
        <p:nvSpPr>
          <p:cNvPr id="13" name="Text 8"/>
          <p:cNvSpPr txBox="1"/>
          <p:nvPr/>
        </p:nvSpPr>
        <p:spPr>
          <a:xfrm>
            <a:off x="1325880" y="4462272"/>
            <a:ext cx="4206240" cy="310896"/>
          </a:xfrm>
          <a:prstGeom prst="rect">
            <a:avLst/>
          </a:prstGeom>
          <a:noFill/>
          <a:ln/>
        </p:spPr>
        <p:txBody>
          <a:bodyPr wrap="square" lIns="0" tIns="0" rIns="0" bIns="0" rtlCol="0" anchor="t"/>
          <a:lstStyle/>
          <a:p>
            <a:pPr indent="0" marL="0">
              <a:buNone/>
            </a:pPr>
            <a:r>
              <a:rPr lang="en-US" sz="1700" b="1" dirty="0">
                <a:solidFill>
                  <a:schemeClr val="bg1"/>
                </a:solidFill>
              </a:rPr>
              <a:t>교육생은 무료</a:t>
            </a:r>
            <a:endParaRPr lang="en-US" sz="1700" dirty="0"/>
          </a:p>
        </p:txBody>
      </p:sp>
      <p:sp>
        <p:nvSpPr>
          <p:cNvPr id="14" name="Text 9"/>
          <p:cNvSpPr txBox="1"/>
          <p:nvPr/>
        </p:nvSpPr>
        <p:spPr>
          <a:xfrm>
            <a:off x="1325880" y="4773168"/>
            <a:ext cx="4206240" cy="274320"/>
          </a:xfrm>
          <a:prstGeom prst="rect">
            <a:avLst/>
          </a:prstGeom>
          <a:noFill/>
          <a:ln/>
        </p:spPr>
        <p:txBody>
          <a:bodyPr wrap="square" lIns="0" tIns="0" rIns="0" bIns="0" rtlCol="0" anchor="t"/>
          <a:lstStyle/>
          <a:p>
            <a:pPr indent="0" marL="0">
              <a:buNone/>
            </a:pPr>
            <a:r>
              <a:rPr lang="en-US" sz="1200" dirty="0">
                <a:solidFill>
                  <a:schemeClr val="accent5"/>
                </a:solidFill>
              </a:rPr>
              <a:t>강사가 초대한 교육생은 함께 사용</a:t>
            </a:r>
            <a:endParaRPr lang="en-US" sz="1200" dirty="0"/>
          </a:p>
        </p:txBody>
      </p:sp>
      <p:sp>
        <p:nvSpPr>
          <p:cNvPr id="15" name="협업 채널 홍보 circle"/>
          <p:cNvSpPr/>
          <p:nvPr/>
        </p:nvSpPr>
        <p:spPr>
          <a:xfrm>
            <a:off x="548640" y="5266944"/>
            <a:ext cx="566928" cy="566928"/>
          </a:xfrm>
          <a:prstGeom prst="ellipse">
            <a:avLst/>
          </a:prstGeom>
          <a:solidFill>
            <a:schemeClr val="accent1"/>
          </a:solidFill>
          <a:ln/>
        </p:spPr>
      </p:sp>
      <p:pic>
        <p:nvPicPr>
          <p:cNvPr id="16" name="협업 채널 홍보 icon" descr="협업 채널 홍보">    </p:cNvPr>
          <p:cNvPicPr>
            <a:picLocks noChangeAspect="1"/>
          </p:cNvPicPr>
          <p:nvPr/>
        </p:nvPicPr>
        <p:blipFill>
          <a:blip r:embed="rId3"/>
          <a:stretch>
            <a:fillRect/>
          </a:stretch>
        </p:blipFill>
        <p:spPr>
          <a:xfrm>
            <a:off x="701711" y="5420015"/>
            <a:ext cx="260787" cy="260787"/>
          </a:xfrm>
          <a:prstGeom prst="rect">
            <a:avLst/>
          </a:prstGeom>
        </p:spPr>
      </p:pic>
      <p:sp>
        <p:nvSpPr>
          <p:cNvPr id="17" name="Text 11"/>
          <p:cNvSpPr txBox="1"/>
          <p:nvPr/>
        </p:nvSpPr>
        <p:spPr>
          <a:xfrm>
            <a:off x="1325880" y="5266944"/>
            <a:ext cx="4206240" cy="310896"/>
          </a:xfrm>
          <a:prstGeom prst="rect">
            <a:avLst/>
          </a:prstGeom>
          <a:noFill/>
          <a:ln/>
        </p:spPr>
        <p:txBody>
          <a:bodyPr wrap="square" lIns="0" tIns="0" rIns="0" bIns="0" rtlCol="0" anchor="t"/>
          <a:lstStyle/>
          <a:p>
            <a:pPr indent="0" marL="0">
              <a:buNone/>
            </a:pPr>
            <a:r>
              <a:rPr lang="en-US" sz="1700" b="1" dirty="0">
                <a:solidFill>
                  <a:schemeClr val="bg1"/>
                </a:solidFill>
              </a:rPr>
              <a:t>협업 채널 홍보</a:t>
            </a:r>
            <a:endParaRPr lang="en-US" sz="1700" dirty="0"/>
          </a:p>
        </p:txBody>
      </p:sp>
      <p:sp>
        <p:nvSpPr>
          <p:cNvPr id="18" name="Text 12"/>
          <p:cNvSpPr txBox="1"/>
          <p:nvPr/>
        </p:nvSpPr>
        <p:spPr>
          <a:xfrm>
            <a:off x="1325880" y="5577840"/>
            <a:ext cx="4206240" cy="274320"/>
          </a:xfrm>
          <a:prstGeom prst="rect">
            <a:avLst/>
          </a:prstGeom>
          <a:noFill/>
          <a:ln/>
        </p:spPr>
        <p:txBody>
          <a:bodyPr wrap="square" lIns="0" tIns="0" rIns="0" bIns="0" rtlCol="0" anchor="t"/>
          <a:lstStyle/>
          <a:p>
            <a:pPr indent="0" marL="0">
              <a:buNone/>
            </a:pPr>
            <a:r>
              <a:rPr lang="en-US" sz="1200" dirty="0">
                <a:solidFill>
                  <a:schemeClr val="accent5"/>
                </a:solidFill>
              </a:rPr>
              <a:t>유튜브 ‘먹보야 놀자’와 협업</a:t>
            </a:r>
            <a:endParaRPr lang="en-US" sz="1200" dirty="0"/>
          </a:p>
        </p:txBody>
      </p:sp>
      <p:sp>
        <p:nvSpPr>
          <p:cNvPr id="19" name="chart panel"/>
          <p:cNvSpPr/>
          <p:nvPr/>
        </p:nvSpPr>
        <p:spPr>
          <a:xfrm>
            <a:off x="6126480" y="1691640"/>
            <a:ext cx="5513832" cy="4434840"/>
          </a:xfrm>
          <a:prstGeom prst="roundRect">
            <a:avLst>
              <a:gd name="adj" fmla="val 2887"/>
            </a:avLst>
          </a:prstGeom>
          <a:solidFill>
            <a:schemeClr val="bg1">
              <a:alpha val="8000"/>
            </a:schemeClr>
          </a:solidFill>
          <a:ln w="9525">
            <a:solidFill>
              <a:schemeClr val="accent5">
                <a:alpha val="40000"/>
              </a:schemeClr>
            </a:solidFill>
            <a:prstDash val="solid"/>
          </a:ln>
        </p:spPr>
      </p:sp>
      <p:sp>
        <p:nvSpPr>
          <p:cNvPr id="20" name="Text 14"/>
          <p:cNvSpPr txBox="1"/>
          <p:nvPr/>
        </p:nvSpPr>
        <p:spPr>
          <a:xfrm>
            <a:off x="6400800" y="1874520"/>
            <a:ext cx="5029200" cy="320040"/>
          </a:xfrm>
          <a:prstGeom prst="rect">
            <a:avLst/>
          </a:prstGeom>
          <a:noFill/>
          <a:ln/>
        </p:spPr>
        <p:txBody>
          <a:bodyPr wrap="square" lIns="0" tIns="0" rIns="0" bIns="0" rtlCol="0" anchor="t"/>
          <a:lstStyle/>
          <a:p>
            <a:pPr indent="0" marL="0">
              <a:buNone/>
            </a:pPr>
            <a:r>
              <a:rPr lang="en-US" sz="1500" b="1" dirty="0">
                <a:solidFill>
                  <a:schemeClr val="bg1"/>
                </a:solidFill>
              </a:rPr>
              <a:t>가격 계산 예시 · 유료 강사 수별 12개월 결제액</a:t>
            </a:r>
            <a:endParaRPr lang="en-US" sz="1500" dirty="0"/>
          </a:p>
        </p:txBody>
      </p:sp>
      <p:graphicFrame>
        <p:nvGraphicFramePr>
          <p:cNvPr id="21" name="pricing example chart" descr="유료 강사 100명 351만원, 300명 1,053만원, 1,000명 3,510만원"/>
          <p:cNvGraphicFramePr/>
          <p:nvPr/>
        </p:nvGraphicFramePr>
        <p:xfrm>
          <a:off x="6400800" y="2286000"/>
          <a:ext cx="4983480" cy="3063240"/>
        </p:xfrm>
        <a:graphic xmlns:a="http://schemas.openxmlformats.org/drawingml/2006/main">
          <a:graphicData uri="http://schemas.openxmlformats.org/drawingml/2006/chart">
            <c:chart xmlns:c="http://schemas.openxmlformats.org/drawingml/2006/chart" r:id="rId4"/>
          </a:graphicData>
        </a:graphic>
      </p:graphicFrame>
      <p:sp>
        <p:nvSpPr>
          <p:cNvPr id="22" name="Text 15"/>
          <p:cNvSpPr txBox="1"/>
          <p:nvPr/>
        </p:nvSpPr>
        <p:spPr>
          <a:xfrm>
            <a:off x="6400800" y="5440680"/>
            <a:ext cx="5029200" cy="548640"/>
          </a:xfrm>
          <a:prstGeom prst="rect">
            <a:avLst/>
          </a:prstGeom>
          <a:noFill/>
          <a:ln/>
        </p:spPr>
        <p:txBody>
          <a:bodyPr wrap="square" lIns="0" tIns="0" rIns="0" bIns="0" rtlCol="0" anchor="t"/>
          <a:lstStyle/>
          <a:p>
            <a:pPr indent="0" marL="0">
              <a:buNone/>
            </a:pPr>
            <a:r>
              <a:rPr lang="en-US" sz="1000" dirty="0">
                <a:solidFill>
                  <a:schemeClr val="accent5"/>
                </a:solidFill>
              </a:rPr>
              <a:t>목표가 아닌 계산 예시 · 3개월 무료 후 9개월 유지 가정</a:t>
            </a:r>
            <a:endParaRPr lang="en-US" sz="1000" dirty="0"/>
          </a:p>
          <a:p>
            <a:pPr indent="0" marL="0">
              <a:buNone/>
            </a:pPr>
            <a:r>
              <a:rPr lang="en-US" sz="1000" dirty="0">
                <a:solidFill>
                  <a:schemeClr val="accent5"/>
                </a:solidFill>
              </a:rPr>
              <a:t>세금·수수료·운영비 차감 전, 광고 수입 제외</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06  현황</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개발 완료, 10월 출시 — 운영 자금은 자체 매출로</a:t>
            </a:r>
            <a:endParaRPr lang="en-US" sz="3200" dirty="0"/>
          </a:p>
        </p:txBody>
      </p:sp>
      <p:sp>
        <p:nvSpPr>
          <p:cNvPr id="5" name="status card 0"/>
          <p:cNvSpPr/>
          <p:nvPr/>
        </p:nvSpPr>
        <p:spPr>
          <a:xfrm>
            <a:off x="548640" y="1691640"/>
            <a:ext cx="2567864" cy="2926080"/>
          </a:xfrm>
          <a:prstGeom prst="roundRect">
            <a:avLst>
              <a:gd name="adj" fmla="val 4985"/>
            </a:avLst>
          </a:prstGeom>
          <a:solidFill>
            <a:schemeClr val="bg1"/>
          </a:solidFill>
          <a:ln/>
          <a:effectLst>
            <a:outerShdw sx="100000" sy="100000" kx="0" ky="0" algn="bl" rotWithShape="0" blurRad="127000" dist="38100" dir="5400000">
              <a:srgbClr val="0A2540">
                <a:alpha val="14000"/>
              </a:srgbClr>
            </a:outerShdw>
          </a:effectLst>
        </p:spPr>
      </p:sp>
      <p:sp>
        <p:nvSpPr>
          <p:cNvPr id="6" name="제품 circle"/>
          <p:cNvSpPr/>
          <p:nvPr/>
        </p:nvSpPr>
        <p:spPr>
          <a:xfrm>
            <a:off x="822960" y="1965960"/>
            <a:ext cx="640080" cy="640080"/>
          </a:xfrm>
          <a:prstGeom prst="ellipse">
            <a:avLst/>
          </a:prstGeom>
          <a:solidFill>
            <a:schemeClr val="accent6"/>
          </a:solidFill>
          <a:ln/>
        </p:spPr>
      </p:sp>
      <p:pic>
        <p:nvPicPr>
          <p:cNvPr id="7" name="제품 icon" descr="제품">    </p:cNvPr>
          <p:cNvPicPr>
            <a:picLocks noChangeAspect="1"/>
          </p:cNvPicPr>
          <p:nvPr/>
        </p:nvPicPr>
        <p:blipFill>
          <a:blip r:embed="rId1"/>
          <a:stretch>
            <a:fillRect/>
          </a:stretch>
        </p:blipFill>
        <p:spPr>
          <a:xfrm>
            <a:off x="995782" y="2138782"/>
            <a:ext cx="294437" cy="294437"/>
          </a:xfrm>
          <a:prstGeom prst="rect">
            <a:avLst/>
          </a:prstGeom>
        </p:spPr>
      </p:pic>
      <p:sp>
        <p:nvSpPr>
          <p:cNvPr id="8" name="Text 4"/>
          <p:cNvSpPr txBox="1"/>
          <p:nvPr/>
        </p:nvSpPr>
        <p:spPr>
          <a:xfrm>
            <a:off x="822960" y="2788920"/>
            <a:ext cx="2019224" cy="274320"/>
          </a:xfrm>
          <a:prstGeom prst="rect">
            <a:avLst/>
          </a:prstGeom>
          <a:noFill/>
          <a:ln/>
        </p:spPr>
        <p:txBody>
          <a:bodyPr wrap="square" lIns="0" tIns="0" rIns="0" bIns="0" rtlCol="0" anchor="t"/>
          <a:lstStyle/>
          <a:p>
            <a:pPr indent="0" marL="0">
              <a:buNone/>
            </a:pPr>
            <a:r>
              <a:rPr lang="en-US" sz="1200" b="1" dirty="0">
                <a:solidFill>
                  <a:schemeClr val="accent4"/>
                </a:solidFill>
              </a:rPr>
              <a:t>제품</a:t>
            </a:r>
            <a:endParaRPr lang="en-US" sz="1200" dirty="0"/>
          </a:p>
        </p:txBody>
      </p:sp>
      <p:sp>
        <p:nvSpPr>
          <p:cNvPr id="9" name="Text 5"/>
          <p:cNvSpPr txBox="1"/>
          <p:nvPr/>
        </p:nvSpPr>
        <p:spPr>
          <a:xfrm>
            <a:off x="822960" y="3063240"/>
            <a:ext cx="2110664" cy="457200"/>
          </a:xfrm>
          <a:prstGeom prst="rect">
            <a:avLst/>
          </a:prstGeom>
          <a:noFill/>
          <a:ln/>
        </p:spPr>
        <p:txBody>
          <a:bodyPr wrap="square" lIns="0" tIns="0" rIns="0" bIns="0" rtlCol="0" anchor="t"/>
          <a:lstStyle/>
          <a:p>
            <a:pPr indent="0" marL="0">
              <a:buNone/>
            </a:pPr>
            <a:r>
              <a:rPr lang="en-US" sz="2100" b="1" dirty="0">
                <a:solidFill>
                  <a:schemeClr val="tx1"/>
                </a:solidFill>
              </a:rPr>
              <a:t>개발 완료</a:t>
            </a:r>
            <a:endParaRPr lang="en-US" sz="2100" dirty="0"/>
          </a:p>
        </p:txBody>
      </p:sp>
      <p:sp>
        <p:nvSpPr>
          <p:cNvPr id="10" name="Text 6"/>
          <p:cNvSpPr txBox="1"/>
          <p:nvPr/>
        </p:nvSpPr>
        <p:spPr>
          <a:xfrm>
            <a:off x="822960" y="3611880"/>
            <a:ext cx="2064944" cy="868680"/>
          </a:xfrm>
          <a:prstGeom prst="rect">
            <a:avLst/>
          </a:prstGeom>
          <a:noFill/>
          <a:ln/>
        </p:spPr>
        <p:txBody>
          <a:bodyPr wrap="square" lIns="0" tIns="0" rIns="0" bIns="0" rtlCol="0" anchor="t"/>
          <a:lstStyle/>
          <a:p>
            <a:pPr indent="0" marL="0">
              <a:buNone/>
            </a:pPr>
            <a:r>
              <a:rPr lang="en-US" sz="1300" dirty="0">
                <a:solidFill>
                  <a:schemeClr val="accent4"/>
                </a:solidFill>
              </a:rPr>
              <a:t>일정·초대·서류·진도·</a:t>
            </a:r>
            <a:endParaRPr lang="en-US" sz="1300" dirty="0"/>
          </a:p>
          <a:p>
            <a:pPr indent="0" marL="0">
              <a:buNone/>
            </a:pPr>
            <a:r>
              <a:rPr lang="en-US" sz="1300" dirty="0">
                <a:solidFill>
                  <a:schemeClr val="accent4"/>
                </a:solidFill>
              </a:rPr>
              <a:t>디브리핑 기능 구현,</a:t>
            </a:r>
            <a:endParaRPr lang="en-US" sz="1300" dirty="0"/>
          </a:p>
          <a:p>
            <a:pPr indent="0" marL="0">
              <a:buNone/>
            </a:pPr>
            <a:r>
              <a:rPr lang="en-US" sz="1300" dirty="0">
                <a:solidFill>
                  <a:schemeClr val="accent4"/>
                </a:solidFill>
              </a:rPr>
              <a:t>운영 환경 테스트</a:t>
            </a:r>
            <a:endParaRPr lang="en-US" sz="1300" dirty="0"/>
          </a:p>
        </p:txBody>
      </p:sp>
      <p:sp>
        <p:nvSpPr>
          <p:cNvPr id="11" name="status card 1"/>
          <p:cNvSpPr/>
          <p:nvPr/>
        </p:nvSpPr>
        <p:spPr>
          <a:xfrm>
            <a:off x="3390824" y="1691640"/>
            <a:ext cx="2567864" cy="2926080"/>
          </a:xfrm>
          <a:prstGeom prst="roundRect">
            <a:avLst>
              <a:gd name="adj" fmla="val 4985"/>
            </a:avLst>
          </a:prstGeom>
          <a:solidFill>
            <a:schemeClr val="bg1"/>
          </a:solidFill>
          <a:ln/>
          <a:effectLst>
            <a:outerShdw sx="100000" sy="100000" kx="0" ky="0" algn="bl" rotWithShape="0" blurRad="127000" dist="38100" dir="5400000">
              <a:srgbClr val="0A2540">
                <a:alpha val="14000"/>
              </a:srgbClr>
            </a:outerShdw>
          </a:effectLst>
        </p:spPr>
      </p:sp>
      <p:sp>
        <p:nvSpPr>
          <p:cNvPr id="12" name="출시 circle"/>
          <p:cNvSpPr/>
          <p:nvPr/>
        </p:nvSpPr>
        <p:spPr>
          <a:xfrm>
            <a:off x="3665144" y="1965960"/>
            <a:ext cx="640080" cy="640080"/>
          </a:xfrm>
          <a:prstGeom prst="ellipse">
            <a:avLst/>
          </a:prstGeom>
          <a:solidFill>
            <a:schemeClr val="accent3"/>
          </a:solidFill>
          <a:ln/>
        </p:spPr>
      </p:sp>
      <p:pic>
        <p:nvPicPr>
          <p:cNvPr id="13" name="출시 icon" descr="출시">    </p:cNvPr>
          <p:cNvPicPr>
            <a:picLocks noChangeAspect="1"/>
          </p:cNvPicPr>
          <p:nvPr/>
        </p:nvPicPr>
        <p:blipFill>
          <a:blip r:embed="rId2"/>
          <a:stretch>
            <a:fillRect/>
          </a:stretch>
        </p:blipFill>
        <p:spPr>
          <a:xfrm>
            <a:off x="3837965" y="2138782"/>
            <a:ext cx="294437" cy="294437"/>
          </a:xfrm>
          <a:prstGeom prst="rect">
            <a:avLst/>
          </a:prstGeom>
        </p:spPr>
      </p:pic>
      <p:sp>
        <p:nvSpPr>
          <p:cNvPr id="14" name="Text 9"/>
          <p:cNvSpPr txBox="1"/>
          <p:nvPr/>
        </p:nvSpPr>
        <p:spPr>
          <a:xfrm>
            <a:off x="3665144" y="2788920"/>
            <a:ext cx="2019224" cy="274320"/>
          </a:xfrm>
          <a:prstGeom prst="rect">
            <a:avLst/>
          </a:prstGeom>
          <a:noFill/>
          <a:ln/>
        </p:spPr>
        <p:txBody>
          <a:bodyPr wrap="square" lIns="0" tIns="0" rIns="0" bIns="0" rtlCol="0" anchor="t"/>
          <a:lstStyle/>
          <a:p>
            <a:pPr indent="0" marL="0">
              <a:buNone/>
            </a:pPr>
            <a:r>
              <a:rPr lang="en-US" sz="1200" b="1" dirty="0">
                <a:solidFill>
                  <a:schemeClr val="accent4"/>
                </a:solidFill>
              </a:rPr>
              <a:t>출시</a:t>
            </a:r>
            <a:endParaRPr lang="en-US" sz="1200" dirty="0"/>
          </a:p>
        </p:txBody>
      </p:sp>
      <p:sp>
        <p:nvSpPr>
          <p:cNvPr id="15" name="Text 10"/>
          <p:cNvSpPr txBox="1"/>
          <p:nvPr/>
        </p:nvSpPr>
        <p:spPr>
          <a:xfrm>
            <a:off x="3665144" y="3063240"/>
            <a:ext cx="2110664" cy="457200"/>
          </a:xfrm>
          <a:prstGeom prst="rect">
            <a:avLst/>
          </a:prstGeom>
          <a:noFill/>
          <a:ln/>
        </p:spPr>
        <p:txBody>
          <a:bodyPr wrap="square" lIns="0" tIns="0" rIns="0" bIns="0" rtlCol="0" anchor="t"/>
          <a:lstStyle/>
          <a:p>
            <a:pPr indent="0" marL="0">
              <a:buNone/>
            </a:pPr>
            <a:r>
              <a:rPr lang="en-US" sz="2100" b="1" dirty="0">
                <a:solidFill>
                  <a:schemeClr val="tx1"/>
                </a:solidFill>
              </a:rPr>
              <a:t>2026년 10월</a:t>
            </a:r>
            <a:endParaRPr lang="en-US" sz="2100" dirty="0"/>
          </a:p>
        </p:txBody>
      </p:sp>
      <p:sp>
        <p:nvSpPr>
          <p:cNvPr id="16" name="Text 11"/>
          <p:cNvSpPr txBox="1"/>
          <p:nvPr/>
        </p:nvSpPr>
        <p:spPr>
          <a:xfrm>
            <a:off x="3665144" y="3611880"/>
            <a:ext cx="2064944" cy="868680"/>
          </a:xfrm>
          <a:prstGeom prst="rect">
            <a:avLst/>
          </a:prstGeom>
          <a:noFill/>
          <a:ln/>
        </p:spPr>
        <p:txBody>
          <a:bodyPr wrap="square" lIns="0" tIns="0" rIns="0" bIns="0" rtlCol="0" anchor="t"/>
          <a:lstStyle/>
          <a:p>
            <a:pPr indent="0" marL="0">
              <a:buNone/>
            </a:pPr>
            <a:r>
              <a:rPr lang="en-US" sz="1300" dirty="0">
                <a:solidFill>
                  <a:schemeClr val="accent4"/>
                </a:solidFill>
              </a:rPr>
              <a:t>App Store ·</a:t>
            </a:r>
            <a:endParaRPr lang="en-US" sz="1300" dirty="0"/>
          </a:p>
          <a:p>
            <a:pPr indent="0" marL="0">
              <a:buNone/>
            </a:pPr>
            <a:r>
              <a:rPr lang="en-US" sz="1300" dirty="0">
                <a:solidFill>
                  <a:schemeClr val="accent4"/>
                </a:solidFill>
              </a:rPr>
              <a:t>Google Play 정식 출시</a:t>
            </a:r>
            <a:endParaRPr lang="en-US" sz="1300" dirty="0"/>
          </a:p>
        </p:txBody>
      </p:sp>
      <p:sp>
        <p:nvSpPr>
          <p:cNvPr id="17" name="status card 2"/>
          <p:cNvSpPr/>
          <p:nvPr/>
        </p:nvSpPr>
        <p:spPr>
          <a:xfrm>
            <a:off x="6233008" y="1691640"/>
            <a:ext cx="2567864" cy="2926080"/>
          </a:xfrm>
          <a:prstGeom prst="roundRect">
            <a:avLst>
              <a:gd name="adj" fmla="val 4985"/>
            </a:avLst>
          </a:prstGeom>
          <a:solidFill>
            <a:schemeClr val="bg1"/>
          </a:solidFill>
          <a:ln/>
          <a:effectLst>
            <a:outerShdw sx="100000" sy="100000" kx="0" ky="0" algn="bl" rotWithShape="0" blurRad="127000" dist="38100" dir="5400000">
              <a:srgbClr val="0A2540">
                <a:alpha val="14000"/>
              </a:srgbClr>
            </a:outerShdw>
          </a:effectLst>
        </p:spPr>
      </p:sp>
      <p:sp>
        <p:nvSpPr>
          <p:cNvPr id="18" name="채널 circle"/>
          <p:cNvSpPr/>
          <p:nvPr/>
        </p:nvSpPr>
        <p:spPr>
          <a:xfrm>
            <a:off x="6507328" y="1965960"/>
            <a:ext cx="640080" cy="640080"/>
          </a:xfrm>
          <a:prstGeom prst="ellipse">
            <a:avLst/>
          </a:prstGeom>
          <a:solidFill>
            <a:schemeClr val="accent6"/>
          </a:solidFill>
          <a:ln/>
        </p:spPr>
      </p:sp>
      <p:pic>
        <p:nvPicPr>
          <p:cNvPr id="19" name="채널 icon" descr="채널">    </p:cNvPr>
          <p:cNvPicPr>
            <a:picLocks noChangeAspect="1"/>
          </p:cNvPicPr>
          <p:nvPr/>
        </p:nvPicPr>
        <p:blipFill>
          <a:blip r:embed="rId3"/>
          <a:stretch>
            <a:fillRect/>
          </a:stretch>
        </p:blipFill>
        <p:spPr>
          <a:xfrm>
            <a:off x="6680149" y="2138782"/>
            <a:ext cx="294437" cy="294437"/>
          </a:xfrm>
          <a:prstGeom prst="rect">
            <a:avLst/>
          </a:prstGeom>
        </p:spPr>
      </p:pic>
      <p:sp>
        <p:nvSpPr>
          <p:cNvPr id="20" name="Text 14"/>
          <p:cNvSpPr txBox="1"/>
          <p:nvPr/>
        </p:nvSpPr>
        <p:spPr>
          <a:xfrm>
            <a:off x="6507328" y="2788920"/>
            <a:ext cx="2019224" cy="274320"/>
          </a:xfrm>
          <a:prstGeom prst="rect">
            <a:avLst/>
          </a:prstGeom>
          <a:noFill/>
          <a:ln/>
        </p:spPr>
        <p:txBody>
          <a:bodyPr wrap="square" lIns="0" tIns="0" rIns="0" bIns="0" rtlCol="0" anchor="t"/>
          <a:lstStyle/>
          <a:p>
            <a:pPr indent="0" marL="0">
              <a:buNone/>
            </a:pPr>
            <a:r>
              <a:rPr lang="en-US" sz="1200" b="1" dirty="0">
                <a:solidFill>
                  <a:schemeClr val="accent4"/>
                </a:solidFill>
              </a:rPr>
              <a:t>채널</a:t>
            </a:r>
            <a:endParaRPr lang="en-US" sz="1200" dirty="0"/>
          </a:p>
        </p:txBody>
      </p:sp>
      <p:sp>
        <p:nvSpPr>
          <p:cNvPr id="21" name="Text 15"/>
          <p:cNvSpPr txBox="1"/>
          <p:nvPr/>
        </p:nvSpPr>
        <p:spPr>
          <a:xfrm>
            <a:off x="6507328" y="3063240"/>
            <a:ext cx="2110664" cy="457200"/>
          </a:xfrm>
          <a:prstGeom prst="rect">
            <a:avLst/>
          </a:prstGeom>
          <a:noFill/>
          <a:ln/>
        </p:spPr>
        <p:txBody>
          <a:bodyPr wrap="square" lIns="0" tIns="0" rIns="0" bIns="0" rtlCol="0" anchor="t"/>
          <a:lstStyle/>
          <a:p>
            <a:pPr indent="0" marL="0">
              <a:buNone/>
            </a:pPr>
            <a:r>
              <a:rPr lang="en-US" sz="2100" b="1" dirty="0">
                <a:solidFill>
                  <a:schemeClr val="tx1"/>
                </a:solidFill>
              </a:rPr>
              <a:t>유튜브 협업</a:t>
            </a:r>
            <a:endParaRPr lang="en-US" sz="2100" dirty="0"/>
          </a:p>
        </p:txBody>
      </p:sp>
      <p:sp>
        <p:nvSpPr>
          <p:cNvPr id="22" name="Text 16"/>
          <p:cNvSpPr txBox="1"/>
          <p:nvPr/>
        </p:nvSpPr>
        <p:spPr>
          <a:xfrm>
            <a:off x="6507328" y="3611880"/>
            <a:ext cx="2064944" cy="868680"/>
          </a:xfrm>
          <a:prstGeom prst="rect">
            <a:avLst/>
          </a:prstGeom>
          <a:noFill/>
          <a:ln/>
        </p:spPr>
        <p:txBody>
          <a:bodyPr wrap="square" lIns="0" tIns="0" rIns="0" bIns="0" rtlCol="0" anchor="t"/>
          <a:lstStyle/>
          <a:p>
            <a:pPr indent="0" marL="0">
              <a:buNone/>
            </a:pPr>
            <a:r>
              <a:rPr lang="en-US" sz="1300" dirty="0">
                <a:solidFill>
                  <a:schemeClr val="accent4"/>
                </a:solidFill>
              </a:rPr>
              <a:t>‘먹보야 놀자’ 채널과</a:t>
            </a:r>
            <a:endParaRPr lang="en-US" sz="1300" dirty="0"/>
          </a:p>
          <a:p>
            <a:pPr indent="0" marL="0">
              <a:buNone/>
            </a:pPr>
            <a:r>
              <a:rPr lang="en-US" sz="1300" dirty="0">
                <a:solidFill>
                  <a:schemeClr val="accent4"/>
                </a:solidFill>
              </a:rPr>
              <a:t>강사 대상 홍보 준비</a:t>
            </a:r>
            <a:endParaRPr lang="en-US" sz="1300" dirty="0"/>
          </a:p>
        </p:txBody>
      </p:sp>
      <p:sp>
        <p:nvSpPr>
          <p:cNvPr id="23" name="status card 3"/>
          <p:cNvSpPr/>
          <p:nvPr/>
        </p:nvSpPr>
        <p:spPr>
          <a:xfrm>
            <a:off x="9075191" y="1691640"/>
            <a:ext cx="2567864" cy="2926080"/>
          </a:xfrm>
          <a:prstGeom prst="roundRect">
            <a:avLst>
              <a:gd name="adj" fmla="val 4985"/>
            </a:avLst>
          </a:prstGeom>
          <a:solidFill>
            <a:schemeClr val="bg1"/>
          </a:solidFill>
          <a:ln/>
          <a:effectLst>
            <a:outerShdw sx="100000" sy="100000" kx="0" ky="0" algn="bl" rotWithShape="0" blurRad="127000" dist="38100" dir="5400000">
              <a:srgbClr val="0A2540">
                <a:alpha val="14000"/>
              </a:srgbClr>
            </a:outerShdw>
          </a:effectLst>
        </p:spPr>
      </p:sp>
      <p:sp>
        <p:nvSpPr>
          <p:cNvPr id="24" name="운영 자금 circle"/>
          <p:cNvSpPr/>
          <p:nvPr/>
        </p:nvSpPr>
        <p:spPr>
          <a:xfrm>
            <a:off x="9349511" y="1965960"/>
            <a:ext cx="640080" cy="640080"/>
          </a:xfrm>
          <a:prstGeom prst="ellipse">
            <a:avLst/>
          </a:prstGeom>
          <a:solidFill>
            <a:schemeClr val="accent6"/>
          </a:solidFill>
          <a:ln/>
        </p:spPr>
      </p:sp>
      <p:pic>
        <p:nvPicPr>
          <p:cNvPr id="25" name="운영 자금 icon" descr="운영 자금">    </p:cNvPr>
          <p:cNvPicPr>
            <a:picLocks noChangeAspect="1"/>
          </p:cNvPicPr>
          <p:nvPr/>
        </p:nvPicPr>
        <p:blipFill>
          <a:blip r:embed="rId4"/>
          <a:stretch>
            <a:fillRect/>
          </a:stretch>
        </p:blipFill>
        <p:spPr>
          <a:xfrm>
            <a:off x="9522333" y="2138782"/>
            <a:ext cx="294437" cy="294437"/>
          </a:xfrm>
          <a:prstGeom prst="rect">
            <a:avLst/>
          </a:prstGeom>
        </p:spPr>
      </p:pic>
      <p:sp>
        <p:nvSpPr>
          <p:cNvPr id="26" name="Text 19"/>
          <p:cNvSpPr txBox="1"/>
          <p:nvPr/>
        </p:nvSpPr>
        <p:spPr>
          <a:xfrm>
            <a:off x="9349511" y="2788920"/>
            <a:ext cx="2019224" cy="274320"/>
          </a:xfrm>
          <a:prstGeom prst="rect">
            <a:avLst/>
          </a:prstGeom>
          <a:noFill/>
          <a:ln/>
        </p:spPr>
        <p:txBody>
          <a:bodyPr wrap="square" lIns="0" tIns="0" rIns="0" bIns="0" rtlCol="0" anchor="t"/>
          <a:lstStyle/>
          <a:p>
            <a:pPr indent="0" marL="0">
              <a:buNone/>
            </a:pPr>
            <a:r>
              <a:rPr lang="en-US" sz="1200" b="1" dirty="0">
                <a:solidFill>
                  <a:schemeClr val="accent4"/>
                </a:solidFill>
              </a:rPr>
              <a:t>운영 자금</a:t>
            </a:r>
            <a:endParaRPr lang="en-US" sz="1200" dirty="0"/>
          </a:p>
        </p:txBody>
      </p:sp>
      <p:sp>
        <p:nvSpPr>
          <p:cNvPr id="27" name="Text 20"/>
          <p:cNvSpPr txBox="1"/>
          <p:nvPr/>
        </p:nvSpPr>
        <p:spPr>
          <a:xfrm>
            <a:off x="9349511" y="3063240"/>
            <a:ext cx="2110664" cy="457200"/>
          </a:xfrm>
          <a:prstGeom prst="rect">
            <a:avLst/>
          </a:prstGeom>
          <a:noFill/>
          <a:ln/>
        </p:spPr>
        <p:txBody>
          <a:bodyPr wrap="square" lIns="0" tIns="0" rIns="0" bIns="0" rtlCol="0" anchor="t"/>
          <a:lstStyle/>
          <a:p>
            <a:pPr indent="0" marL="0">
              <a:buNone/>
            </a:pPr>
            <a:r>
              <a:rPr lang="en-US" sz="2100" b="1" dirty="0">
                <a:solidFill>
                  <a:schemeClr val="tx1"/>
                </a:solidFill>
              </a:rPr>
              <a:t>연 8,844만 원</a:t>
            </a:r>
            <a:endParaRPr lang="en-US" sz="2100" dirty="0"/>
          </a:p>
        </p:txBody>
      </p:sp>
      <p:sp>
        <p:nvSpPr>
          <p:cNvPr id="28" name="Text 21"/>
          <p:cNvSpPr txBox="1"/>
          <p:nvPr/>
        </p:nvSpPr>
        <p:spPr>
          <a:xfrm>
            <a:off x="9349511" y="3611880"/>
            <a:ext cx="2064944" cy="868680"/>
          </a:xfrm>
          <a:prstGeom prst="rect">
            <a:avLst/>
          </a:prstGeom>
          <a:noFill/>
          <a:ln/>
        </p:spPr>
        <p:txBody>
          <a:bodyPr wrap="square" lIns="0" tIns="0" rIns="0" bIns="0" rtlCol="0" anchor="t"/>
          <a:lstStyle/>
          <a:p>
            <a:pPr indent="0" marL="0">
              <a:buNone/>
            </a:pPr>
            <a:r>
              <a:rPr lang="en-US" sz="1300" dirty="0">
                <a:solidFill>
                  <a:schemeClr val="accent4"/>
                </a:solidFill>
              </a:rPr>
              <a:t>럼바우 외주 개발 매출</a:t>
            </a:r>
            <a:endParaRPr lang="en-US" sz="1300" dirty="0"/>
          </a:p>
          <a:p>
            <a:pPr indent="0" marL="0">
              <a:buNone/>
            </a:pPr>
            <a:r>
              <a:rPr lang="en-US" sz="1300" dirty="0">
                <a:solidFill>
                  <a:schemeClr val="accent4"/>
                </a:solidFill>
              </a:rPr>
              <a:t>(AllBlue 매출 아님)</a:t>
            </a:r>
            <a:endParaRPr lang="en-US" sz="1300" dirty="0"/>
          </a:p>
        </p:txBody>
      </p:sp>
      <p:sp>
        <p:nvSpPr>
          <p:cNvPr id="29" name="status strip"/>
          <p:cNvSpPr/>
          <p:nvPr/>
        </p:nvSpPr>
        <p:spPr>
          <a:xfrm>
            <a:off x="548640" y="4937760"/>
            <a:ext cx="11094415" cy="1097280"/>
          </a:xfrm>
          <a:prstGeom prst="roundRect">
            <a:avLst>
              <a:gd name="adj" fmla="val 11667"/>
            </a:avLst>
          </a:prstGeom>
          <a:solidFill>
            <a:schemeClr val="tx2"/>
          </a:solidFill>
          <a:ln/>
        </p:spPr>
      </p:sp>
      <p:sp>
        <p:nvSpPr>
          <p:cNvPr id="30" name="Text 23"/>
          <p:cNvSpPr txBox="1"/>
          <p:nvPr/>
        </p:nvSpPr>
        <p:spPr>
          <a:xfrm>
            <a:off x="914400" y="4937760"/>
            <a:ext cx="10362895" cy="548640"/>
          </a:xfrm>
          <a:prstGeom prst="rect">
            <a:avLst/>
          </a:prstGeom>
          <a:noFill/>
          <a:ln/>
        </p:spPr>
        <p:txBody>
          <a:bodyPr wrap="square" lIns="0" tIns="0" rIns="0" bIns="0" rtlCol="0" anchor="ctr"/>
          <a:lstStyle/>
          <a:p>
            <a:pPr indent="0" marL="0">
              <a:buNone/>
            </a:pPr>
            <a:r>
              <a:rPr lang="en-US" sz="1500" b="1" dirty="0">
                <a:solidFill>
                  <a:schemeClr val="accent1"/>
                </a:solidFill>
              </a:rPr>
              <a:t>솔직한 현재 지표  </a:t>
            </a:r>
            <a:pPr indent="0" marL="0">
              <a:buNone/>
            </a:pPr>
            <a:r>
              <a:rPr lang="en-US" sz="1500" dirty="0">
                <a:solidFill>
                  <a:schemeClr val="bg1"/>
                </a:solidFill>
              </a:rPr>
              <a:t>AllBlue 매출 0원 · 테스트 사용자(강사·교육생) 5명 이내 · 정부지원·투자 이력 없음</a:t>
            </a:r>
            <a:endParaRPr lang="en-US" sz="1500" dirty="0"/>
          </a:p>
        </p:txBody>
      </p:sp>
      <p:sp>
        <p:nvSpPr>
          <p:cNvPr id="31" name="Text 24"/>
          <p:cNvSpPr txBox="1"/>
          <p:nvPr/>
        </p:nvSpPr>
        <p:spPr>
          <a:xfrm>
            <a:off x="914400" y="5440680"/>
            <a:ext cx="10362895" cy="457200"/>
          </a:xfrm>
          <a:prstGeom prst="rect">
            <a:avLst/>
          </a:prstGeom>
          <a:noFill/>
          <a:ln/>
        </p:spPr>
        <p:txBody>
          <a:bodyPr wrap="square" lIns="0" tIns="0" rIns="0" bIns="0" rtlCol="0" anchor="ctr"/>
          <a:lstStyle/>
          <a:p>
            <a:pPr indent="0" marL="0">
              <a:buNone/>
            </a:pPr>
            <a:r>
              <a:rPr lang="en-US" sz="1300" dirty="0">
                <a:solidFill>
                  <a:schemeClr val="accent5"/>
                </a:solidFill>
              </a:rPr>
              <a:t>출시 후 확인할 지표: 활성 강사 수 · 디브리핑 작성 비율 · 첫 수업 이후 재사용 비율 · 무료 체험 후 유료 전환율</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07  경쟁</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교육 콘텐츠가 아닌, 강사의 수업 운영에 집중</a:t>
            </a:r>
            <a:endParaRPr lang="en-US" sz="3200" dirty="0"/>
          </a:p>
        </p:txBody>
      </p:sp>
      <p:sp>
        <p:nvSpPr>
          <p:cNvPr id="5" name="compare 기존 방식"/>
          <p:cNvSpPr/>
          <p:nvPr/>
        </p:nvSpPr>
        <p:spPr>
          <a:xfrm>
            <a:off x="548640" y="1691640"/>
            <a:ext cx="3429000" cy="3566160"/>
          </a:xfrm>
          <a:prstGeom prst="roundRect">
            <a:avLst>
              <a:gd name="adj" fmla="val 3733"/>
            </a:avLst>
          </a:prstGeom>
          <a:solidFill>
            <a:schemeClr val="bg1"/>
          </a:solidFill>
          <a:ln/>
          <a:effectLst>
            <a:outerShdw sx="100000" sy="100000" kx="0" ky="0" algn="bl" rotWithShape="0" blurRad="127000" dist="38100" dir="5400000">
              <a:srgbClr val="0A2540">
                <a:alpha val="14000"/>
              </a:srgbClr>
            </a:outerShdw>
          </a:effectLst>
        </p:spPr>
      </p:sp>
      <p:sp>
        <p:nvSpPr>
          <p:cNvPr id="6" name="기존 방식 circle"/>
          <p:cNvSpPr/>
          <p:nvPr/>
        </p:nvSpPr>
        <p:spPr>
          <a:xfrm>
            <a:off x="868680" y="2011680"/>
            <a:ext cx="640080" cy="640080"/>
          </a:xfrm>
          <a:prstGeom prst="ellipse">
            <a:avLst/>
          </a:prstGeom>
          <a:solidFill>
            <a:schemeClr val="accent6"/>
          </a:solidFill>
          <a:ln/>
        </p:spPr>
      </p:sp>
      <p:pic>
        <p:nvPicPr>
          <p:cNvPr id="7" name="기존 방식 icon" descr="기존 방식">    </p:cNvPr>
          <p:cNvPicPr>
            <a:picLocks noChangeAspect="1"/>
          </p:cNvPicPr>
          <p:nvPr/>
        </p:nvPicPr>
        <p:blipFill>
          <a:blip r:embed="rId1"/>
          <a:stretch>
            <a:fillRect/>
          </a:stretch>
        </p:blipFill>
        <p:spPr>
          <a:xfrm>
            <a:off x="1041502" y="2184502"/>
            <a:ext cx="294437" cy="294437"/>
          </a:xfrm>
          <a:prstGeom prst="rect">
            <a:avLst/>
          </a:prstGeom>
        </p:spPr>
      </p:pic>
      <p:sp>
        <p:nvSpPr>
          <p:cNvPr id="8" name="Text 4"/>
          <p:cNvSpPr txBox="1"/>
          <p:nvPr/>
        </p:nvSpPr>
        <p:spPr>
          <a:xfrm>
            <a:off x="868680" y="2788920"/>
            <a:ext cx="2788920" cy="384048"/>
          </a:xfrm>
          <a:prstGeom prst="rect">
            <a:avLst/>
          </a:prstGeom>
          <a:noFill/>
          <a:ln/>
        </p:spPr>
        <p:txBody>
          <a:bodyPr wrap="square" lIns="0" tIns="0" rIns="0" bIns="0" rtlCol="0" anchor="t"/>
          <a:lstStyle/>
          <a:p>
            <a:pPr indent="0" marL="0">
              <a:buNone/>
            </a:pPr>
            <a:r>
              <a:rPr lang="en-US" sz="2000" b="1" dirty="0">
                <a:solidFill>
                  <a:schemeClr val="tx1"/>
                </a:solidFill>
              </a:rPr>
              <a:t>기존 방식</a:t>
            </a:r>
            <a:endParaRPr lang="en-US" sz="2000" dirty="0"/>
          </a:p>
        </p:txBody>
      </p:sp>
      <p:sp>
        <p:nvSpPr>
          <p:cNvPr id="9" name="Text 5"/>
          <p:cNvSpPr txBox="1"/>
          <p:nvPr/>
        </p:nvSpPr>
        <p:spPr>
          <a:xfrm>
            <a:off x="868680" y="3172968"/>
            <a:ext cx="2788920" cy="274320"/>
          </a:xfrm>
          <a:prstGeom prst="rect">
            <a:avLst/>
          </a:prstGeom>
          <a:noFill/>
          <a:ln/>
        </p:spPr>
        <p:txBody>
          <a:bodyPr wrap="square" lIns="0" tIns="0" rIns="0" bIns="0" rtlCol="0" anchor="t"/>
          <a:lstStyle/>
          <a:p>
            <a:pPr indent="0" marL="0">
              <a:buNone/>
            </a:pPr>
            <a:r>
              <a:rPr lang="en-US" sz="1200" dirty="0">
                <a:solidFill>
                  <a:schemeClr val="accent4"/>
                </a:solidFill>
              </a:rPr>
              <a:t>엑셀 · 메신저 · 별도 서류</a:t>
            </a:r>
            <a:endParaRPr lang="en-US" sz="1200" dirty="0"/>
          </a:p>
        </p:txBody>
      </p:sp>
      <p:sp>
        <p:nvSpPr>
          <p:cNvPr id="10" name="Text 6"/>
          <p:cNvSpPr txBox="1"/>
          <p:nvPr/>
        </p:nvSpPr>
        <p:spPr>
          <a:xfrm>
            <a:off x="868680" y="3703320"/>
            <a:ext cx="914400" cy="256032"/>
          </a:xfrm>
          <a:prstGeom prst="rect">
            <a:avLst/>
          </a:prstGeom>
          <a:noFill/>
          <a:ln/>
        </p:spPr>
        <p:txBody>
          <a:bodyPr wrap="square" lIns="0" tIns="0" rIns="0" bIns="0" rtlCol="0" anchor="t"/>
          <a:lstStyle/>
          <a:p>
            <a:pPr indent="0" marL="0">
              <a:buNone/>
            </a:pPr>
            <a:r>
              <a:rPr lang="en-US" sz="1100" b="1" dirty="0">
                <a:solidFill>
                  <a:schemeClr val="accent2"/>
                </a:solidFill>
              </a:rPr>
              <a:t>장점</a:t>
            </a:r>
            <a:endParaRPr lang="en-US" sz="1100" dirty="0"/>
          </a:p>
        </p:txBody>
      </p:sp>
      <p:sp>
        <p:nvSpPr>
          <p:cNvPr id="11" name="Text 7"/>
          <p:cNvSpPr txBox="1"/>
          <p:nvPr/>
        </p:nvSpPr>
        <p:spPr>
          <a:xfrm>
            <a:off x="868680" y="3959352"/>
            <a:ext cx="2880360" cy="411480"/>
          </a:xfrm>
          <a:prstGeom prst="rect">
            <a:avLst/>
          </a:prstGeom>
          <a:noFill/>
          <a:ln/>
        </p:spPr>
        <p:txBody>
          <a:bodyPr wrap="square" lIns="0" tIns="0" rIns="0" bIns="0" rtlCol="0" anchor="t"/>
          <a:lstStyle/>
          <a:p>
            <a:pPr indent="0" marL="0">
              <a:buNone/>
            </a:pPr>
            <a:r>
              <a:rPr lang="en-US" sz="1400" dirty="0">
                <a:solidFill>
                  <a:schemeClr val="tx1"/>
                </a:solidFill>
              </a:rPr>
              <a:t>자유롭고 익숙한 도구</a:t>
            </a:r>
            <a:endParaRPr lang="en-US" sz="1400" dirty="0"/>
          </a:p>
        </p:txBody>
      </p:sp>
      <p:sp>
        <p:nvSpPr>
          <p:cNvPr id="12" name="Text 8"/>
          <p:cNvSpPr txBox="1"/>
          <p:nvPr/>
        </p:nvSpPr>
        <p:spPr>
          <a:xfrm>
            <a:off x="868680" y="4434840"/>
            <a:ext cx="914400" cy="256032"/>
          </a:xfrm>
          <a:prstGeom prst="rect">
            <a:avLst/>
          </a:prstGeom>
          <a:noFill/>
          <a:ln/>
        </p:spPr>
        <p:txBody>
          <a:bodyPr wrap="square" lIns="0" tIns="0" rIns="0" bIns="0" rtlCol="0" anchor="t"/>
          <a:lstStyle/>
          <a:p>
            <a:pPr indent="0" marL="0">
              <a:buNone/>
            </a:pPr>
            <a:r>
              <a:rPr lang="en-US" sz="1100" b="1" dirty="0">
                <a:solidFill>
                  <a:schemeClr val="accent2"/>
                </a:solidFill>
              </a:rPr>
              <a:t>한계</a:t>
            </a:r>
            <a:endParaRPr lang="en-US" sz="1100" dirty="0"/>
          </a:p>
        </p:txBody>
      </p:sp>
      <p:sp>
        <p:nvSpPr>
          <p:cNvPr id="13" name="Text 9"/>
          <p:cNvSpPr txBox="1"/>
          <p:nvPr/>
        </p:nvSpPr>
        <p:spPr>
          <a:xfrm>
            <a:off x="868680" y="4690872"/>
            <a:ext cx="2880360" cy="411480"/>
          </a:xfrm>
          <a:prstGeom prst="rect">
            <a:avLst/>
          </a:prstGeom>
          <a:noFill/>
          <a:ln/>
        </p:spPr>
        <p:txBody>
          <a:bodyPr wrap="square" lIns="0" tIns="0" rIns="0" bIns="0" rtlCol="0" anchor="t"/>
          <a:lstStyle/>
          <a:p>
            <a:pPr indent="0" marL="0">
              <a:buNone/>
            </a:pPr>
            <a:r>
              <a:rPr lang="en-US" sz="1400" dirty="0">
                <a:solidFill>
                  <a:schemeClr val="tx1"/>
                </a:solidFill>
              </a:rPr>
              <a:t>한 교육생 정보가 여러 곳에 흩어짐</a:t>
            </a:r>
            <a:endParaRPr lang="en-US" sz="1400" dirty="0"/>
          </a:p>
        </p:txBody>
      </p:sp>
      <p:sp>
        <p:nvSpPr>
          <p:cNvPr id="14" name="compare 교육단체 앱"/>
          <p:cNvSpPr/>
          <p:nvPr/>
        </p:nvSpPr>
        <p:spPr>
          <a:xfrm>
            <a:off x="4251960" y="1691640"/>
            <a:ext cx="3429000" cy="3566160"/>
          </a:xfrm>
          <a:prstGeom prst="roundRect">
            <a:avLst>
              <a:gd name="adj" fmla="val 3733"/>
            </a:avLst>
          </a:prstGeom>
          <a:solidFill>
            <a:schemeClr val="bg1"/>
          </a:solidFill>
          <a:ln/>
          <a:effectLst>
            <a:outerShdw sx="100000" sy="100000" kx="0" ky="0" algn="bl" rotWithShape="0" blurRad="127000" dist="38100" dir="5400000">
              <a:srgbClr val="0A2540">
                <a:alpha val="14000"/>
              </a:srgbClr>
            </a:outerShdw>
          </a:effectLst>
        </p:spPr>
      </p:sp>
      <p:sp>
        <p:nvSpPr>
          <p:cNvPr id="15" name="교육단체 앱 circle"/>
          <p:cNvSpPr/>
          <p:nvPr/>
        </p:nvSpPr>
        <p:spPr>
          <a:xfrm>
            <a:off x="4572000" y="2011680"/>
            <a:ext cx="640080" cy="640080"/>
          </a:xfrm>
          <a:prstGeom prst="ellipse">
            <a:avLst/>
          </a:prstGeom>
          <a:solidFill>
            <a:schemeClr val="accent6"/>
          </a:solidFill>
          <a:ln/>
        </p:spPr>
      </p:sp>
      <p:pic>
        <p:nvPicPr>
          <p:cNvPr id="16" name="교육단체 앱 icon" descr="교육단체 앱">    </p:cNvPr>
          <p:cNvPicPr>
            <a:picLocks noChangeAspect="1"/>
          </p:cNvPicPr>
          <p:nvPr/>
        </p:nvPicPr>
        <p:blipFill>
          <a:blip r:embed="rId2"/>
          <a:stretch>
            <a:fillRect/>
          </a:stretch>
        </p:blipFill>
        <p:spPr>
          <a:xfrm>
            <a:off x="4744822" y="2184502"/>
            <a:ext cx="294437" cy="294437"/>
          </a:xfrm>
          <a:prstGeom prst="rect">
            <a:avLst/>
          </a:prstGeom>
        </p:spPr>
      </p:pic>
      <p:sp>
        <p:nvSpPr>
          <p:cNvPr id="17" name="Text 12"/>
          <p:cNvSpPr txBox="1"/>
          <p:nvPr/>
        </p:nvSpPr>
        <p:spPr>
          <a:xfrm>
            <a:off x="4572000" y="2788920"/>
            <a:ext cx="2788920" cy="384048"/>
          </a:xfrm>
          <a:prstGeom prst="rect">
            <a:avLst/>
          </a:prstGeom>
          <a:noFill/>
          <a:ln/>
        </p:spPr>
        <p:txBody>
          <a:bodyPr wrap="square" lIns="0" tIns="0" rIns="0" bIns="0" rtlCol="0" anchor="t"/>
          <a:lstStyle/>
          <a:p>
            <a:pPr indent="0" marL="0">
              <a:buNone/>
            </a:pPr>
            <a:r>
              <a:rPr lang="en-US" sz="2000" b="1" dirty="0">
                <a:solidFill>
                  <a:schemeClr val="tx1"/>
                </a:solidFill>
              </a:rPr>
              <a:t>교육단체 앱</a:t>
            </a:r>
            <a:endParaRPr lang="en-US" sz="2000" dirty="0"/>
          </a:p>
        </p:txBody>
      </p:sp>
      <p:sp>
        <p:nvSpPr>
          <p:cNvPr id="18" name="Text 13"/>
          <p:cNvSpPr txBox="1"/>
          <p:nvPr/>
        </p:nvSpPr>
        <p:spPr>
          <a:xfrm>
            <a:off x="4572000" y="3172968"/>
            <a:ext cx="2788920" cy="274320"/>
          </a:xfrm>
          <a:prstGeom prst="rect">
            <a:avLst/>
          </a:prstGeom>
          <a:noFill/>
          <a:ln/>
        </p:spPr>
        <p:txBody>
          <a:bodyPr wrap="square" lIns="0" tIns="0" rIns="0" bIns="0" rtlCol="0" anchor="t"/>
          <a:lstStyle/>
          <a:p>
            <a:pPr indent="0" marL="0">
              <a:buNone/>
            </a:pPr>
            <a:r>
              <a:rPr lang="en-US" sz="1200" dirty="0">
                <a:solidFill>
                  <a:schemeClr val="accent4"/>
                </a:solidFill>
              </a:rPr>
              <a:t>예: MySSI ¹</a:t>
            </a:r>
            <a:endParaRPr lang="en-US" sz="1200" dirty="0"/>
          </a:p>
        </p:txBody>
      </p:sp>
      <p:sp>
        <p:nvSpPr>
          <p:cNvPr id="19" name="Text 14"/>
          <p:cNvSpPr txBox="1"/>
          <p:nvPr/>
        </p:nvSpPr>
        <p:spPr>
          <a:xfrm>
            <a:off x="4572000" y="3703320"/>
            <a:ext cx="914400" cy="256032"/>
          </a:xfrm>
          <a:prstGeom prst="rect">
            <a:avLst/>
          </a:prstGeom>
          <a:noFill/>
          <a:ln/>
        </p:spPr>
        <p:txBody>
          <a:bodyPr wrap="square" lIns="0" tIns="0" rIns="0" bIns="0" rtlCol="0" anchor="t"/>
          <a:lstStyle/>
          <a:p>
            <a:pPr indent="0" marL="0">
              <a:buNone/>
            </a:pPr>
            <a:r>
              <a:rPr lang="en-US" sz="1100" b="1" dirty="0">
                <a:solidFill>
                  <a:schemeClr val="accent2"/>
                </a:solidFill>
              </a:rPr>
              <a:t>초점</a:t>
            </a:r>
            <a:endParaRPr lang="en-US" sz="1100" dirty="0"/>
          </a:p>
        </p:txBody>
      </p:sp>
      <p:sp>
        <p:nvSpPr>
          <p:cNvPr id="20" name="Text 15"/>
          <p:cNvSpPr txBox="1"/>
          <p:nvPr/>
        </p:nvSpPr>
        <p:spPr>
          <a:xfrm>
            <a:off x="4572000" y="3959352"/>
            <a:ext cx="2880360" cy="411480"/>
          </a:xfrm>
          <a:prstGeom prst="rect">
            <a:avLst/>
          </a:prstGeom>
          <a:noFill/>
          <a:ln/>
        </p:spPr>
        <p:txBody>
          <a:bodyPr wrap="square" lIns="0" tIns="0" rIns="0" bIns="0" rtlCol="0" anchor="t"/>
          <a:lstStyle/>
          <a:p>
            <a:pPr indent="0" marL="0">
              <a:buNone/>
            </a:pPr>
            <a:r>
              <a:rPr lang="en-US" sz="1400" dirty="0">
                <a:solidFill>
                  <a:schemeClr val="tx1"/>
                </a:solidFill>
              </a:rPr>
              <a:t>디지털 교육 · 자격증 · 로그북</a:t>
            </a:r>
            <a:endParaRPr lang="en-US" sz="1400" dirty="0"/>
          </a:p>
        </p:txBody>
      </p:sp>
      <p:sp>
        <p:nvSpPr>
          <p:cNvPr id="21" name="Text 16"/>
          <p:cNvSpPr txBox="1"/>
          <p:nvPr/>
        </p:nvSpPr>
        <p:spPr>
          <a:xfrm>
            <a:off x="4572000" y="4434840"/>
            <a:ext cx="914400" cy="256032"/>
          </a:xfrm>
          <a:prstGeom prst="rect">
            <a:avLst/>
          </a:prstGeom>
          <a:noFill/>
          <a:ln/>
        </p:spPr>
        <p:txBody>
          <a:bodyPr wrap="square" lIns="0" tIns="0" rIns="0" bIns="0" rtlCol="0" anchor="t"/>
          <a:lstStyle/>
          <a:p>
            <a:pPr indent="0" marL="0">
              <a:buNone/>
            </a:pPr>
            <a:r>
              <a:rPr lang="en-US" sz="1100" b="1" dirty="0">
                <a:solidFill>
                  <a:schemeClr val="accent2"/>
                </a:solidFill>
              </a:rPr>
              <a:t>대상</a:t>
            </a:r>
            <a:endParaRPr lang="en-US" sz="1100" dirty="0"/>
          </a:p>
        </p:txBody>
      </p:sp>
      <p:sp>
        <p:nvSpPr>
          <p:cNvPr id="22" name="Text 17"/>
          <p:cNvSpPr txBox="1"/>
          <p:nvPr/>
        </p:nvSpPr>
        <p:spPr>
          <a:xfrm>
            <a:off x="4572000" y="4690872"/>
            <a:ext cx="2880360" cy="411480"/>
          </a:xfrm>
          <a:prstGeom prst="rect">
            <a:avLst/>
          </a:prstGeom>
          <a:noFill/>
          <a:ln/>
        </p:spPr>
        <p:txBody>
          <a:bodyPr wrap="square" lIns="0" tIns="0" rIns="0" bIns="0" rtlCol="0" anchor="t"/>
          <a:lstStyle/>
          <a:p>
            <a:pPr indent="0" marL="0">
              <a:buNone/>
            </a:pPr>
            <a:r>
              <a:rPr lang="en-US" sz="1400" dirty="0">
                <a:solidFill>
                  <a:schemeClr val="tx1"/>
                </a:solidFill>
              </a:rPr>
              <a:t>교육 콘텐츠와 자격 이력 관리</a:t>
            </a:r>
            <a:endParaRPr lang="en-US" sz="1400" dirty="0"/>
          </a:p>
        </p:txBody>
      </p:sp>
      <p:sp>
        <p:nvSpPr>
          <p:cNvPr id="23" name="compare AllBlue"/>
          <p:cNvSpPr/>
          <p:nvPr/>
        </p:nvSpPr>
        <p:spPr>
          <a:xfrm>
            <a:off x="7955280" y="1554480"/>
            <a:ext cx="3687775" cy="3840480"/>
          </a:xfrm>
          <a:prstGeom prst="roundRect">
            <a:avLst>
              <a:gd name="adj" fmla="val 3471"/>
            </a:avLst>
          </a:prstGeom>
          <a:solidFill>
            <a:schemeClr val="tx2"/>
          </a:solidFill>
          <a:ln/>
          <a:effectLst>
            <a:outerShdw sx="100000" sy="100000" kx="0" ky="0" algn="bl" rotWithShape="0" blurRad="127000" dist="38100" dir="5400000">
              <a:srgbClr val="0A2540">
                <a:alpha val="14000"/>
              </a:srgbClr>
            </a:outerShdw>
          </a:effectLst>
        </p:spPr>
      </p:sp>
      <p:sp>
        <p:nvSpPr>
          <p:cNvPr id="24" name="AllBlue circle"/>
          <p:cNvSpPr/>
          <p:nvPr/>
        </p:nvSpPr>
        <p:spPr>
          <a:xfrm>
            <a:off x="8321040" y="1783080"/>
            <a:ext cx="594360" cy="594360"/>
          </a:xfrm>
          <a:prstGeom prst="ellipse">
            <a:avLst/>
          </a:prstGeom>
          <a:solidFill>
            <a:schemeClr val="accent1"/>
          </a:solidFill>
          <a:ln/>
        </p:spPr>
      </p:sp>
      <p:pic>
        <p:nvPicPr>
          <p:cNvPr id="25" name="AllBlue icon" descr="AllBlue">    </p:cNvPr>
          <p:cNvPicPr>
            <a:picLocks noChangeAspect="1"/>
          </p:cNvPicPr>
          <p:nvPr/>
        </p:nvPicPr>
        <p:blipFill>
          <a:blip r:embed="rId3"/>
          <a:stretch>
            <a:fillRect/>
          </a:stretch>
        </p:blipFill>
        <p:spPr>
          <a:xfrm>
            <a:off x="8481517" y="1943557"/>
            <a:ext cx="273406" cy="273406"/>
          </a:xfrm>
          <a:prstGeom prst="rect">
            <a:avLst/>
          </a:prstGeom>
        </p:spPr>
      </p:pic>
      <p:sp>
        <p:nvSpPr>
          <p:cNvPr id="26" name="Text 20"/>
          <p:cNvSpPr txBox="1"/>
          <p:nvPr/>
        </p:nvSpPr>
        <p:spPr>
          <a:xfrm>
            <a:off x="8321040" y="2496312"/>
            <a:ext cx="2743200" cy="457200"/>
          </a:xfrm>
          <a:prstGeom prst="rect">
            <a:avLst/>
          </a:prstGeom>
          <a:noFill/>
          <a:ln/>
        </p:spPr>
        <p:txBody>
          <a:bodyPr wrap="square" lIns="0" tIns="0" rIns="0" bIns="0" rtlCol="0" anchor="t"/>
          <a:lstStyle/>
          <a:p>
            <a:pPr indent="0" marL="0">
              <a:buNone/>
            </a:pPr>
            <a:r>
              <a:rPr lang="en-US" sz="2400" b="1" dirty="0">
                <a:solidFill>
                  <a:schemeClr val="bg1"/>
                </a:solidFill>
              </a:rPr>
              <a:t>AllBlue</a:t>
            </a:r>
            <a:endParaRPr lang="en-US" sz="2400" dirty="0"/>
          </a:p>
        </p:txBody>
      </p:sp>
      <p:sp>
        <p:nvSpPr>
          <p:cNvPr id="27" name="Text 21"/>
          <p:cNvSpPr txBox="1"/>
          <p:nvPr/>
        </p:nvSpPr>
        <p:spPr>
          <a:xfrm>
            <a:off x="8321040" y="2953512"/>
            <a:ext cx="2956255" cy="292608"/>
          </a:xfrm>
          <a:prstGeom prst="rect">
            <a:avLst/>
          </a:prstGeom>
          <a:noFill/>
          <a:ln/>
        </p:spPr>
        <p:txBody>
          <a:bodyPr wrap="square" lIns="0" tIns="0" rIns="0" bIns="0" rtlCol="0" anchor="t"/>
          <a:lstStyle/>
          <a:p>
            <a:pPr indent="0" marL="0">
              <a:buNone/>
            </a:pPr>
            <a:r>
              <a:rPr lang="en-US" sz="1300" b="1" dirty="0">
                <a:solidFill>
                  <a:schemeClr val="accent1"/>
                </a:solidFill>
              </a:rPr>
              <a:t>강사가 매번 반복하는 수업 운영</a:t>
            </a:r>
            <a:endParaRPr lang="en-US" sz="1300" dirty="0"/>
          </a:p>
        </p:txBody>
      </p:sp>
      <p:sp>
        <p:nvSpPr>
          <p:cNvPr id="28" name="allblue point 0"/>
          <p:cNvSpPr/>
          <p:nvPr/>
        </p:nvSpPr>
        <p:spPr>
          <a:xfrm>
            <a:off x="8339328" y="3593592"/>
            <a:ext cx="128016" cy="128016"/>
          </a:xfrm>
          <a:prstGeom prst="ellipse">
            <a:avLst/>
          </a:prstGeom>
          <a:solidFill>
            <a:schemeClr val="accent3"/>
          </a:solidFill>
          <a:ln/>
        </p:spPr>
      </p:sp>
      <p:sp>
        <p:nvSpPr>
          <p:cNvPr id="29" name="Text 23"/>
          <p:cNvSpPr txBox="1"/>
          <p:nvPr/>
        </p:nvSpPr>
        <p:spPr>
          <a:xfrm>
            <a:off x="8641080" y="3447288"/>
            <a:ext cx="2681935" cy="566928"/>
          </a:xfrm>
          <a:prstGeom prst="rect">
            <a:avLst/>
          </a:prstGeom>
          <a:noFill/>
          <a:ln/>
        </p:spPr>
        <p:txBody>
          <a:bodyPr wrap="square" lIns="0" tIns="0" rIns="0" bIns="0" rtlCol="0" anchor="t"/>
          <a:lstStyle/>
          <a:p>
            <a:pPr indent="0" marL="0">
              <a:buNone/>
            </a:pPr>
            <a:r>
              <a:rPr lang="en-US" sz="1400" dirty="0">
                <a:solidFill>
                  <a:schemeClr val="bg1"/>
                </a:solidFill>
              </a:rPr>
              <a:t>일정·서류·진도·디브리핑을</a:t>
            </a:r>
            <a:endParaRPr lang="en-US" sz="1400" dirty="0"/>
          </a:p>
          <a:p>
            <a:pPr indent="0" marL="0">
              <a:buNone/>
            </a:pPr>
            <a:r>
              <a:rPr lang="en-US" sz="1400" dirty="0">
                <a:solidFill>
                  <a:schemeClr val="bg1"/>
                </a:solidFill>
              </a:rPr>
              <a:t>수업 단위로 연결</a:t>
            </a:r>
            <a:endParaRPr lang="en-US" sz="1400" dirty="0"/>
          </a:p>
        </p:txBody>
      </p:sp>
      <p:sp>
        <p:nvSpPr>
          <p:cNvPr id="30" name="allblue point 1"/>
          <p:cNvSpPr/>
          <p:nvPr/>
        </p:nvSpPr>
        <p:spPr>
          <a:xfrm>
            <a:off x="8339328" y="4251960"/>
            <a:ext cx="128016" cy="128016"/>
          </a:xfrm>
          <a:prstGeom prst="ellipse">
            <a:avLst/>
          </a:prstGeom>
          <a:solidFill>
            <a:schemeClr val="accent3"/>
          </a:solidFill>
          <a:ln/>
        </p:spPr>
      </p:sp>
      <p:sp>
        <p:nvSpPr>
          <p:cNvPr id="31" name="Text 25"/>
          <p:cNvSpPr txBox="1"/>
          <p:nvPr/>
        </p:nvSpPr>
        <p:spPr>
          <a:xfrm>
            <a:off x="8641080" y="4105656"/>
            <a:ext cx="2681935" cy="566928"/>
          </a:xfrm>
          <a:prstGeom prst="rect">
            <a:avLst/>
          </a:prstGeom>
          <a:noFill/>
          <a:ln/>
        </p:spPr>
        <p:txBody>
          <a:bodyPr wrap="square" lIns="0" tIns="0" rIns="0" bIns="0" rtlCol="0" anchor="t"/>
          <a:lstStyle/>
          <a:p>
            <a:pPr indent="0" marL="0">
              <a:buNone/>
            </a:pPr>
            <a:r>
              <a:rPr lang="en-US" sz="1400" dirty="0">
                <a:solidFill>
                  <a:schemeClr val="bg1"/>
                </a:solidFill>
              </a:rPr>
              <a:t>수업 직후 휴대전화로</a:t>
            </a:r>
            <a:endParaRPr lang="en-US" sz="1400" dirty="0"/>
          </a:p>
          <a:p>
            <a:pPr indent="0" marL="0">
              <a:buNone/>
            </a:pPr>
            <a:r>
              <a:rPr lang="en-US" sz="1400" dirty="0">
                <a:solidFill>
                  <a:schemeClr val="bg1"/>
                </a:solidFill>
              </a:rPr>
              <a:t>바로 기록</a:t>
            </a:r>
            <a:endParaRPr lang="en-US" sz="1400" dirty="0"/>
          </a:p>
        </p:txBody>
      </p:sp>
      <p:sp>
        <p:nvSpPr>
          <p:cNvPr id="32" name="allblue point 2"/>
          <p:cNvSpPr/>
          <p:nvPr/>
        </p:nvSpPr>
        <p:spPr>
          <a:xfrm>
            <a:off x="8339328" y="4910328"/>
            <a:ext cx="128016" cy="128016"/>
          </a:xfrm>
          <a:prstGeom prst="ellipse">
            <a:avLst/>
          </a:prstGeom>
          <a:solidFill>
            <a:schemeClr val="accent3"/>
          </a:solidFill>
          <a:ln/>
        </p:spPr>
      </p:sp>
      <p:sp>
        <p:nvSpPr>
          <p:cNvPr id="33" name="Text 27"/>
          <p:cNvSpPr txBox="1"/>
          <p:nvPr/>
        </p:nvSpPr>
        <p:spPr>
          <a:xfrm>
            <a:off x="8641080" y="4764024"/>
            <a:ext cx="2681935" cy="566928"/>
          </a:xfrm>
          <a:prstGeom prst="rect">
            <a:avLst/>
          </a:prstGeom>
          <a:noFill/>
          <a:ln/>
        </p:spPr>
        <p:txBody>
          <a:bodyPr wrap="square" lIns="0" tIns="0" rIns="0" bIns="0" rtlCol="0" anchor="t"/>
          <a:lstStyle/>
          <a:p>
            <a:pPr indent="0" marL="0">
              <a:buNone/>
            </a:pPr>
            <a:r>
              <a:rPr lang="en-US" sz="1400" dirty="0">
                <a:solidFill>
                  <a:schemeClr val="bg1"/>
                </a:solidFill>
              </a:rPr>
              <a:t>강사 1인도 부담 없는</a:t>
            </a:r>
            <a:endParaRPr lang="en-US" sz="1400" dirty="0"/>
          </a:p>
          <a:p>
            <a:pPr indent="0" marL="0">
              <a:buNone/>
            </a:pPr>
            <a:r>
              <a:rPr lang="en-US" sz="1400" dirty="0">
                <a:solidFill>
                  <a:schemeClr val="bg1"/>
                </a:solidFill>
              </a:rPr>
              <a:t>월 3,900원 구독</a:t>
            </a:r>
            <a:endParaRPr lang="en-US" sz="1400" dirty="0"/>
          </a:p>
        </p:txBody>
      </p:sp>
      <p:sp>
        <p:nvSpPr>
          <p:cNvPr id="34" name="Text 28"/>
          <p:cNvSpPr txBox="1"/>
          <p:nvPr/>
        </p:nvSpPr>
        <p:spPr>
          <a:xfrm>
            <a:off x="548640" y="5596128"/>
            <a:ext cx="11094415" cy="292608"/>
          </a:xfrm>
          <a:prstGeom prst="rect">
            <a:avLst/>
          </a:prstGeom>
          <a:noFill/>
          <a:ln/>
        </p:spPr>
        <p:txBody>
          <a:bodyPr wrap="square" lIns="0" tIns="0" rIns="0" bIns="0" rtlCol="0" anchor="t"/>
          <a:lstStyle/>
          <a:p>
            <a:pPr indent="0" marL="0">
              <a:buNone/>
            </a:pPr>
            <a:r>
              <a:rPr lang="en-US" sz="1300" dirty="0">
                <a:solidFill>
                  <a:schemeClr val="tx1"/>
                </a:solidFill>
              </a:rPr>
              <a:t>출시 후 같은 수업을 기존 도구와 AllBlue로 준비해, 정보를 찾는 시간과 기록 작성의 편의성을 비교할 계획입니다.</a:t>
            </a:r>
            <a:endParaRPr lang="en-US" sz="1300" dirty="0"/>
          </a:p>
        </p:txBody>
      </p:sp>
      <p:sp>
        <p:nvSpPr>
          <p:cNvPr id="35" name="Text 29"/>
          <p:cNvSpPr txBox="1"/>
          <p:nvPr/>
        </p:nvSpPr>
        <p:spPr>
          <a:xfrm>
            <a:off x="548640" y="5943600"/>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¹ SSI, MySSI App. divessi.com (2026.10.7. 확인)</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2"/>
                </a:solidFill>
              </a:rPr>
              <a:t>08  성장 계획</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tx1"/>
                </a:solidFill>
              </a:rPr>
              <a:t>출시 후 현장 검증, 그리고 확장</a:t>
            </a:r>
            <a:endParaRPr lang="en-US" sz="3200" dirty="0"/>
          </a:p>
        </p:txBody>
      </p:sp>
      <p:sp>
        <p:nvSpPr>
          <p:cNvPr id="5" name="roadmap line"/>
          <p:cNvSpPr/>
          <p:nvPr/>
        </p:nvSpPr>
        <p:spPr>
          <a:xfrm>
            <a:off x="822960" y="1938528"/>
            <a:ext cx="8320811" cy="0"/>
          </a:xfrm>
          <a:prstGeom prst="line">
            <a:avLst/>
          </a:prstGeom>
          <a:noFill/>
          <a:ln w="25400">
            <a:solidFill>
              <a:schemeClr val="accent5"/>
            </a:solidFill>
            <a:prstDash val="solid"/>
          </a:ln>
        </p:spPr>
      </p:sp>
      <p:sp>
        <p:nvSpPr>
          <p:cNvPr id="6" name="roadmap node 0"/>
          <p:cNvSpPr/>
          <p:nvPr/>
        </p:nvSpPr>
        <p:spPr>
          <a:xfrm>
            <a:off x="658368" y="1773936"/>
            <a:ext cx="329184" cy="329184"/>
          </a:xfrm>
          <a:prstGeom prst="ellipse">
            <a:avLst/>
          </a:prstGeom>
          <a:solidFill>
            <a:schemeClr val="accent3"/>
          </a:solidFill>
          <a:ln w="38100">
            <a:solidFill>
              <a:schemeClr val="bg1"/>
            </a:solidFill>
            <a:prstDash val="solid"/>
          </a:ln>
        </p:spPr>
      </p:sp>
      <p:sp>
        <p:nvSpPr>
          <p:cNvPr id="7" name="Text 4"/>
          <p:cNvSpPr txBox="1"/>
          <p:nvPr/>
        </p:nvSpPr>
        <p:spPr>
          <a:xfrm>
            <a:off x="548640" y="2267712"/>
            <a:ext cx="2499284" cy="274320"/>
          </a:xfrm>
          <a:prstGeom prst="rect">
            <a:avLst/>
          </a:prstGeom>
          <a:noFill/>
          <a:ln/>
        </p:spPr>
        <p:txBody>
          <a:bodyPr wrap="square" lIns="0" tIns="0" rIns="0" bIns="0" rtlCol="0" anchor="t"/>
          <a:lstStyle/>
          <a:p>
            <a:pPr indent="0" marL="0">
              <a:buNone/>
            </a:pPr>
            <a:r>
              <a:rPr lang="en-US" sz="1200" b="1" dirty="0">
                <a:solidFill>
                  <a:schemeClr val="accent3"/>
                </a:solidFill>
              </a:rPr>
              <a:t>2026.10</a:t>
            </a:r>
            <a:endParaRPr lang="en-US" sz="1200" dirty="0"/>
          </a:p>
        </p:txBody>
      </p:sp>
      <p:sp>
        <p:nvSpPr>
          <p:cNvPr id="8" name="Text 5"/>
          <p:cNvSpPr txBox="1"/>
          <p:nvPr/>
        </p:nvSpPr>
        <p:spPr>
          <a:xfrm>
            <a:off x="548640" y="2560320"/>
            <a:ext cx="2499284" cy="384048"/>
          </a:xfrm>
          <a:prstGeom prst="rect">
            <a:avLst/>
          </a:prstGeom>
          <a:noFill/>
          <a:ln/>
        </p:spPr>
        <p:txBody>
          <a:bodyPr wrap="square" lIns="0" tIns="0" rIns="0" bIns="0" rtlCol="0" anchor="t"/>
          <a:lstStyle/>
          <a:p>
            <a:pPr indent="0" marL="0">
              <a:buNone/>
            </a:pPr>
            <a:r>
              <a:rPr lang="en-US" sz="1900" b="1" dirty="0">
                <a:solidFill>
                  <a:schemeClr val="tx1"/>
                </a:solidFill>
              </a:rPr>
              <a:t>정식 출시</a:t>
            </a:r>
            <a:endParaRPr lang="en-US" sz="1900" dirty="0"/>
          </a:p>
        </p:txBody>
      </p:sp>
      <p:sp>
        <p:nvSpPr>
          <p:cNvPr id="9" name="Text 6"/>
          <p:cNvSpPr txBox="1"/>
          <p:nvPr/>
        </p:nvSpPr>
        <p:spPr>
          <a:xfrm>
            <a:off x="548640" y="2971800"/>
            <a:ext cx="2453564" cy="548640"/>
          </a:xfrm>
          <a:prstGeom prst="rect">
            <a:avLst/>
          </a:prstGeom>
          <a:noFill/>
          <a:ln/>
        </p:spPr>
        <p:txBody>
          <a:bodyPr wrap="square" lIns="0" tIns="0" rIns="0" bIns="0" rtlCol="0" anchor="t"/>
          <a:lstStyle/>
          <a:p>
            <a:pPr indent="0" marL="0">
              <a:buNone/>
            </a:pPr>
            <a:r>
              <a:rPr lang="en-US" sz="1300" dirty="0">
                <a:solidFill>
                  <a:schemeClr val="accent4"/>
                </a:solidFill>
              </a:rPr>
              <a:t>앱 마켓 공개, 운영 환경 점검</a:t>
            </a:r>
            <a:endParaRPr lang="en-US" sz="1300" dirty="0"/>
          </a:p>
        </p:txBody>
      </p:sp>
      <p:sp>
        <p:nvSpPr>
          <p:cNvPr id="10" name="roadmap node 1"/>
          <p:cNvSpPr/>
          <p:nvPr/>
        </p:nvSpPr>
        <p:spPr>
          <a:xfrm>
            <a:off x="3431972" y="1773936"/>
            <a:ext cx="329184" cy="329184"/>
          </a:xfrm>
          <a:prstGeom prst="ellipse">
            <a:avLst/>
          </a:prstGeom>
          <a:solidFill>
            <a:schemeClr val="accent2"/>
          </a:solidFill>
          <a:ln w="38100">
            <a:solidFill>
              <a:schemeClr val="bg1"/>
            </a:solidFill>
            <a:prstDash val="solid"/>
          </a:ln>
        </p:spPr>
      </p:sp>
      <p:sp>
        <p:nvSpPr>
          <p:cNvPr id="11" name="Text 8"/>
          <p:cNvSpPr txBox="1"/>
          <p:nvPr/>
        </p:nvSpPr>
        <p:spPr>
          <a:xfrm>
            <a:off x="3322244" y="2267712"/>
            <a:ext cx="2499284" cy="274320"/>
          </a:xfrm>
          <a:prstGeom prst="rect">
            <a:avLst/>
          </a:prstGeom>
          <a:noFill/>
          <a:ln/>
        </p:spPr>
        <p:txBody>
          <a:bodyPr wrap="square" lIns="0" tIns="0" rIns="0" bIns="0" rtlCol="0" anchor="t"/>
          <a:lstStyle/>
          <a:p>
            <a:pPr indent="0" marL="0">
              <a:buNone/>
            </a:pPr>
            <a:r>
              <a:rPr lang="en-US" sz="1200" b="1" dirty="0">
                <a:solidFill>
                  <a:schemeClr val="accent2"/>
                </a:solidFill>
              </a:rPr>
              <a:t>출시 초기</a:t>
            </a:r>
            <a:endParaRPr lang="en-US" sz="1200" dirty="0"/>
          </a:p>
        </p:txBody>
      </p:sp>
      <p:sp>
        <p:nvSpPr>
          <p:cNvPr id="12" name="Text 9"/>
          <p:cNvSpPr txBox="1"/>
          <p:nvPr/>
        </p:nvSpPr>
        <p:spPr>
          <a:xfrm>
            <a:off x="3322244" y="2560320"/>
            <a:ext cx="2499284" cy="384048"/>
          </a:xfrm>
          <a:prstGeom prst="rect">
            <a:avLst/>
          </a:prstGeom>
          <a:noFill/>
          <a:ln/>
        </p:spPr>
        <p:txBody>
          <a:bodyPr wrap="square" lIns="0" tIns="0" rIns="0" bIns="0" rtlCol="0" anchor="t"/>
          <a:lstStyle/>
          <a:p>
            <a:pPr indent="0" marL="0">
              <a:buNone/>
            </a:pPr>
            <a:r>
              <a:rPr lang="en-US" sz="1900" b="1" dirty="0">
                <a:solidFill>
                  <a:schemeClr val="tx1"/>
                </a:solidFill>
              </a:rPr>
              <a:t>협업 채널 홍보</a:t>
            </a:r>
            <a:endParaRPr lang="en-US" sz="1900" dirty="0"/>
          </a:p>
        </p:txBody>
      </p:sp>
      <p:sp>
        <p:nvSpPr>
          <p:cNvPr id="13" name="Text 10"/>
          <p:cNvSpPr txBox="1"/>
          <p:nvPr/>
        </p:nvSpPr>
        <p:spPr>
          <a:xfrm>
            <a:off x="3322244" y="2971800"/>
            <a:ext cx="2453564" cy="548640"/>
          </a:xfrm>
          <a:prstGeom prst="rect">
            <a:avLst/>
          </a:prstGeom>
          <a:noFill/>
          <a:ln/>
        </p:spPr>
        <p:txBody>
          <a:bodyPr wrap="square" lIns="0" tIns="0" rIns="0" bIns="0" rtlCol="0" anchor="t"/>
          <a:lstStyle/>
          <a:p>
            <a:pPr indent="0" marL="0">
              <a:buNone/>
            </a:pPr>
            <a:r>
              <a:rPr lang="en-US" sz="1300" dirty="0">
                <a:solidFill>
                  <a:schemeClr val="accent4"/>
                </a:solidFill>
              </a:rPr>
              <a:t>가입부터 첫 수업까지</a:t>
            </a:r>
            <a:endParaRPr lang="en-US" sz="1300" dirty="0"/>
          </a:p>
          <a:p>
            <a:pPr indent="0" marL="0">
              <a:buNone/>
            </a:pPr>
            <a:r>
              <a:rPr lang="en-US" sz="1300" dirty="0">
                <a:solidFill>
                  <a:schemeClr val="accent4"/>
                </a:solidFill>
              </a:rPr>
              <a:t>흐름 확인</a:t>
            </a:r>
            <a:endParaRPr lang="en-US" sz="1300" dirty="0"/>
          </a:p>
        </p:txBody>
      </p:sp>
      <p:sp>
        <p:nvSpPr>
          <p:cNvPr id="14" name="roadmap node 2"/>
          <p:cNvSpPr/>
          <p:nvPr/>
        </p:nvSpPr>
        <p:spPr>
          <a:xfrm>
            <a:off x="6205576" y="1773936"/>
            <a:ext cx="329184" cy="329184"/>
          </a:xfrm>
          <a:prstGeom prst="ellipse">
            <a:avLst/>
          </a:prstGeom>
          <a:solidFill>
            <a:schemeClr val="accent2"/>
          </a:solidFill>
          <a:ln w="38100">
            <a:solidFill>
              <a:schemeClr val="bg1"/>
            </a:solidFill>
            <a:prstDash val="solid"/>
          </a:ln>
        </p:spPr>
      </p:sp>
      <p:sp>
        <p:nvSpPr>
          <p:cNvPr id="15" name="Text 12"/>
          <p:cNvSpPr txBox="1"/>
          <p:nvPr/>
        </p:nvSpPr>
        <p:spPr>
          <a:xfrm>
            <a:off x="6095848" y="2267712"/>
            <a:ext cx="2499284" cy="274320"/>
          </a:xfrm>
          <a:prstGeom prst="rect">
            <a:avLst/>
          </a:prstGeom>
          <a:noFill/>
          <a:ln/>
        </p:spPr>
        <p:txBody>
          <a:bodyPr wrap="square" lIns="0" tIns="0" rIns="0" bIns="0" rtlCol="0" anchor="t"/>
          <a:lstStyle/>
          <a:p>
            <a:pPr indent="0" marL="0">
              <a:buNone/>
            </a:pPr>
            <a:r>
              <a:rPr lang="en-US" sz="1200" b="1" dirty="0">
                <a:solidFill>
                  <a:schemeClr val="accent2"/>
                </a:solidFill>
              </a:rPr>
              <a:t>무료 3개월</a:t>
            </a:r>
            <a:endParaRPr lang="en-US" sz="1200" dirty="0"/>
          </a:p>
        </p:txBody>
      </p:sp>
      <p:sp>
        <p:nvSpPr>
          <p:cNvPr id="16" name="Text 13"/>
          <p:cNvSpPr txBox="1"/>
          <p:nvPr/>
        </p:nvSpPr>
        <p:spPr>
          <a:xfrm>
            <a:off x="6095848" y="2560320"/>
            <a:ext cx="2499284" cy="384048"/>
          </a:xfrm>
          <a:prstGeom prst="rect">
            <a:avLst/>
          </a:prstGeom>
          <a:noFill/>
          <a:ln/>
        </p:spPr>
        <p:txBody>
          <a:bodyPr wrap="square" lIns="0" tIns="0" rIns="0" bIns="0" rtlCol="0" anchor="t"/>
          <a:lstStyle/>
          <a:p>
            <a:pPr indent="0" marL="0">
              <a:buNone/>
            </a:pPr>
            <a:r>
              <a:rPr lang="en-US" sz="1900" b="1" dirty="0">
                <a:solidFill>
                  <a:schemeClr val="tx1"/>
                </a:solidFill>
              </a:rPr>
              <a:t>현장 적용</a:t>
            </a:r>
            <a:endParaRPr lang="en-US" sz="1900" dirty="0"/>
          </a:p>
        </p:txBody>
      </p:sp>
      <p:sp>
        <p:nvSpPr>
          <p:cNvPr id="17" name="Text 14"/>
          <p:cNvSpPr txBox="1"/>
          <p:nvPr/>
        </p:nvSpPr>
        <p:spPr>
          <a:xfrm>
            <a:off x="6095848" y="2971800"/>
            <a:ext cx="2453564" cy="548640"/>
          </a:xfrm>
          <a:prstGeom prst="rect">
            <a:avLst/>
          </a:prstGeom>
          <a:noFill/>
          <a:ln/>
        </p:spPr>
        <p:txBody>
          <a:bodyPr wrap="square" lIns="0" tIns="0" rIns="0" bIns="0" rtlCol="0" anchor="t"/>
          <a:lstStyle/>
          <a:p>
            <a:pPr indent="0" marL="0">
              <a:buNone/>
            </a:pPr>
            <a:r>
              <a:rPr lang="en-US" sz="1300" dirty="0">
                <a:solidFill>
                  <a:schemeClr val="accent4"/>
                </a:solidFill>
              </a:rPr>
              <a:t>실제 교육과정에 쓰며 의견 수집</a:t>
            </a:r>
            <a:endParaRPr lang="en-US" sz="1300" dirty="0"/>
          </a:p>
        </p:txBody>
      </p:sp>
      <p:sp>
        <p:nvSpPr>
          <p:cNvPr id="18" name="roadmap node 3"/>
          <p:cNvSpPr/>
          <p:nvPr/>
        </p:nvSpPr>
        <p:spPr>
          <a:xfrm>
            <a:off x="8979179" y="1773936"/>
            <a:ext cx="329184" cy="329184"/>
          </a:xfrm>
          <a:prstGeom prst="ellipse">
            <a:avLst/>
          </a:prstGeom>
          <a:solidFill>
            <a:schemeClr val="accent2"/>
          </a:solidFill>
          <a:ln w="38100">
            <a:solidFill>
              <a:schemeClr val="bg1"/>
            </a:solidFill>
            <a:prstDash val="solid"/>
          </a:ln>
        </p:spPr>
      </p:sp>
      <p:sp>
        <p:nvSpPr>
          <p:cNvPr id="19" name="Text 16"/>
          <p:cNvSpPr txBox="1"/>
          <p:nvPr/>
        </p:nvSpPr>
        <p:spPr>
          <a:xfrm>
            <a:off x="8869451" y="2267712"/>
            <a:ext cx="2499284" cy="274320"/>
          </a:xfrm>
          <a:prstGeom prst="rect">
            <a:avLst/>
          </a:prstGeom>
          <a:noFill/>
          <a:ln/>
        </p:spPr>
        <p:txBody>
          <a:bodyPr wrap="square" lIns="0" tIns="0" rIns="0" bIns="0" rtlCol="0" anchor="t"/>
          <a:lstStyle/>
          <a:p>
            <a:pPr indent="0" marL="0">
              <a:buNone/>
            </a:pPr>
            <a:r>
              <a:rPr lang="en-US" sz="1200" b="1" dirty="0">
                <a:solidFill>
                  <a:schemeClr val="accent2"/>
                </a:solidFill>
              </a:rPr>
              <a:t>체험 종료 후</a:t>
            </a:r>
            <a:endParaRPr lang="en-US" sz="1200" dirty="0"/>
          </a:p>
        </p:txBody>
      </p:sp>
      <p:sp>
        <p:nvSpPr>
          <p:cNvPr id="20" name="Text 17"/>
          <p:cNvSpPr txBox="1"/>
          <p:nvPr/>
        </p:nvSpPr>
        <p:spPr>
          <a:xfrm>
            <a:off x="8869451" y="2560320"/>
            <a:ext cx="2499284" cy="384048"/>
          </a:xfrm>
          <a:prstGeom prst="rect">
            <a:avLst/>
          </a:prstGeom>
          <a:noFill/>
          <a:ln/>
        </p:spPr>
        <p:txBody>
          <a:bodyPr wrap="square" lIns="0" tIns="0" rIns="0" bIns="0" rtlCol="0" anchor="t"/>
          <a:lstStyle/>
          <a:p>
            <a:pPr indent="0" marL="0">
              <a:buNone/>
            </a:pPr>
            <a:r>
              <a:rPr lang="en-US" sz="1900" b="1" dirty="0">
                <a:solidFill>
                  <a:schemeClr val="tx1"/>
                </a:solidFill>
              </a:rPr>
              <a:t>유료 전환 확인</a:t>
            </a:r>
            <a:endParaRPr lang="en-US" sz="1900" dirty="0"/>
          </a:p>
        </p:txBody>
      </p:sp>
      <p:sp>
        <p:nvSpPr>
          <p:cNvPr id="21" name="Text 18"/>
          <p:cNvSpPr txBox="1"/>
          <p:nvPr/>
        </p:nvSpPr>
        <p:spPr>
          <a:xfrm>
            <a:off x="8869451" y="2971800"/>
            <a:ext cx="2453564" cy="548640"/>
          </a:xfrm>
          <a:prstGeom prst="rect">
            <a:avLst/>
          </a:prstGeom>
          <a:noFill/>
          <a:ln/>
        </p:spPr>
        <p:txBody>
          <a:bodyPr wrap="square" lIns="0" tIns="0" rIns="0" bIns="0" rtlCol="0" anchor="t"/>
          <a:lstStyle/>
          <a:p>
            <a:pPr indent="0" marL="0">
              <a:buNone/>
            </a:pPr>
            <a:r>
              <a:rPr lang="en-US" sz="1300" dirty="0">
                <a:solidFill>
                  <a:schemeClr val="accent4"/>
                </a:solidFill>
              </a:rPr>
              <a:t>결제·해지 사유, 지원 비용 확인</a:t>
            </a:r>
            <a:endParaRPr lang="en-US" sz="1300" dirty="0"/>
          </a:p>
        </p:txBody>
      </p:sp>
      <p:sp>
        <p:nvSpPr>
          <p:cNvPr id="22" name="roadmap box 1"/>
          <p:cNvSpPr/>
          <p:nvPr/>
        </p:nvSpPr>
        <p:spPr>
          <a:xfrm>
            <a:off x="548640" y="3794760"/>
            <a:ext cx="5410048" cy="2331720"/>
          </a:xfrm>
          <a:prstGeom prst="roundRect">
            <a:avLst>
              <a:gd name="adj" fmla="val 5490"/>
            </a:avLst>
          </a:prstGeom>
          <a:solidFill>
            <a:schemeClr val="bg1"/>
          </a:solidFill>
          <a:ln/>
          <a:effectLst>
            <a:outerShdw sx="100000" sy="100000" kx="0" ky="0" algn="bl" rotWithShape="0" blurRad="127000" dist="38100" dir="5400000">
              <a:srgbClr val="0A2540">
                <a:alpha val="14000"/>
              </a:srgbClr>
            </a:outerShdw>
          </a:effectLst>
        </p:spPr>
      </p:sp>
      <p:sp>
        <p:nvSpPr>
          <p:cNvPr id="23" name="출시 후 확인할 지표 circle"/>
          <p:cNvSpPr/>
          <p:nvPr/>
        </p:nvSpPr>
        <p:spPr>
          <a:xfrm>
            <a:off x="822960" y="4050792"/>
            <a:ext cx="548640" cy="548640"/>
          </a:xfrm>
          <a:prstGeom prst="ellipse">
            <a:avLst/>
          </a:prstGeom>
          <a:solidFill>
            <a:schemeClr val="accent6"/>
          </a:solidFill>
          <a:ln/>
        </p:spPr>
      </p:sp>
      <p:pic>
        <p:nvPicPr>
          <p:cNvPr id="24" name="출시 후 확인할 지표 icon" descr="출시 후 확인할 지표">    </p:cNvPr>
          <p:cNvPicPr>
            <a:picLocks noChangeAspect="1"/>
          </p:cNvPicPr>
          <p:nvPr/>
        </p:nvPicPr>
        <p:blipFill>
          <a:blip r:embed="rId1"/>
          <a:stretch>
            <a:fillRect/>
          </a:stretch>
        </p:blipFill>
        <p:spPr>
          <a:xfrm>
            <a:off x="971093" y="4198925"/>
            <a:ext cx="252374" cy="252374"/>
          </a:xfrm>
          <a:prstGeom prst="rect">
            <a:avLst/>
          </a:prstGeom>
        </p:spPr>
      </p:pic>
      <p:sp>
        <p:nvSpPr>
          <p:cNvPr id="25" name="Text 21"/>
          <p:cNvSpPr txBox="1"/>
          <p:nvPr/>
        </p:nvSpPr>
        <p:spPr>
          <a:xfrm>
            <a:off x="1508760" y="4105656"/>
            <a:ext cx="4221328" cy="411480"/>
          </a:xfrm>
          <a:prstGeom prst="rect">
            <a:avLst/>
          </a:prstGeom>
          <a:noFill/>
          <a:ln/>
        </p:spPr>
        <p:txBody>
          <a:bodyPr wrap="square" lIns="0" tIns="0" rIns="0" bIns="0" rtlCol="0" anchor="ctr"/>
          <a:lstStyle/>
          <a:p>
            <a:pPr indent="0" marL="0">
              <a:buNone/>
            </a:pPr>
            <a:r>
              <a:rPr lang="en-US" sz="1700" b="1" dirty="0">
                <a:solidFill>
                  <a:schemeClr val="tx1"/>
                </a:solidFill>
              </a:rPr>
              <a:t>출시 후 확인할 지표</a:t>
            </a:r>
            <a:endParaRPr lang="en-US" sz="1700" dirty="0"/>
          </a:p>
        </p:txBody>
      </p:sp>
      <p:sp>
        <p:nvSpPr>
          <p:cNvPr id="26" name="Text 22"/>
          <p:cNvSpPr txBox="1"/>
          <p:nvPr/>
        </p:nvSpPr>
        <p:spPr>
          <a:xfrm>
            <a:off x="822960" y="4709160"/>
            <a:ext cx="4907128" cy="9601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활성 강사 수 — 기간 내 수업을 운영한 강사</a:t>
            </a:r>
            <a:endParaRPr lang="en-US" sz="1400" dirty="0"/>
          </a:p>
          <a:p>
            <a:pPr marL="177800" indent="-177800">
              <a:spcAft>
                <a:spcPts val="300"/>
              </a:spcAft>
              <a:buSzPct val="100000"/>
              <a:buChar char="•"/>
            </a:pPr>
            <a:r>
              <a:rPr lang="en-US" sz="1400" dirty="0">
                <a:solidFill>
                  <a:schemeClr val="tx1"/>
                </a:solidFill>
              </a:rPr>
              <a:t>디브리핑 작성 비율 — 완료 수업 대비</a:t>
            </a:r>
            <a:endParaRPr lang="en-US" sz="1400" dirty="0"/>
          </a:p>
          <a:p>
            <a:pPr marL="177800" indent="-177800">
              <a:spcAft>
                <a:spcPts val="300"/>
              </a:spcAft>
              <a:buSzPct val="100000"/>
              <a:buChar char="•"/>
            </a:pPr>
            <a:r>
              <a:rPr lang="en-US" sz="1400" dirty="0">
                <a:solidFill>
                  <a:schemeClr val="tx1"/>
                </a:solidFill>
              </a:rPr>
              <a:t>재사용 비율 — 첫 수업 이후 다시 사용</a:t>
            </a:r>
            <a:endParaRPr lang="en-US" sz="1400" dirty="0"/>
          </a:p>
        </p:txBody>
      </p:sp>
      <p:sp>
        <p:nvSpPr>
          <p:cNvPr id="27" name="Text 23"/>
          <p:cNvSpPr txBox="1"/>
          <p:nvPr/>
        </p:nvSpPr>
        <p:spPr>
          <a:xfrm>
            <a:off x="822960" y="5715000"/>
            <a:ext cx="4907128" cy="274320"/>
          </a:xfrm>
          <a:prstGeom prst="rect">
            <a:avLst/>
          </a:prstGeom>
          <a:noFill/>
          <a:ln/>
        </p:spPr>
        <p:txBody>
          <a:bodyPr wrap="square" lIns="0" tIns="0" rIns="0" bIns="0" rtlCol="0" anchor="t"/>
          <a:lstStyle/>
          <a:p>
            <a:pPr indent="0" marL="0">
              <a:buNone/>
            </a:pPr>
            <a:r>
              <a:rPr lang="en-US" sz="1000" dirty="0">
                <a:solidFill>
                  <a:schemeClr val="accent4"/>
                </a:solidFill>
              </a:rPr>
              <a:t>측정 결과는 아직 없으며, 초기 사용부터 기록합니다.</a:t>
            </a:r>
            <a:endParaRPr lang="en-US" sz="1000" dirty="0"/>
          </a:p>
        </p:txBody>
      </p:sp>
      <p:sp>
        <p:nvSpPr>
          <p:cNvPr id="28" name="roadmap box 2"/>
          <p:cNvSpPr/>
          <p:nvPr/>
        </p:nvSpPr>
        <p:spPr>
          <a:xfrm>
            <a:off x="6233008" y="3794760"/>
            <a:ext cx="5410048" cy="2331720"/>
          </a:xfrm>
          <a:prstGeom prst="roundRect">
            <a:avLst>
              <a:gd name="adj" fmla="val 5490"/>
            </a:avLst>
          </a:prstGeom>
          <a:solidFill>
            <a:schemeClr val="bg1"/>
          </a:solidFill>
          <a:ln/>
          <a:effectLst>
            <a:outerShdw sx="100000" sy="100000" kx="0" ky="0" algn="bl" rotWithShape="0" blurRad="127000" dist="38100" dir="5400000">
              <a:srgbClr val="0A2540">
                <a:alpha val="14000"/>
              </a:srgbClr>
            </a:outerShdw>
          </a:effectLst>
        </p:spPr>
      </p:sp>
      <p:sp>
        <p:nvSpPr>
          <p:cNvPr id="29" name="확장 방향 (검증 후) circle"/>
          <p:cNvSpPr/>
          <p:nvPr/>
        </p:nvSpPr>
        <p:spPr>
          <a:xfrm>
            <a:off x="6507328" y="4050792"/>
            <a:ext cx="548640" cy="548640"/>
          </a:xfrm>
          <a:prstGeom prst="ellipse">
            <a:avLst/>
          </a:prstGeom>
          <a:solidFill>
            <a:schemeClr val="accent2"/>
          </a:solidFill>
          <a:ln/>
        </p:spPr>
      </p:sp>
      <p:pic>
        <p:nvPicPr>
          <p:cNvPr id="30" name="확장 방향 (검증 후) icon" descr="확장 방향 (검증 후)">    </p:cNvPr>
          <p:cNvPicPr>
            <a:picLocks noChangeAspect="1"/>
          </p:cNvPicPr>
          <p:nvPr/>
        </p:nvPicPr>
        <p:blipFill>
          <a:blip r:embed="rId2"/>
          <a:stretch>
            <a:fillRect/>
          </a:stretch>
        </p:blipFill>
        <p:spPr>
          <a:xfrm>
            <a:off x="6655460" y="4198925"/>
            <a:ext cx="252374" cy="252374"/>
          </a:xfrm>
          <a:prstGeom prst="rect">
            <a:avLst/>
          </a:prstGeom>
        </p:spPr>
      </p:pic>
      <p:sp>
        <p:nvSpPr>
          <p:cNvPr id="31" name="Text 26"/>
          <p:cNvSpPr txBox="1"/>
          <p:nvPr/>
        </p:nvSpPr>
        <p:spPr>
          <a:xfrm>
            <a:off x="7193128" y="4105656"/>
            <a:ext cx="4221328" cy="411480"/>
          </a:xfrm>
          <a:prstGeom prst="rect">
            <a:avLst/>
          </a:prstGeom>
          <a:noFill/>
          <a:ln/>
        </p:spPr>
        <p:txBody>
          <a:bodyPr wrap="square" lIns="0" tIns="0" rIns="0" bIns="0" rtlCol="0" anchor="ctr"/>
          <a:lstStyle/>
          <a:p>
            <a:pPr indent="0" marL="0">
              <a:buNone/>
            </a:pPr>
            <a:r>
              <a:rPr lang="en-US" sz="1700" b="1" dirty="0">
                <a:solidFill>
                  <a:schemeClr val="tx1"/>
                </a:solidFill>
              </a:rPr>
              <a:t>확장 방향 (검증 후)</a:t>
            </a:r>
            <a:endParaRPr lang="en-US" sz="1700" dirty="0"/>
          </a:p>
        </p:txBody>
      </p:sp>
      <p:sp>
        <p:nvSpPr>
          <p:cNvPr id="32" name="Text 27"/>
          <p:cNvSpPr txBox="1"/>
          <p:nvPr/>
        </p:nvSpPr>
        <p:spPr>
          <a:xfrm>
            <a:off x="6507328" y="4709160"/>
            <a:ext cx="4907128" cy="96012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tx1"/>
                </a:solidFill>
              </a:rPr>
              <a:t>여러 강사가 함께 운영하는 소규모 교육업체</a:t>
            </a:r>
            <a:endParaRPr lang="en-US" sz="1400" dirty="0"/>
          </a:p>
          <a:p>
            <a:pPr marL="177800" indent="-177800">
              <a:spcAft>
                <a:spcPts val="300"/>
              </a:spcAft>
              <a:buSzPct val="100000"/>
              <a:buChar char="•"/>
            </a:pPr>
            <a:r>
              <a:rPr lang="en-US" sz="1400" dirty="0">
                <a:solidFill>
                  <a:schemeClr val="tx1"/>
                </a:solidFill>
              </a:rPr>
              <a:t>다른 종목의 교육·훈련 진도 관리</a:t>
            </a:r>
            <a:endParaRPr lang="en-US" sz="1400" dirty="0"/>
          </a:p>
          <a:p>
            <a:pPr marL="177800" indent="-177800">
              <a:spcAft>
                <a:spcPts val="300"/>
              </a:spcAft>
              <a:buSzPct val="100000"/>
              <a:buChar char="•"/>
            </a:pPr>
            <a:r>
              <a:rPr lang="en-US" sz="1400" dirty="0">
                <a:solidFill>
                  <a:schemeClr val="tx1"/>
                </a:solidFill>
              </a:rPr>
              <a:t>대회 참가자의 훈련·사전교육 기록 관리</a:t>
            </a:r>
            <a:endParaRPr lang="en-US" sz="1400" dirty="0"/>
          </a:p>
        </p:txBody>
      </p:sp>
      <p:sp>
        <p:nvSpPr>
          <p:cNvPr id="33" name="Text 28"/>
          <p:cNvSpPr txBox="1"/>
          <p:nvPr/>
        </p:nvSpPr>
        <p:spPr>
          <a:xfrm>
            <a:off x="6507328" y="5715000"/>
            <a:ext cx="4907128" cy="274320"/>
          </a:xfrm>
          <a:prstGeom prst="rect">
            <a:avLst/>
          </a:prstGeom>
          <a:noFill/>
          <a:ln/>
        </p:spPr>
        <p:txBody>
          <a:bodyPr wrap="square" lIns="0" tIns="0" rIns="0" bIns="0" rtlCol="0" anchor="t"/>
          <a:lstStyle/>
          <a:p>
            <a:pPr indent="0" marL="0">
              <a:buNone/>
            </a:pPr>
            <a:r>
              <a:rPr lang="en-US" sz="1000" dirty="0">
                <a:solidFill>
                  <a:schemeClr val="accent4"/>
                </a:solidFill>
              </a:rPr>
              <a:t>프리다이빙 검증 이후 검토할 확장 가설입니다.</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1"/>
                </a:solidFill>
              </a:rPr>
              <a:t>09  팀</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직접 다이빙하는 개발자가 만듭니다</a:t>
            </a:r>
            <a:endParaRPr lang="en-US" sz="3200" dirty="0"/>
          </a:p>
        </p:txBody>
      </p:sp>
      <p:sp>
        <p:nvSpPr>
          <p:cNvPr id="5" name="Text 2"/>
          <p:cNvSpPr txBox="1"/>
          <p:nvPr/>
        </p:nvSpPr>
        <p:spPr>
          <a:xfrm>
            <a:off x="548640" y="1691640"/>
            <a:ext cx="2743200" cy="1463040"/>
          </a:xfrm>
          <a:prstGeom prst="rect">
            <a:avLst/>
          </a:prstGeom>
          <a:noFill/>
          <a:ln/>
        </p:spPr>
        <p:txBody>
          <a:bodyPr wrap="square" lIns="0" tIns="0" rIns="0" bIns="0" rtlCol="0" anchor="b"/>
          <a:lstStyle/>
          <a:p>
            <a:pPr indent="0" marL="0">
              <a:buNone/>
            </a:pPr>
            <a:r>
              <a:rPr lang="en-US" sz="8800" b="1" dirty="0">
                <a:solidFill>
                  <a:schemeClr val="accent1"/>
                </a:solidFill>
              </a:rPr>
              <a:t>14</a:t>
            </a:r>
            <a:pPr indent="0" marL="0">
              <a:buNone/>
            </a:pPr>
            <a:r>
              <a:rPr lang="en-US" sz="2400" b="1" dirty="0">
                <a:solidFill>
                  <a:schemeClr val="bg1"/>
                </a:solidFill>
              </a:rPr>
              <a:t> 년차</a:t>
            </a:r>
            <a:endParaRPr lang="en-US" sz="8800" dirty="0"/>
          </a:p>
        </p:txBody>
      </p:sp>
      <p:sp>
        <p:nvSpPr>
          <p:cNvPr id="6" name="Text 3"/>
          <p:cNvSpPr txBox="1"/>
          <p:nvPr/>
        </p:nvSpPr>
        <p:spPr>
          <a:xfrm>
            <a:off x="548640" y="3246120"/>
            <a:ext cx="2651760" cy="411480"/>
          </a:xfrm>
          <a:prstGeom prst="rect">
            <a:avLst/>
          </a:prstGeom>
          <a:noFill/>
          <a:ln/>
        </p:spPr>
        <p:txBody>
          <a:bodyPr wrap="square" lIns="0" tIns="0" rIns="0" bIns="0" rtlCol="0" anchor="t"/>
          <a:lstStyle/>
          <a:p>
            <a:pPr indent="0" marL="0">
              <a:buNone/>
            </a:pPr>
            <a:r>
              <a:rPr lang="en-US" sz="2200" b="1" dirty="0">
                <a:solidFill>
                  <a:schemeClr val="bg1"/>
                </a:solidFill>
              </a:rPr>
              <a:t>개발자</a:t>
            </a:r>
            <a:endParaRPr lang="en-US" sz="2200" dirty="0"/>
          </a:p>
        </p:txBody>
      </p:sp>
      <p:sp>
        <p:nvSpPr>
          <p:cNvPr id="7" name="Text 4"/>
          <p:cNvSpPr txBox="1"/>
          <p:nvPr/>
        </p:nvSpPr>
        <p:spPr>
          <a:xfrm>
            <a:off x="548640" y="3703320"/>
            <a:ext cx="2651760" cy="548640"/>
          </a:xfrm>
          <a:prstGeom prst="rect">
            <a:avLst/>
          </a:prstGeom>
          <a:noFill/>
          <a:ln/>
        </p:spPr>
        <p:txBody>
          <a:bodyPr wrap="square" lIns="0" tIns="0" rIns="0" bIns="0" rtlCol="0" anchor="t"/>
          <a:lstStyle/>
          <a:p>
            <a:pPr indent="0" marL="0">
              <a:buNone/>
            </a:pPr>
            <a:r>
              <a:rPr lang="en-US" sz="1400" dirty="0">
                <a:solidFill>
                  <a:schemeClr val="accent5"/>
                </a:solidFill>
              </a:rPr>
              <a:t>기획·개발·운영을 직접 수행</a:t>
            </a:r>
            <a:endParaRPr lang="en-US" sz="1400" dirty="0"/>
          </a:p>
        </p:txBody>
      </p:sp>
      <p:sp>
        <p:nvSpPr>
          <p:cNvPr id="8" name="Text 5"/>
          <p:cNvSpPr txBox="1"/>
          <p:nvPr/>
        </p:nvSpPr>
        <p:spPr>
          <a:xfrm>
            <a:off x="3383280" y="1691640"/>
            <a:ext cx="2743200" cy="1463040"/>
          </a:xfrm>
          <a:prstGeom prst="rect">
            <a:avLst/>
          </a:prstGeom>
          <a:noFill/>
          <a:ln/>
        </p:spPr>
        <p:txBody>
          <a:bodyPr wrap="square" lIns="0" tIns="0" rIns="0" bIns="0" rtlCol="0" anchor="b"/>
          <a:lstStyle/>
          <a:p>
            <a:pPr indent="0" marL="0">
              <a:buNone/>
            </a:pPr>
            <a:r>
              <a:rPr lang="en-US" sz="8800" b="1" dirty="0">
                <a:solidFill>
                  <a:schemeClr val="accent1"/>
                </a:solidFill>
              </a:rPr>
              <a:t>3</a:t>
            </a:r>
            <a:pPr indent="0" marL="0">
              <a:buNone/>
            </a:pPr>
            <a:r>
              <a:rPr lang="en-US" sz="2400" b="1" dirty="0">
                <a:solidFill>
                  <a:schemeClr val="bg1"/>
                </a:solidFill>
              </a:rPr>
              <a:t> 년차</a:t>
            </a:r>
            <a:endParaRPr lang="en-US" sz="8800" dirty="0"/>
          </a:p>
        </p:txBody>
      </p:sp>
      <p:sp>
        <p:nvSpPr>
          <p:cNvPr id="9" name="Text 6"/>
          <p:cNvSpPr txBox="1"/>
          <p:nvPr/>
        </p:nvSpPr>
        <p:spPr>
          <a:xfrm>
            <a:off x="3383280" y="3246120"/>
            <a:ext cx="2651760" cy="411480"/>
          </a:xfrm>
          <a:prstGeom prst="rect">
            <a:avLst/>
          </a:prstGeom>
          <a:noFill/>
          <a:ln/>
        </p:spPr>
        <p:txBody>
          <a:bodyPr wrap="square" lIns="0" tIns="0" rIns="0" bIns="0" rtlCol="0" anchor="t"/>
          <a:lstStyle/>
          <a:p>
            <a:pPr indent="0" marL="0">
              <a:buNone/>
            </a:pPr>
            <a:r>
              <a:rPr lang="en-US" sz="2200" b="1" dirty="0">
                <a:solidFill>
                  <a:schemeClr val="bg1"/>
                </a:solidFill>
              </a:rPr>
              <a:t>프리다이버</a:t>
            </a:r>
            <a:endParaRPr lang="en-US" sz="2200" dirty="0"/>
          </a:p>
        </p:txBody>
      </p:sp>
      <p:sp>
        <p:nvSpPr>
          <p:cNvPr id="10" name="Text 7"/>
          <p:cNvSpPr txBox="1"/>
          <p:nvPr/>
        </p:nvSpPr>
        <p:spPr>
          <a:xfrm>
            <a:off x="3383280" y="3703320"/>
            <a:ext cx="2651760" cy="548640"/>
          </a:xfrm>
          <a:prstGeom prst="rect">
            <a:avLst/>
          </a:prstGeom>
          <a:noFill/>
          <a:ln/>
        </p:spPr>
        <p:txBody>
          <a:bodyPr wrap="square" lIns="0" tIns="0" rIns="0" bIns="0" rtlCol="0" anchor="t"/>
          <a:lstStyle/>
          <a:p>
            <a:pPr indent="0" marL="0">
              <a:buNone/>
            </a:pPr>
            <a:r>
              <a:rPr lang="en-US" sz="1400" dirty="0">
                <a:solidFill>
                  <a:schemeClr val="accent5"/>
                </a:solidFill>
              </a:rPr>
              <a:t>AIDA Level 2 · Level 3 진행 중</a:t>
            </a:r>
            <a:endParaRPr lang="en-US" sz="1400" dirty="0"/>
          </a:p>
        </p:txBody>
      </p:sp>
      <p:sp>
        <p:nvSpPr>
          <p:cNvPr id="11" name="Text 8"/>
          <p:cNvSpPr txBox="1"/>
          <p:nvPr/>
        </p:nvSpPr>
        <p:spPr>
          <a:xfrm>
            <a:off x="548640" y="4892040"/>
            <a:ext cx="5303520" cy="365760"/>
          </a:xfrm>
          <a:prstGeom prst="rect">
            <a:avLst/>
          </a:prstGeom>
          <a:noFill/>
          <a:ln/>
        </p:spPr>
        <p:txBody>
          <a:bodyPr wrap="square" lIns="0" tIns="0" rIns="0" bIns="0" rtlCol="0" anchor="t"/>
          <a:lstStyle/>
          <a:p>
            <a:pPr indent="0" marL="0">
              <a:buNone/>
            </a:pPr>
            <a:r>
              <a:rPr lang="en-US" sz="1800" b="1" dirty="0">
                <a:solidFill>
                  <a:schemeClr val="bg1"/>
                </a:solidFill>
              </a:rPr>
              <a:t>남상현  ·  럼바우 대표</a:t>
            </a:r>
            <a:endParaRPr lang="en-US" sz="1800" dirty="0"/>
          </a:p>
        </p:txBody>
      </p:sp>
      <p:sp>
        <p:nvSpPr>
          <p:cNvPr id="12" name="Text 9"/>
          <p:cNvSpPr txBox="1"/>
          <p:nvPr/>
        </p:nvSpPr>
        <p:spPr>
          <a:xfrm>
            <a:off x="548640" y="5303520"/>
            <a:ext cx="5394960" cy="548640"/>
          </a:xfrm>
          <a:prstGeom prst="rect">
            <a:avLst/>
          </a:prstGeom>
          <a:noFill/>
          <a:ln/>
        </p:spPr>
        <p:txBody>
          <a:bodyPr wrap="square" lIns="0" tIns="0" rIns="0" bIns="0" rtlCol="0" anchor="t"/>
          <a:lstStyle/>
          <a:p>
            <a:pPr indent="0" marL="0">
              <a:buNone/>
            </a:pPr>
            <a:r>
              <a:rPr lang="en-US" sz="1200" dirty="0">
                <a:solidFill>
                  <a:schemeClr val="accent5"/>
                </a:solidFill>
              </a:rPr>
              <a:t>개인사업자 · 2025년 4월 개업 · 정보통신업(컴퓨터 프로그래밍 서비스업)</a:t>
            </a:r>
            <a:endParaRPr lang="en-US" sz="1200" dirty="0"/>
          </a:p>
        </p:txBody>
      </p:sp>
      <p:sp>
        <p:nvSpPr>
          <p:cNvPr id="13" name="team card 1"/>
          <p:cNvSpPr/>
          <p:nvPr/>
        </p:nvSpPr>
        <p:spPr>
          <a:xfrm>
            <a:off x="6309360" y="1737360"/>
            <a:ext cx="5330952" cy="1234440"/>
          </a:xfrm>
          <a:prstGeom prst="roundRect">
            <a:avLst>
              <a:gd name="adj" fmla="val 10370"/>
            </a:avLst>
          </a:prstGeom>
          <a:solidFill>
            <a:schemeClr val="bg1">
              <a:alpha val="10000"/>
            </a:schemeClr>
          </a:solidFill>
          <a:ln w="9525">
            <a:solidFill>
              <a:schemeClr val="accent5">
                <a:alpha val="40000"/>
              </a:schemeClr>
            </a:solidFill>
            <a:prstDash val="solid"/>
          </a:ln>
        </p:spPr>
      </p:sp>
      <p:sp>
        <p:nvSpPr>
          <p:cNvPr id="14" name="대표 · 개발 및 운영 circle"/>
          <p:cNvSpPr/>
          <p:nvPr/>
        </p:nvSpPr>
        <p:spPr>
          <a:xfrm>
            <a:off x="6537960" y="2011680"/>
            <a:ext cx="685800" cy="685800"/>
          </a:xfrm>
          <a:prstGeom prst="ellipse">
            <a:avLst/>
          </a:prstGeom>
          <a:solidFill>
            <a:schemeClr val="accent3"/>
          </a:solidFill>
          <a:ln/>
        </p:spPr>
      </p:sp>
      <p:pic>
        <p:nvPicPr>
          <p:cNvPr id="15" name="대표 · 개발 및 운영 icon" descr="대표 · 개발 및 운영">    </p:cNvPr>
          <p:cNvPicPr>
            <a:picLocks noChangeAspect="1"/>
          </p:cNvPicPr>
          <p:nvPr/>
        </p:nvPicPr>
        <p:blipFill>
          <a:blip r:embed="rId1"/>
          <a:stretch>
            <a:fillRect/>
          </a:stretch>
        </p:blipFill>
        <p:spPr>
          <a:xfrm>
            <a:off x="6723126" y="2196846"/>
            <a:ext cx="315468" cy="315468"/>
          </a:xfrm>
          <a:prstGeom prst="rect">
            <a:avLst/>
          </a:prstGeom>
        </p:spPr>
      </p:pic>
      <p:sp>
        <p:nvSpPr>
          <p:cNvPr id="16" name="Text 12"/>
          <p:cNvSpPr txBox="1"/>
          <p:nvPr/>
        </p:nvSpPr>
        <p:spPr>
          <a:xfrm>
            <a:off x="7452360" y="1901952"/>
            <a:ext cx="4023360" cy="256032"/>
          </a:xfrm>
          <a:prstGeom prst="rect">
            <a:avLst/>
          </a:prstGeom>
          <a:noFill/>
          <a:ln/>
        </p:spPr>
        <p:txBody>
          <a:bodyPr wrap="square" lIns="0" tIns="0" rIns="0" bIns="0" rtlCol="0" anchor="t"/>
          <a:lstStyle/>
          <a:p>
            <a:pPr indent="0" marL="0">
              <a:buNone/>
            </a:pPr>
            <a:r>
              <a:rPr lang="en-US" sz="1100" b="1" dirty="0">
                <a:solidFill>
                  <a:schemeClr val="accent1"/>
                </a:solidFill>
              </a:rPr>
              <a:t>대표 · 개발 및 운영</a:t>
            </a:r>
            <a:endParaRPr lang="en-US" sz="1100" dirty="0"/>
          </a:p>
        </p:txBody>
      </p:sp>
      <p:sp>
        <p:nvSpPr>
          <p:cNvPr id="17" name="Text 13"/>
          <p:cNvSpPr txBox="1"/>
          <p:nvPr/>
        </p:nvSpPr>
        <p:spPr>
          <a:xfrm>
            <a:off x="7452360" y="2148840"/>
            <a:ext cx="4023360" cy="365760"/>
          </a:xfrm>
          <a:prstGeom prst="rect">
            <a:avLst/>
          </a:prstGeom>
          <a:noFill/>
          <a:ln/>
        </p:spPr>
        <p:txBody>
          <a:bodyPr wrap="square" lIns="0" tIns="0" rIns="0" bIns="0" rtlCol="0" anchor="t"/>
          <a:lstStyle/>
          <a:p>
            <a:pPr indent="0" marL="0">
              <a:buNone/>
            </a:pPr>
            <a:r>
              <a:rPr lang="en-US" sz="1800" b="1" dirty="0">
                <a:solidFill>
                  <a:schemeClr val="bg1"/>
                </a:solidFill>
              </a:rPr>
              <a:t>남상현 (1인)</a:t>
            </a:r>
            <a:endParaRPr lang="en-US" sz="1800" dirty="0"/>
          </a:p>
        </p:txBody>
      </p:sp>
      <p:sp>
        <p:nvSpPr>
          <p:cNvPr id="18" name="Text 14"/>
          <p:cNvSpPr txBox="1"/>
          <p:nvPr/>
        </p:nvSpPr>
        <p:spPr>
          <a:xfrm>
            <a:off x="7452360" y="2542032"/>
            <a:ext cx="4023360" cy="274320"/>
          </a:xfrm>
          <a:prstGeom prst="rect">
            <a:avLst/>
          </a:prstGeom>
          <a:noFill/>
          <a:ln/>
        </p:spPr>
        <p:txBody>
          <a:bodyPr wrap="square" lIns="0" tIns="0" rIns="0" bIns="0" rtlCol="0" anchor="t"/>
          <a:lstStyle/>
          <a:p>
            <a:pPr indent="0" marL="0">
              <a:buNone/>
            </a:pPr>
            <a:r>
              <a:rPr lang="en-US" sz="1300" dirty="0">
                <a:solidFill>
                  <a:schemeClr val="accent6"/>
                </a:solidFill>
              </a:rPr>
              <a:t>앱 개발, 서버 운영, 고객 대응</a:t>
            </a:r>
            <a:endParaRPr lang="en-US" sz="1300" dirty="0"/>
          </a:p>
        </p:txBody>
      </p:sp>
      <p:sp>
        <p:nvSpPr>
          <p:cNvPr id="19" name="team card 2"/>
          <p:cNvSpPr/>
          <p:nvPr/>
        </p:nvSpPr>
        <p:spPr>
          <a:xfrm>
            <a:off x="6309360" y="3200400"/>
            <a:ext cx="5330952" cy="1234440"/>
          </a:xfrm>
          <a:prstGeom prst="roundRect">
            <a:avLst>
              <a:gd name="adj" fmla="val 10370"/>
            </a:avLst>
          </a:prstGeom>
          <a:solidFill>
            <a:schemeClr val="bg1">
              <a:alpha val="10000"/>
            </a:schemeClr>
          </a:solidFill>
          <a:ln w="9525">
            <a:solidFill>
              <a:schemeClr val="accent5">
                <a:alpha val="40000"/>
              </a:schemeClr>
            </a:solidFill>
            <a:prstDash val="solid"/>
          </a:ln>
        </p:spPr>
      </p:sp>
      <p:sp>
        <p:nvSpPr>
          <p:cNvPr id="20" name="현장 자문 circle"/>
          <p:cNvSpPr/>
          <p:nvPr/>
        </p:nvSpPr>
        <p:spPr>
          <a:xfrm>
            <a:off x="6537960" y="3474720"/>
            <a:ext cx="685800" cy="685800"/>
          </a:xfrm>
          <a:prstGeom prst="ellipse">
            <a:avLst/>
          </a:prstGeom>
          <a:solidFill>
            <a:schemeClr val="accent1"/>
          </a:solidFill>
          <a:ln/>
        </p:spPr>
      </p:sp>
      <p:pic>
        <p:nvPicPr>
          <p:cNvPr id="21" name="현장 자문 icon" descr="현장 자문">    </p:cNvPr>
          <p:cNvPicPr>
            <a:picLocks noChangeAspect="1"/>
          </p:cNvPicPr>
          <p:nvPr/>
        </p:nvPicPr>
        <p:blipFill>
          <a:blip r:embed="rId2"/>
          <a:stretch>
            <a:fillRect/>
          </a:stretch>
        </p:blipFill>
        <p:spPr>
          <a:xfrm>
            <a:off x="6723126" y="3659886"/>
            <a:ext cx="315468" cy="315468"/>
          </a:xfrm>
          <a:prstGeom prst="rect">
            <a:avLst/>
          </a:prstGeom>
        </p:spPr>
      </p:pic>
      <p:sp>
        <p:nvSpPr>
          <p:cNvPr id="22" name="Text 17"/>
          <p:cNvSpPr txBox="1"/>
          <p:nvPr/>
        </p:nvSpPr>
        <p:spPr>
          <a:xfrm>
            <a:off x="7452360" y="3364992"/>
            <a:ext cx="4023360" cy="256032"/>
          </a:xfrm>
          <a:prstGeom prst="rect">
            <a:avLst/>
          </a:prstGeom>
          <a:noFill/>
          <a:ln/>
        </p:spPr>
        <p:txBody>
          <a:bodyPr wrap="square" lIns="0" tIns="0" rIns="0" bIns="0" rtlCol="0" anchor="t"/>
          <a:lstStyle/>
          <a:p>
            <a:pPr indent="0" marL="0">
              <a:buNone/>
            </a:pPr>
            <a:r>
              <a:rPr lang="en-US" sz="1100" b="1" dirty="0">
                <a:solidFill>
                  <a:schemeClr val="accent1"/>
                </a:solidFill>
              </a:rPr>
              <a:t>현장 자문</a:t>
            </a:r>
            <a:endParaRPr lang="en-US" sz="1100" dirty="0"/>
          </a:p>
        </p:txBody>
      </p:sp>
      <p:sp>
        <p:nvSpPr>
          <p:cNvPr id="23" name="Text 18"/>
          <p:cNvSpPr txBox="1"/>
          <p:nvPr/>
        </p:nvSpPr>
        <p:spPr>
          <a:xfrm>
            <a:off x="7452360" y="3611880"/>
            <a:ext cx="4023360" cy="365760"/>
          </a:xfrm>
          <a:prstGeom prst="rect">
            <a:avLst/>
          </a:prstGeom>
          <a:noFill/>
          <a:ln/>
        </p:spPr>
        <p:txBody>
          <a:bodyPr wrap="square" lIns="0" tIns="0" rIns="0" bIns="0" rtlCol="0" anchor="t"/>
          <a:lstStyle/>
          <a:p>
            <a:pPr indent="0" marL="0">
              <a:buNone/>
            </a:pPr>
            <a:r>
              <a:rPr lang="en-US" sz="1800" b="1" dirty="0">
                <a:solidFill>
                  <a:schemeClr val="bg1"/>
                </a:solidFill>
              </a:rPr>
              <a:t>AIDA Instructor 협업자</a:t>
            </a:r>
            <a:endParaRPr lang="en-US" sz="1800" dirty="0"/>
          </a:p>
        </p:txBody>
      </p:sp>
      <p:sp>
        <p:nvSpPr>
          <p:cNvPr id="24" name="Text 19"/>
          <p:cNvSpPr txBox="1"/>
          <p:nvPr/>
        </p:nvSpPr>
        <p:spPr>
          <a:xfrm>
            <a:off x="7452360" y="4005072"/>
            <a:ext cx="4023360" cy="274320"/>
          </a:xfrm>
          <a:prstGeom prst="rect">
            <a:avLst/>
          </a:prstGeom>
          <a:noFill/>
          <a:ln/>
        </p:spPr>
        <p:txBody>
          <a:bodyPr wrap="square" lIns="0" tIns="0" rIns="0" bIns="0" rtlCol="0" anchor="t"/>
          <a:lstStyle/>
          <a:p>
            <a:pPr indent="0" marL="0">
              <a:buNone/>
            </a:pPr>
            <a:r>
              <a:rPr lang="en-US" sz="1300" dirty="0">
                <a:solidFill>
                  <a:schemeClr val="accent6"/>
                </a:solidFill>
              </a:rPr>
              <a:t>강사 관점의 기능 의견 제공</a:t>
            </a:r>
            <a:endParaRPr lang="en-US" sz="1300" dirty="0"/>
          </a:p>
        </p:txBody>
      </p:sp>
      <p:sp>
        <p:nvSpPr>
          <p:cNvPr id="25" name="team card 3"/>
          <p:cNvSpPr/>
          <p:nvPr/>
        </p:nvSpPr>
        <p:spPr>
          <a:xfrm>
            <a:off x="6309360" y="4663440"/>
            <a:ext cx="5330952" cy="1234440"/>
          </a:xfrm>
          <a:prstGeom prst="roundRect">
            <a:avLst>
              <a:gd name="adj" fmla="val 10370"/>
            </a:avLst>
          </a:prstGeom>
          <a:solidFill>
            <a:schemeClr val="bg1">
              <a:alpha val="10000"/>
            </a:schemeClr>
          </a:solidFill>
          <a:ln w="9525">
            <a:solidFill>
              <a:schemeClr val="accent5">
                <a:alpha val="40000"/>
              </a:schemeClr>
            </a:solidFill>
            <a:prstDash val="solid"/>
          </a:ln>
        </p:spPr>
      </p:sp>
      <p:sp>
        <p:nvSpPr>
          <p:cNvPr id="26" name="홍보 협업 circle"/>
          <p:cNvSpPr/>
          <p:nvPr/>
        </p:nvSpPr>
        <p:spPr>
          <a:xfrm>
            <a:off x="6537960" y="4937760"/>
            <a:ext cx="685800" cy="685800"/>
          </a:xfrm>
          <a:prstGeom prst="ellipse">
            <a:avLst/>
          </a:prstGeom>
          <a:solidFill>
            <a:schemeClr val="accent1"/>
          </a:solidFill>
          <a:ln/>
        </p:spPr>
      </p:sp>
      <p:pic>
        <p:nvPicPr>
          <p:cNvPr id="27" name="홍보 협업 icon" descr="홍보 협업">    </p:cNvPr>
          <p:cNvPicPr>
            <a:picLocks noChangeAspect="1"/>
          </p:cNvPicPr>
          <p:nvPr/>
        </p:nvPicPr>
        <p:blipFill>
          <a:blip r:embed="rId3"/>
          <a:stretch>
            <a:fillRect/>
          </a:stretch>
        </p:blipFill>
        <p:spPr>
          <a:xfrm>
            <a:off x="6723126" y="5122926"/>
            <a:ext cx="315468" cy="315468"/>
          </a:xfrm>
          <a:prstGeom prst="rect">
            <a:avLst/>
          </a:prstGeom>
        </p:spPr>
      </p:pic>
      <p:sp>
        <p:nvSpPr>
          <p:cNvPr id="28" name="Text 22"/>
          <p:cNvSpPr txBox="1"/>
          <p:nvPr/>
        </p:nvSpPr>
        <p:spPr>
          <a:xfrm>
            <a:off x="7452360" y="4828032"/>
            <a:ext cx="4023360" cy="256032"/>
          </a:xfrm>
          <a:prstGeom prst="rect">
            <a:avLst/>
          </a:prstGeom>
          <a:noFill/>
          <a:ln/>
        </p:spPr>
        <p:txBody>
          <a:bodyPr wrap="square" lIns="0" tIns="0" rIns="0" bIns="0" rtlCol="0" anchor="t"/>
          <a:lstStyle/>
          <a:p>
            <a:pPr indent="0" marL="0">
              <a:buNone/>
            </a:pPr>
            <a:r>
              <a:rPr lang="en-US" sz="1100" b="1" dirty="0">
                <a:solidFill>
                  <a:schemeClr val="accent1"/>
                </a:solidFill>
              </a:rPr>
              <a:t>홍보 협업</a:t>
            </a:r>
            <a:endParaRPr lang="en-US" sz="1100" dirty="0"/>
          </a:p>
        </p:txBody>
      </p:sp>
      <p:sp>
        <p:nvSpPr>
          <p:cNvPr id="29" name="Text 23"/>
          <p:cNvSpPr txBox="1"/>
          <p:nvPr/>
        </p:nvSpPr>
        <p:spPr>
          <a:xfrm>
            <a:off x="7452360" y="5074920"/>
            <a:ext cx="4023360" cy="365760"/>
          </a:xfrm>
          <a:prstGeom prst="rect">
            <a:avLst/>
          </a:prstGeom>
          <a:noFill/>
          <a:ln/>
        </p:spPr>
        <p:txBody>
          <a:bodyPr wrap="square" lIns="0" tIns="0" rIns="0" bIns="0" rtlCol="0" anchor="t"/>
          <a:lstStyle/>
          <a:p>
            <a:pPr indent="0" marL="0">
              <a:buNone/>
            </a:pPr>
            <a:r>
              <a:rPr lang="en-US" sz="1800" b="1" dirty="0">
                <a:solidFill>
                  <a:schemeClr val="bg1"/>
                </a:solidFill>
              </a:rPr>
              <a:t>유튜브 ‘먹보야 놀자’</a:t>
            </a:r>
            <a:endParaRPr lang="en-US" sz="1800" dirty="0"/>
          </a:p>
        </p:txBody>
      </p:sp>
      <p:sp>
        <p:nvSpPr>
          <p:cNvPr id="30" name="Text 24"/>
          <p:cNvSpPr txBox="1"/>
          <p:nvPr/>
        </p:nvSpPr>
        <p:spPr>
          <a:xfrm>
            <a:off x="7452360" y="5468112"/>
            <a:ext cx="4023360" cy="274320"/>
          </a:xfrm>
          <a:prstGeom prst="rect">
            <a:avLst/>
          </a:prstGeom>
          <a:noFill/>
          <a:ln/>
        </p:spPr>
        <p:txBody>
          <a:bodyPr wrap="square" lIns="0" tIns="0" rIns="0" bIns="0" rtlCol="0" anchor="t"/>
          <a:lstStyle/>
          <a:p>
            <a:pPr indent="0" marL="0">
              <a:buNone/>
            </a:pPr>
            <a:r>
              <a:rPr lang="en-US" sz="1300" dirty="0">
                <a:solidFill>
                  <a:schemeClr val="accent6"/>
                </a:solidFill>
              </a:rPr>
              <a:t>강사의 실제 사용 모습을 담은 콘텐츠</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47472"/>
            <a:ext cx="7315200" cy="292608"/>
          </a:xfrm>
          <a:prstGeom prst="rect">
            <a:avLst/>
          </a:prstGeom>
          <a:noFill/>
          <a:ln/>
        </p:spPr>
        <p:txBody>
          <a:bodyPr wrap="square" lIns="0" tIns="0" rIns="0" bIns="0" rtlCol="0"/>
          <a:lstStyle/>
          <a:p>
            <a:pPr indent="0" marL="0">
              <a:buNone/>
            </a:pPr>
            <a:r>
              <a:rPr lang="en-US" sz="1300" b="1" spc="100" kern="0" dirty="0">
                <a:solidFill>
                  <a:schemeClr val="accent1"/>
                </a:solidFill>
              </a:rPr>
              <a:t>10  투자 제안</a:t>
            </a:r>
            <a:endParaRPr lang="en-US" sz="1300" dirty="0"/>
          </a:p>
        </p:txBody>
      </p:sp>
      <p:sp>
        <p:nvSpPr>
          <p:cNvPr id="3" name="Text 1"/>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chemeClr val="bg1"/>
                </a:solidFill>
              </a:rPr>
              <a:t>Seed 1억 원으로 출시 후 12개월 검증</a:t>
            </a:r>
            <a:endParaRPr lang="en-US" sz="3200" dirty="0"/>
          </a:p>
        </p:txBody>
      </p:sp>
      <p:sp>
        <p:nvSpPr>
          <p:cNvPr id="5" name="Text 2"/>
          <p:cNvSpPr txBox="1"/>
          <p:nvPr/>
        </p:nvSpPr>
        <p:spPr>
          <a:xfrm>
            <a:off x="548640" y="1737360"/>
            <a:ext cx="4572000" cy="320040"/>
          </a:xfrm>
          <a:prstGeom prst="rect">
            <a:avLst/>
          </a:prstGeom>
          <a:noFill/>
          <a:ln/>
        </p:spPr>
        <p:txBody>
          <a:bodyPr wrap="square" lIns="0" tIns="0" rIns="0" bIns="0" rtlCol="0" anchor="t"/>
          <a:lstStyle/>
          <a:p>
            <a:pPr indent="0" marL="0">
              <a:buNone/>
            </a:pPr>
            <a:r>
              <a:rPr lang="en-US" sz="1500" b="1" dirty="0">
                <a:solidFill>
                  <a:schemeClr val="accent1"/>
                </a:solidFill>
              </a:rPr>
              <a:t>투자 희망</a:t>
            </a:r>
            <a:endParaRPr lang="en-US" sz="1500" dirty="0"/>
          </a:p>
        </p:txBody>
      </p:sp>
      <p:sp>
        <p:nvSpPr>
          <p:cNvPr id="6" name="Text 3"/>
          <p:cNvSpPr txBox="1"/>
          <p:nvPr/>
        </p:nvSpPr>
        <p:spPr>
          <a:xfrm>
            <a:off x="548640" y="2011680"/>
            <a:ext cx="5029200" cy="1463040"/>
          </a:xfrm>
          <a:prstGeom prst="rect">
            <a:avLst/>
          </a:prstGeom>
          <a:noFill/>
          <a:ln/>
        </p:spPr>
        <p:txBody>
          <a:bodyPr wrap="square" lIns="0" tIns="0" rIns="0" bIns="0" rtlCol="0" anchor="ctr"/>
          <a:lstStyle/>
          <a:p>
            <a:pPr indent="0" marL="0">
              <a:buNone/>
            </a:pPr>
            <a:r>
              <a:rPr lang="en-US" sz="9600" b="1" dirty="0">
                <a:solidFill>
                  <a:schemeClr val="bg1"/>
                </a:solidFill>
              </a:rPr>
              <a:t>1</a:t>
            </a:r>
            <a:pPr indent="0" marL="0">
              <a:buNone/>
            </a:pPr>
            <a:r>
              <a:rPr lang="en-US" sz="3000" b="1" dirty="0">
                <a:solidFill>
                  <a:schemeClr val="accent5"/>
                </a:solidFill>
              </a:rPr>
              <a:t> 억 원</a:t>
            </a:r>
            <a:endParaRPr lang="en-US" sz="9600" dirty="0"/>
          </a:p>
        </p:txBody>
      </p:sp>
      <p:sp>
        <p:nvSpPr>
          <p:cNvPr id="7" name="Text 4"/>
          <p:cNvSpPr txBox="1"/>
          <p:nvPr/>
        </p:nvSpPr>
        <p:spPr>
          <a:xfrm>
            <a:off x="548640" y="3520440"/>
            <a:ext cx="5120640" cy="365760"/>
          </a:xfrm>
          <a:prstGeom prst="rect">
            <a:avLst/>
          </a:prstGeom>
          <a:noFill/>
          <a:ln/>
        </p:spPr>
        <p:txBody>
          <a:bodyPr wrap="square" lIns="0" tIns="0" rIns="0" bIns="0" rtlCol="0" anchor="t"/>
          <a:lstStyle/>
          <a:p>
            <a:pPr indent="0" marL="0">
              <a:buNone/>
            </a:pPr>
            <a:r>
              <a:rPr lang="en-US" sz="1600" dirty="0">
                <a:solidFill>
                  <a:schemeClr val="accent6"/>
                </a:solidFill>
              </a:rPr>
              <a:t>Seed  ·  투자 확정 시 법인 전환 후 집행</a:t>
            </a:r>
            <a:endParaRPr lang="en-US" sz="1600" dirty="0"/>
          </a:p>
        </p:txBody>
      </p:sp>
      <p:sp>
        <p:nvSpPr>
          <p:cNvPr id="8" name="number 1"/>
          <p:cNvSpPr/>
          <p:nvPr/>
        </p:nvSpPr>
        <p:spPr>
          <a:xfrm>
            <a:off x="548640" y="4160520"/>
            <a:ext cx="438912" cy="438912"/>
          </a:xfrm>
          <a:prstGeom prst="ellipse">
            <a:avLst/>
          </a:prstGeom>
          <a:solidFill>
            <a:schemeClr val="accent3"/>
          </a:solidFill>
          <a:ln/>
        </p:spPr>
      </p:sp>
      <p:sp>
        <p:nvSpPr>
          <p:cNvPr id="9" name="Text 6"/>
          <p:cNvSpPr txBox="1"/>
          <p:nvPr/>
        </p:nvSpPr>
        <p:spPr>
          <a:xfrm>
            <a:off x="548640" y="4160520"/>
            <a:ext cx="438912" cy="438912"/>
          </a:xfrm>
          <a:prstGeom prst="rect">
            <a:avLst/>
          </a:prstGeom>
          <a:noFill/>
          <a:ln/>
        </p:spPr>
        <p:txBody>
          <a:bodyPr wrap="square" lIns="0" tIns="0" rIns="0" bIns="0" rtlCol="0" anchor="ctr"/>
          <a:lstStyle/>
          <a:p>
            <a:pPr algn="ctr" indent="0" marL="0">
              <a:buNone/>
            </a:pPr>
            <a:r>
              <a:rPr lang="en-US" sz="1300" b="1" dirty="0">
                <a:solidFill>
                  <a:srgbClr val="0A2540"/>
                </a:solidFill>
              </a:rPr>
              <a:t>1</a:t>
            </a:r>
            <a:endParaRPr lang="en-US" sz="1300" dirty="0"/>
          </a:p>
        </p:txBody>
      </p:sp>
      <p:sp>
        <p:nvSpPr>
          <p:cNvPr id="10" name="Text 7"/>
          <p:cNvSpPr txBox="1"/>
          <p:nvPr/>
        </p:nvSpPr>
        <p:spPr>
          <a:xfrm>
            <a:off x="1188720" y="4142232"/>
            <a:ext cx="1188720" cy="457200"/>
          </a:xfrm>
          <a:prstGeom prst="rect">
            <a:avLst/>
          </a:prstGeom>
          <a:noFill/>
          <a:ln/>
        </p:spPr>
        <p:txBody>
          <a:bodyPr wrap="square" lIns="0" tIns="0" rIns="0" bIns="0" rtlCol="0" anchor="ctr"/>
          <a:lstStyle/>
          <a:p>
            <a:pPr indent="0" marL="0">
              <a:buNone/>
            </a:pPr>
            <a:r>
              <a:rPr lang="en-US" sz="1400" b="1" dirty="0">
                <a:solidFill>
                  <a:schemeClr val="accent1"/>
                </a:solidFill>
              </a:rPr>
              <a:t>0–3개월</a:t>
            </a:r>
            <a:endParaRPr lang="en-US" sz="1400" dirty="0"/>
          </a:p>
        </p:txBody>
      </p:sp>
      <p:sp>
        <p:nvSpPr>
          <p:cNvPr id="11" name="Text 8"/>
          <p:cNvSpPr txBox="1"/>
          <p:nvPr/>
        </p:nvSpPr>
        <p:spPr>
          <a:xfrm>
            <a:off x="2377440" y="4142232"/>
            <a:ext cx="3840480" cy="457200"/>
          </a:xfrm>
          <a:prstGeom prst="rect">
            <a:avLst/>
          </a:prstGeom>
          <a:noFill/>
          <a:ln/>
        </p:spPr>
        <p:txBody>
          <a:bodyPr wrap="square" lIns="0" tIns="0" rIns="0" bIns="0" rtlCol="0" anchor="ctr"/>
          <a:lstStyle/>
          <a:p>
            <a:pPr indent="0" marL="0">
              <a:buNone/>
            </a:pPr>
            <a:r>
              <a:rPr lang="en-US" sz="1300" dirty="0">
                <a:solidFill>
                  <a:schemeClr val="bg1"/>
                </a:solidFill>
              </a:rPr>
              <a:t>출시 · 협업 채널 홍보 · 무료 체험 강사 모집</a:t>
            </a:r>
            <a:endParaRPr lang="en-US" sz="1300" dirty="0"/>
          </a:p>
        </p:txBody>
      </p:sp>
      <p:sp>
        <p:nvSpPr>
          <p:cNvPr id="12" name="number 2"/>
          <p:cNvSpPr/>
          <p:nvPr/>
        </p:nvSpPr>
        <p:spPr>
          <a:xfrm>
            <a:off x="548640" y="4782312"/>
            <a:ext cx="438912" cy="438912"/>
          </a:xfrm>
          <a:prstGeom prst="ellipse">
            <a:avLst/>
          </a:prstGeom>
          <a:solidFill>
            <a:schemeClr val="accent1"/>
          </a:solidFill>
          <a:ln/>
        </p:spPr>
      </p:sp>
      <p:sp>
        <p:nvSpPr>
          <p:cNvPr id="13" name="Text 10"/>
          <p:cNvSpPr txBox="1"/>
          <p:nvPr/>
        </p:nvSpPr>
        <p:spPr>
          <a:xfrm>
            <a:off x="548640" y="4782312"/>
            <a:ext cx="438912" cy="438912"/>
          </a:xfrm>
          <a:prstGeom prst="rect">
            <a:avLst/>
          </a:prstGeom>
          <a:noFill/>
          <a:ln/>
        </p:spPr>
        <p:txBody>
          <a:bodyPr wrap="square" lIns="0" tIns="0" rIns="0" bIns="0" rtlCol="0" anchor="ctr"/>
          <a:lstStyle/>
          <a:p>
            <a:pPr algn="ctr" indent="0" marL="0">
              <a:buNone/>
            </a:pPr>
            <a:r>
              <a:rPr lang="en-US" sz="1300" b="1" dirty="0">
                <a:solidFill>
                  <a:srgbClr val="0A2540"/>
                </a:solidFill>
              </a:rPr>
              <a:t>2</a:t>
            </a:r>
            <a:endParaRPr lang="en-US" sz="1300" dirty="0"/>
          </a:p>
        </p:txBody>
      </p:sp>
      <p:sp>
        <p:nvSpPr>
          <p:cNvPr id="14" name="Text 11"/>
          <p:cNvSpPr txBox="1"/>
          <p:nvPr/>
        </p:nvSpPr>
        <p:spPr>
          <a:xfrm>
            <a:off x="1188720" y="4764024"/>
            <a:ext cx="1188720" cy="457200"/>
          </a:xfrm>
          <a:prstGeom prst="rect">
            <a:avLst/>
          </a:prstGeom>
          <a:noFill/>
          <a:ln/>
        </p:spPr>
        <p:txBody>
          <a:bodyPr wrap="square" lIns="0" tIns="0" rIns="0" bIns="0" rtlCol="0" anchor="ctr"/>
          <a:lstStyle/>
          <a:p>
            <a:pPr indent="0" marL="0">
              <a:buNone/>
            </a:pPr>
            <a:r>
              <a:rPr lang="en-US" sz="1400" b="1" dirty="0">
                <a:solidFill>
                  <a:schemeClr val="accent1"/>
                </a:solidFill>
              </a:rPr>
              <a:t>4–6개월</a:t>
            </a:r>
            <a:endParaRPr lang="en-US" sz="1400" dirty="0"/>
          </a:p>
        </p:txBody>
      </p:sp>
      <p:sp>
        <p:nvSpPr>
          <p:cNvPr id="15" name="Text 12"/>
          <p:cNvSpPr txBox="1"/>
          <p:nvPr/>
        </p:nvSpPr>
        <p:spPr>
          <a:xfrm>
            <a:off x="2377440" y="4764024"/>
            <a:ext cx="3840480" cy="457200"/>
          </a:xfrm>
          <a:prstGeom prst="rect">
            <a:avLst/>
          </a:prstGeom>
          <a:noFill/>
          <a:ln/>
        </p:spPr>
        <p:txBody>
          <a:bodyPr wrap="square" lIns="0" tIns="0" rIns="0" bIns="0" rtlCol="0" anchor="ctr"/>
          <a:lstStyle/>
          <a:p>
            <a:pPr indent="0" marL="0">
              <a:buNone/>
            </a:pPr>
            <a:r>
              <a:rPr lang="en-US" sz="1300" dirty="0">
                <a:solidFill>
                  <a:schemeClr val="bg1"/>
                </a:solidFill>
              </a:rPr>
              <a:t>유료 전환 · 사용 데이터로 기능 개선</a:t>
            </a:r>
            <a:endParaRPr lang="en-US" sz="1300" dirty="0"/>
          </a:p>
        </p:txBody>
      </p:sp>
      <p:sp>
        <p:nvSpPr>
          <p:cNvPr id="16" name="number 3"/>
          <p:cNvSpPr/>
          <p:nvPr/>
        </p:nvSpPr>
        <p:spPr>
          <a:xfrm>
            <a:off x="548640" y="5404104"/>
            <a:ext cx="438912" cy="438912"/>
          </a:xfrm>
          <a:prstGeom prst="ellipse">
            <a:avLst/>
          </a:prstGeom>
          <a:solidFill>
            <a:schemeClr val="accent1"/>
          </a:solidFill>
          <a:ln/>
        </p:spPr>
      </p:sp>
      <p:sp>
        <p:nvSpPr>
          <p:cNvPr id="17" name="Text 14"/>
          <p:cNvSpPr txBox="1"/>
          <p:nvPr/>
        </p:nvSpPr>
        <p:spPr>
          <a:xfrm>
            <a:off x="548640" y="5404104"/>
            <a:ext cx="438912" cy="438912"/>
          </a:xfrm>
          <a:prstGeom prst="rect">
            <a:avLst/>
          </a:prstGeom>
          <a:noFill/>
          <a:ln/>
        </p:spPr>
        <p:txBody>
          <a:bodyPr wrap="square" lIns="0" tIns="0" rIns="0" bIns="0" rtlCol="0" anchor="ctr"/>
          <a:lstStyle/>
          <a:p>
            <a:pPr algn="ctr" indent="0" marL="0">
              <a:buNone/>
            </a:pPr>
            <a:r>
              <a:rPr lang="en-US" sz="1300" b="1" dirty="0">
                <a:solidFill>
                  <a:srgbClr val="0A2540"/>
                </a:solidFill>
              </a:rPr>
              <a:t>3</a:t>
            </a:r>
            <a:endParaRPr lang="en-US" sz="1300" dirty="0"/>
          </a:p>
        </p:txBody>
      </p:sp>
      <p:sp>
        <p:nvSpPr>
          <p:cNvPr id="18" name="Text 15"/>
          <p:cNvSpPr txBox="1"/>
          <p:nvPr/>
        </p:nvSpPr>
        <p:spPr>
          <a:xfrm>
            <a:off x="1188720" y="5385816"/>
            <a:ext cx="1188720" cy="457200"/>
          </a:xfrm>
          <a:prstGeom prst="rect">
            <a:avLst/>
          </a:prstGeom>
          <a:noFill/>
          <a:ln/>
        </p:spPr>
        <p:txBody>
          <a:bodyPr wrap="square" lIns="0" tIns="0" rIns="0" bIns="0" rtlCol="0" anchor="ctr"/>
          <a:lstStyle/>
          <a:p>
            <a:pPr indent="0" marL="0">
              <a:buNone/>
            </a:pPr>
            <a:r>
              <a:rPr lang="en-US" sz="1400" b="1" dirty="0">
                <a:solidFill>
                  <a:schemeClr val="accent1"/>
                </a:solidFill>
              </a:rPr>
              <a:t>7–12개월</a:t>
            </a:r>
            <a:endParaRPr lang="en-US" sz="1400" dirty="0"/>
          </a:p>
        </p:txBody>
      </p:sp>
      <p:sp>
        <p:nvSpPr>
          <p:cNvPr id="19" name="Text 16"/>
          <p:cNvSpPr txBox="1"/>
          <p:nvPr/>
        </p:nvSpPr>
        <p:spPr>
          <a:xfrm>
            <a:off x="2377440" y="5385816"/>
            <a:ext cx="3840480" cy="457200"/>
          </a:xfrm>
          <a:prstGeom prst="rect">
            <a:avLst/>
          </a:prstGeom>
          <a:noFill/>
          <a:ln/>
        </p:spPr>
        <p:txBody>
          <a:bodyPr wrap="square" lIns="0" tIns="0" rIns="0" bIns="0" rtlCol="0" anchor="ctr"/>
          <a:lstStyle/>
          <a:p>
            <a:pPr indent="0" marL="0">
              <a:buNone/>
            </a:pPr>
            <a:r>
              <a:rPr lang="en-US" sz="1300" dirty="0">
                <a:solidFill>
                  <a:schemeClr val="bg1"/>
                </a:solidFill>
              </a:rPr>
              <a:t>유료 강사 확대 · 수중 레저로 확장 검토</a:t>
            </a:r>
            <a:endParaRPr lang="en-US" sz="1300" dirty="0"/>
          </a:p>
        </p:txBody>
      </p:sp>
      <p:sp>
        <p:nvSpPr>
          <p:cNvPr id="20" name="use of funds panel"/>
          <p:cNvSpPr/>
          <p:nvPr/>
        </p:nvSpPr>
        <p:spPr>
          <a:xfrm>
            <a:off x="6309360" y="1691640"/>
            <a:ext cx="5330952" cy="4434840"/>
          </a:xfrm>
          <a:prstGeom prst="roundRect">
            <a:avLst>
              <a:gd name="adj" fmla="val 2887"/>
            </a:avLst>
          </a:prstGeom>
          <a:solidFill>
            <a:schemeClr val="bg1">
              <a:alpha val="8000"/>
            </a:schemeClr>
          </a:solidFill>
          <a:ln w="9525">
            <a:solidFill>
              <a:schemeClr val="accent5">
                <a:alpha val="40000"/>
              </a:schemeClr>
            </a:solidFill>
            <a:prstDash val="solid"/>
          </a:ln>
        </p:spPr>
      </p:sp>
      <p:sp>
        <p:nvSpPr>
          <p:cNvPr id="21" name="Text 18"/>
          <p:cNvSpPr txBox="1"/>
          <p:nvPr/>
        </p:nvSpPr>
        <p:spPr>
          <a:xfrm>
            <a:off x="6583680" y="1874520"/>
            <a:ext cx="4846320" cy="320040"/>
          </a:xfrm>
          <a:prstGeom prst="rect">
            <a:avLst/>
          </a:prstGeom>
          <a:noFill/>
          <a:ln/>
        </p:spPr>
        <p:txBody>
          <a:bodyPr wrap="square" lIns="0" tIns="0" rIns="0" bIns="0" rtlCol="0" anchor="t"/>
          <a:lstStyle/>
          <a:p>
            <a:pPr indent="0" marL="0">
              <a:buNone/>
            </a:pPr>
            <a:r>
              <a:rPr lang="en-US" sz="1500" b="1" dirty="0">
                <a:solidFill>
                  <a:schemeClr val="bg1"/>
                </a:solidFill>
              </a:rPr>
              <a:t>자금 활용 계획 (안)</a:t>
            </a:r>
            <a:endParaRPr lang="en-US" sz="1500" dirty="0"/>
          </a:p>
        </p:txBody>
      </p:sp>
      <p:graphicFrame>
        <p:nvGraphicFramePr>
          <p:cNvPr id="22" name="use of funds chart" descr="마케팅 40%, 개발 35%, 보안·법률·인프라 15%, 운영 10%"/>
          <p:cNvGraphicFramePr/>
          <p:nvPr/>
        </p:nvGraphicFramePr>
        <p:xfrm>
          <a:off x="6492240" y="2286000"/>
          <a:ext cx="2651760" cy="2651760"/>
        </p:xfrm>
        <a:graphic xmlns:a="http://schemas.openxmlformats.org/drawingml/2006/main">
          <a:graphicData uri="http://schemas.openxmlformats.org/drawingml/2006/chart">
            <c:chart xmlns:c="http://schemas.openxmlformats.org/drawingml/2006/chart" r:id="rId1"/>
          </a:graphicData>
        </a:graphic>
      </p:graphicFrame>
      <p:sp>
        <p:nvSpPr>
          <p:cNvPr id="23" name="legend 0"/>
          <p:cNvSpPr/>
          <p:nvPr/>
        </p:nvSpPr>
        <p:spPr>
          <a:xfrm>
            <a:off x="9326880" y="2642616"/>
            <a:ext cx="146304" cy="146304"/>
          </a:xfrm>
          <a:prstGeom prst="ellipse">
            <a:avLst/>
          </a:prstGeom>
          <a:solidFill>
            <a:schemeClr val="accent1"/>
          </a:solidFill>
          <a:ln/>
        </p:spPr>
      </p:sp>
      <p:sp>
        <p:nvSpPr>
          <p:cNvPr id="24" name="Text 20"/>
          <p:cNvSpPr txBox="1"/>
          <p:nvPr/>
        </p:nvSpPr>
        <p:spPr>
          <a:xfrm>
            <a:off x="9555480" y="2514600"/>
            <a:ext cx="1554480" cy="411480"/>
          </a:xfrm>
          <a:prstGeom prst="rect">
            <a:avLst/>
          </a:prstGeom>
          <a:noFill/>
          <a:ln/>
        </p:spPr>
        <p:txBody>
          <a:bodyPr wrap="square" lIns="0" tIns="0" rIns="0" bIns="0" rtlCol="0" anchor="ctr"/>
          <a:lstStyle/>
          <a:p>
            <a:pPr indent="0" marL="0">
              <a:buNone/>
            </a:pPr>
            <a:r>
              <a:rPr lang="en-US" sz="1200" dirty="0">
                <a:solidFill>
                  <a:schemeClr val="bg1"/>
                </a:solidFill>
              </a:rPr>
              <a:t>강사 확보 마케팅</a:t>
            </a:r>
            <a:endParaRPr lang="en-US" sz="1200" dirty="0"/>
          </a:p>
        </p:txBody>
      </p:sp>
      <p:sp>
        <p:nvSpPr>
          <p:cNvPr id="25" name="Text 21"/>
          <p:cNvSpPr txBox="1"/>
          <p:nvPr/>
        </p:nvSpPr>
        <p:spPr>
          <a:xfrm>
            <a:off x="10972800" y="2514600"/>
            <a:ext cx="548640" cy="411480"/>
          </a:xfrm>
          <a:prstGeom prst="rect">
            <a:avLst/>
          </a:prstGeom>
          <a:noFill/>
          <a:ln/>
        </p:spPr>
        <p:txBody>
          <a:bodyPr wrap="square" lIns="0" tIns="0" rIns="0" bIns="0" rtlCol="0" anchor="ctr"/>
          <a:lstStyle/>
          <a:p>
            <a:pPr algn="r" indent="0" marL="0">
              <a:buNone/>
            </a:pPr>
            <a:r>
              <a:rPr lang="en-US" sz="1200" b="1" dirty="0">
                <a:solidFill>
                  <a:schemeClr val="bg1"/>
                </a:solidFill>
              </a:rPr>
              <a:t>40%</a:t>
            </a:r>
            <a:endParaRPr lang="en-US" sz="1200" dirty="0"/>
          </a:p>
        </p:txBody>
      </p:sp>
      <p:sp>
        <p:nvSpPr>
          <p:cNvPr id="26" name="legend 1"/>
          <p:cNvSpPr/>
          <p:nvPr/>
        </p:nvSpPr>
        <p:spPr>
          <a:xfrm>
            <a:off x="9326880" y="3209544"/>
            <a:ext cx="146304" cy="146304"/>
          </a:xfrm>
          <a:prstGeom prst="ellipse">
            <a:avLst/>
          </a:prstGeom>
          <a:solidFill>
            <a:schemeClr val="accent5"/>
          </a:solidFill>
          <a:ln/>
        </p:spPr>
      </p:sp>
      <p:sp>
        <p:nvSpPr>
          <p:cNvPr id="27" name="Text 23"/>
          <p:cNvSpPr txBox="1"/>
          <p:nvPr/>
        </p:nvSpPr>
        <p:spPr>
          <a:xfrm>
            <a:off x="9555480" y="3081528"/>
            <a:ext cx="1554480" cy="411480"/>
          </a:xfrm>
          <a:prstGeom prst="rect">
            <a:avLst/>
          </a:prstGeom>
          <a:noFill/>
          <a:ln/>
        </p:spPr>
        <p:txBody>
          <a:bodyPr wrap="square" lIns="0" tIns="0" rIns="0" bIns="0" rtlCol="0" anchor="ctr"/>
          <a:lstStyle/>
          <a:p>
            <a:pPr indent="0" marL="0">
              <a:buNone/>
            </a:pPr>
            <a:r>
              <a:rPr lang="en-US" sz="1200" dirty="0">
                <a:solidFill>
                  <a:schemeClr val="bg1"/>
                </a:solidFill>
              </a:rPr>
              <a:t>기능 고도화·개발</a:t>
            </a:r>
            <a:endParaRPr lang="en-US" sz="1200" dirty="0"/>
          </a:p>
        </p:txBody>
      </p:sp>
      <p:sp>
        <p:nvSpPr>
          <p:cNvPr id="28" name="Text 24"/>
          <p:cNvSpPr txBox="1"/>
          <p:nvPr/>
        </p:nvSpPr>
        <p:spPr>
          <a:xfrm>
            <a:off x="10972800" y="3081528"/>
            <a:ext cx="548640" cy="411480"/>
          </a:xfrm>
          <a:prstGeom prst="rect">
            <a:avLst/>
          </a:prstGeom>
          <a:noFill/>
          <a:ln/>
        </p:spPr>
        <p:txBody>
          <a:bodyPr wrap="square" lIns="0" tIns="0" rIns="0" bIns="0" rtlCol="0" anchor="ctr"/>
          <a:lstStyle/>
          <a:p>
            <a:pPr algn="r" indent="0" marL="0">
              <a:buNone/>
            </a:pPr>
            <a:r>
              <a:rPr lang="en-US" sz="1200" b="1" dirty="0">
                <a:solidFill>
                  <a:schemeClr val="bg1"/>
                </a:solidFill>
              </a:rPr>
              <a:t>35%</a:t>
            </a:r>
            <a:endParaRPr lang="en-US" sz="1200" dirty="0"/>
          </a:p>
        </p:txBody>
      </p:sp>
      <p:sp>
        <p:nvSpPr>
          <p:cNvPr id="29" name="legend 2"/>
          <p:cNvSpPr/>
          <p:nvPr/>
        </p:nvSpPr>
        <p:spPr>
          <a:xfrm>
            <a:off x="9326880" y="3776472"/>
            <a:ext cx="146304" cy="146304"/>
          </a:xfrm>
          <a:prstGeom prst="ellipse">
            <a:avLst/>
          </a:prstGeom>
          <a:solidFill>
            <a:schemeClr val="accent3"/>
          </a:solidFill>
          <a:ln/>
        </p:spPr>
      </p:sp>
      <p:sp>
        <p:nvSpPr>
          <p:cNvPr id="30" name="Text 26"/>
          <p:cNvSpPr txBox="1"/>
          <p:nvPr/>
        </p:nvSpPr>
        <p:spPr>
          <a:xfrm>
            <a:off x="9555480" y="3648456"/>
            <a:ext cx="1554480" cy="411480"/>
          </a:xfrm>
          <a:prstGeom prst="rect">
            <a:avLst/>
          </a:prstGeom>
          <a:noFill/>
          <a:ln/>
        </p:spPr>
        <p:txBody>
          <a:bodyPr wrap="square" lIns="0" tIns="0" rIns="0" bIns="0" rtlCol="0" anchor="ctr"/>
          <a:lstStyle/>
          <a:p>
            <a:pPr indent="0" marL="0">
              <a:buNone/>
            </a:pPr>
            <a:r>
              <a:rPr lang="en-US" sz="1200" dirty="0">
                <a:solidFill>
                  <a:schemeClr val="bg1"/>
                </a:solidFill>
              </a:rPr>
              <a:t>보안·법률·인프라</a:t>
            </a:r>
            <a:endParaRPr lang="en-US" sz="1200" dirty="0"/>
          </a:p>
        </p:txBody>
      </p:sp>
      <p:sp>
        <p:nvSpPr>
          <p:cNvPr id="31" name="Text 27"/>
          <p:cNvSpPr txBox="1"/>
          <p:nvPr/>
        </p:nvSpPr>
        <p:spPr>
          <a:xfrm>
            <a:off x="10972800" y="3648456"/>
            <a:ext cx="548640" cy="411480"/>
          </a:xfrm>
          <a:prstGeom prst="rect">
            <a:avLst/>
          </a:prstGeom>
          <a:noFill/>
          <a:ln/>
        </p:spPr>
        <p:txBody>
          <a:bodyPr wrap="square" lIns="0" tIns="0" rIns="0" bIns="0" rtlCol="0" anchor="ctr"/>
          <a:lstStyle/>
          <a:p>
            <a:pPr algn="r" indent="0" marL="0">
              <a:buNone/>
            </a:pPr>
            <a:r>
              <a:rPr lang="en-US" sz="1200" b="1" dirty="0">
                <a:solidFill>
                  <a:schemeClr val="bg1"/>
                </a:solidFill>
              </a:rPr>
              <a:t>15%</a:t>
            </a:r>
            <a:endParaRPr lang="en-US" sz="1200" dirty="0"/>
          </a:p>
        </p:txBody>
      </p:sp>
      <p:sp>
        <p:nvSpPr>
          <p:cNvPr id="32" name="legend 3"/>
          <p:cNvSpPr/>
          <p:nvPr/>
        </p:nvSpPr>
        <p:spPr>
          <a:xfrm>
            <a:off x="9326880" y="4343400"/>
            <a:ext cx="146304" cy="146304"/>
          </a:xfrm>
          <a:prstGeom prst="ellipse">
            <a:avLst/>
          </a:prstGeom>
          <a:solidFill>
            <a:schemeClr val="accent6"/>
          </a:solidFill>
          <a:ln/>
        </p:spPr>
      </p:sp>
      <p:sp>
        <p:nvSpPr>
          <p:cNvPr id="33" name="Text 29"/>
          <p:cNvSpPr txBox="1"/>
          <p:nvPr/>
        </p:nvSpPr>
        <p:spPr>
          <a:xfrm>
            <a:off x="9555480" y="4215384"/>
            <a:ext cx="1554480" cy="411480"/>
          </a:xfrm>
          <a:prstGeom prst="rect">
            <a:avLst/>
          </a:prstGeom>
          <a:noFill/>
          <a:ln/>
        </p:spPr>
        <p:txBody>
          <a:bodyPr wrap="square" lIns="0" tIns="0" rIns="0" bIns="0" rtlCol="0" anchor="ctr"/>
          <a:lstStyle/>
          <a:p>
            <a:pPr indent="0" marL="0">
              <a:buNone/>
            </a:pPr>
            <a:r>
              <a:rPr lang="en-US" sz="1200" dirty="0">
                <a:solidFill>
                  <a:schemeClr val="bg1"/>
                </a:solidFill>
              </a:rPr>
              <a:t>운영</a:t>
            </a:r>
            <a:endParaRPr lang="en-US" sz="1200" dirty="0"/>
          </a:p>
        </p:txBody>
      </p:sp>
      <p:sp>
        <p:nvSpPr>
          <p:cNvPr id="34" name="Text 30"/>
          <p:cNvSpPr txBox="1"/>
          <p:nvPr/>
        </p:nvSpPr>
        <p:spPr>
          <a:xfrm>
            <a:off x="10972800" y="4215384"/>
            <a:ext cx="548640" cy="411480"/>
          </a:xfrm>
          <a:prstGeom prst="rect">
            <a:avLst/>
          </a:prstGeom>
          <a:noFill/>
          <a:ln/>
        </p:spPr>
        <p:txBody>
          <a:bodyPr wrap="square" lIns="0" tIns="0" rIns="0" bIns="0" rtlCol="0" anchor="ctr"/>
          <a:lstStyle/>
          <a:p>
            <a:pPr algn="r" indent="0" marL="0">
              <a:buNone/>
            </a:pPr>
            <a:r>
              <a:rPr lang="en-US" sz="1200" b="1" dirty="0">
                <a:solidFill>
                  <a:schemeClr val="bg1"/>
                </a:solidFill>
              </a:rPr>
              <a:t>10%</a:t>
            </a:r>
            <a:endParaRPr lang="en-US" sz="1200" dirty="0"/>
          </a:p>
        </p:txBody>
      </p:sp>
      <p:sp>
        <p:nvSpPr>
          <p:cNvPr id="35" name="Text 31"/>
          <p:cNvSpPr txBox="1"/>
          <p:nvPr/>
        </p:nvSpPr>
        <p:spPr>
          <a:xfrm>
            <a:off x="6583680" y="5166360"/>
            <a:ext cx="4846320" cy="548640"/>
          </a:xfrm>
          <a:prstGeom prst="rect">
            <a:avLst/>
          </a:prstGeom>
          <a:noFill/>
          <a:ln/>
        </p:spPr>
        <p:txBody>
          <a:bodyPr wrap="square" lIns="0" tIns="0" rIns="0" bIns="0" rtlCol="0" anchor="t"/>
          <a:lstStyle/>
          <a:p>
            <a:pPr indent="0" marL="0">
              <a:buNone/>
            </a:pPr>
            <a:r>
              <a:rPr lang="en-US" sz="1100" dirty="0">
                <a:solidFill>
                  <a:schemeClr val="accent5"/>
                </a:solidFill>
              </a:rPr>
              <a:t>비율은 제안 단계의 계획이며 투자 협의 과정에서 조정합니다.</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548640" y="1463040"/>
            <a:ext cx="6400800" cy="548640"/>
          </a:xfrm>
          <a:prstGeom prst="rect">
            <a:avLst/>
          </a:prstGeom>
          <a:noFill/>
          <a:ln/>
        </p:spPr>
        <p:txBody>
          <a:bodyPr wrap="square" lIns="0" tIns="0" rIns="0" bIns="0" rtlCol="0" anchor="t"/>
          <a:lstStyle/>
          <a:p>
            <a:pPr indent="0" marL="0">
              <a:buNone/>
            </a:pPr>
            <a:r>
              <a:rPr lang="en-US" sz="2200" b="1" dirty="0">
                <a:solidFill>
                  <a:schemeClr val="accent1"/>
                </a:solidFill>
              </a:rPr>
              <a:t>AllBlue</a:t>
            </a:r>
            <a:endParaRPr lang="en-US" sz="2200" dirty="0"/>
          </a:p>
        </p:txBody>
      </p:sp>
      <p:sp>
        <p:nvSpPr>
          <p:cNvPr id="4" name="Text 1"/>
          <p:cNvSpPr txBox="1"/>
          <p:nvPr/>
        </p:nvSpPr>
        <p:spPr>
          <a:xfrm>
            <a:off x="548640" y="2103120"/>
            <a:ext cx="6675120" cy="1737360"/>
          </a:xfrm>
          <a:prstGeom prst="rect">
            <a:avLst/>
          </a:prstGeom>
          <a:noFill/>
          <a:ln/>
        </p:spPr>
        <p:txBody>
          <a:bodyPr wrap="square" lIns="0" tIns="0" rIns="0" bIns="0" rtlCol="0" anchor="t"/>
          <a:lstStyle/>
          <a:p>
            <a:pPr indent="0" marL="0">
              <a:buNone/>
            </a:pPr>
            <a:r>
              <a:rPr lang="en-US" sz="4800" b="1" dirty="0">
                <a:solidFill>
                  <a:schemeClr val="bg1"/>
                </a:solidFill>
              </a:rPr>
              <a:t>수업이 끝나도,</a:t>
            </a:r>
            <a:endParaRPr lang="en-US" sz="4800" dirty="0"/>
          </a:p>
          <a:p>
            <a:pPr indent="0" marL="0">
              <a:buNone/>
            </a:pPr>
            <a:r>
              <a:rPr lang="en-US" sz="4800" b="1" dirty="0">
                <a:solidFill>
                  <a:schemeClr val="bg1"/>
                </a:solidFill>
              </a:rPr>
              <a:t>기록은 이어집니다</a:t>
            </a:r>
            <a:endParaRPr lang="en-US" sz="4800" dirty="0"/>
          </a:p>
        </p:txBody>
      </p:sp>
      <p:sp>
        <p:nvSpPr>
          <p:cNvPr id="5" name="Text 2"/>
          <p:cNvSpPr txBox="1"/>
          <p:nvPr/>
        </p:nvSpPr>
        <p:spPr>
          <a:xfrm>
            <a:off x="548640" y="3931920"/>
            <a:ext cx="6400800" cy="685800"/>
          </a:xfrm>
          <a:prstGeom prst="rect">
            <a:avLst/>
          </a:prstGeom>
          <a:noFill/>
          <a:ln/>
        </p:spPr>
        <p:txBody>
          <a:bodyPr wrap="square" lIns="0" tIns="0" rIns="0" bIns="0" rtlCol="0" anchor="t"/>
          <a:lstStyle/>
          <a:p>
            <a:pPr indent="0" marL="0">
              <a:buNone/>
            </a:pPr>
            <a:r>
              <a:rPr lang="en-US" sz="1500" dirty="0">
                <a:solidFill>
                  <a:schemeClr val="accent6"/>
                </a:solidFill>
              </a:rPr>
              <a:t>프리다이빙 강사와 교육생을 위한 교육 운영 앱</a:t>
            </a:r>
            <a:endParaRPr lang="en-US" sz="1500" dirty="0"/>
          </a:p>
          <a:p>
            <a:pPr indent="0" marL="0">
              <a:buNone/>
            </a:pPr>
            <a:r>
              <a:rPr lang="en-US" sz="1500" dirty="0">
                <a:solidFill>
                  <a:schemeClr val="accent6"/>
                </a:solidFill>
              </a:rPr>
              <a:t>2026년 10월 정식 출시 예정</a:t>
            </a:r>
            <a:endParaRPr lang="en-US" sz="1500" dirty="0"/>
          </a:p>
        </p:txBody>
      </p:sp>
      <p:sp>
        <p:nvSpPr>
          <p:cNvPr id="6" name="Text 3"/>
          <p:cNvSpPr txBox="1"/>
          <p:nvPr/>
        </p:nvSpPr>
        <p:spPr>
          <a:xfrm>
            <a:off x="548640" y="5120640"/>
            <a:ext cx="4572000" cy="548640"/>
          </a:xfrm>
          <a:prstGeom prst="rect">
            <a:avLst/>
          </a:prstGeom>
          <a:noFill/>
          <a:ln/>
        </p:spPr>
        <p:txBody>
          <a:bodyPr wrap="square" lIns="0" tIns="0" rIns="0" bIns="0" rtlCol="0" anchor="t"/>
          <a:lstStyle/>
          <a:p>
            <a:pPr indent="0" marL="0">
              <a:buNone/>
            </a:pPr>
            <a:r>
              <a:rPr lang="en-US" sz="2200" b="1" dirty="0">
                <a:solidFill>
                  <a:schemeClr val="bg1"/>
                </a:solidFill>
              </a:rPr>
              <a:t>rumbau.studio@gmail.com</a:t>
            </a:r>
            <a:endParaRPr lang="en-US" sz="2200" dirty="0"/>
          </a:p>
        </p:txBody>
      </p:sp>
      <p:sp>
        <p:nvSpPr>
          <p:cNvPr id="7" name="Text 4"/>
          <p:cNvSpPr txBox="1"/>
          <p:nvPr/>
        </p:nvSpPr>
        <p:spPr>
          <a:xfrm>
            <a:off x="548640" y="5715000"/>
            <a:ext cx="4572000" cy="320040"/>
          </a:xfrm>
          <a:prstGeom prst="rect">
            <a:avLst/>
          </a:prstGeom>
          <a:noFill/>
          <a:ln/>
        </p:spPr>
        <p:txBody>
          <a:bodyPr wrap="square" lIns="0" tIns="0" rIns="0" bIns="0" rtlCol="0" anchor="t"/>
          <a:lstStyle/>
          <a:p>
            <a:pPr indent="0" marL="0">
              <a:buNone/>
            </a:pPr>
            <a:r>
              <a:rPr lang="en-US" sz="1400" dirty="0">
                <a:solidFill>
                  <a:schemeClr val="accent5"/>
                </a:solidFill>
              </a:rPr>
              <a:t>럼바우  |  대표 남상현</a:t>
            </a:r>
            <a:endParaRPr lang="en-US" sz="1400" dirty="0"/>
          </a:p>
        </p:txBody>
      </p:sp>
      <p:pic>
        <p:nvPicPr>
          <p:cNvPr id="8" name="phone 10_feature_8.png" descr="AllBlue 앱 화면">    </p:cNvPr>
          <p:cNvPicPr>
            <a:picLocks noChangeAspect="1"/>
          </p:cNvPicPr>
          <p:nvPr/>
        </p:nvPicPr>
        <p:blipFill>
          <a:blip r:embed="rId1"/>
          <a:stretch>
            <a:fillRect/>
          </a:stretch>
        </p:blipFill>
        <p:spPr>
          <a:xfrm rot="-420000">
            <a:off x="7315200" y="1371600"/>
            <a:ext cx="2132608" cy="4480560"/>
          </a:xfrm>
          <a:prstGeom prst="rect">
            <a:avLst/>
          </a:prstGeom>
        </p:spPr>
      </p:pic>
      <p:pic>
        <p:nvPicPr>
          <p:cNvPr id="9" name="phone 09_feature_7.png" descr="AllBlue 앱 화면">    </p:cNvPr>
          <p:cNvPicPr>
            <a:picLocks noChangeAspect="1"/>
          </p:cNvPicPr>
          <p:nvPr/>
        </p:nvPicPr>
        <p:blipFill>
          <a:blip r:embed="rId2"/>
          <a:stretch>
            <a:fillRect/>
          </a:stretch>
        </p:blipFill>
        <p:spPr>
          <a:xfrm rot="300000">
            <a:off x="9281160" y="914400"/>
            <a:ext cx="2437266" cy="5120640"/>
          </a:xfrm>
          <a:prstGeom prst="rect">
            <a:avLst/>
          </a:prstGeom>
          <a:effectLst>
            <a:outerShdw sx="100000" sy="100000" kx="0" ky="0" algn="bl" rotWithShape="0" blurRad="228600" dist="76200" dir="5400000">
              <a:srgbClr val="000000">
                <a:alpha val="35000"/>
              </a:srgbClr>
            </a:outerShdw>
          </a:effectLst>
        </p:spPr>
      </p:pic>
    </p:spTree>
  </p:cSld>
  <p:clrMapOvr>
    <a:masterClrMapping/>
  </p:clrMapOvr>
</p:sld>
</file>

<file path=ppt/theme/theme1.xml><?xml version="1.0" encoding="utf-8"?>
<a:theme xmlns:a="http://schemas.openxmlformats.org/drawingml/2006/main" name="AllBlue Deep Sea">
  <a:themeElements>
    <a:clrScheme name="AllBlue Deep Sea">
      <a:dk1>
        <a:srgbClr val="0F2A44"/>
      </a:dk1>
      <a:lt1>
        <a:srgbClr val="FFFFFF"/>
      </a:lt1>
      <a:dk2>
        <a:srgbClr val="0A2540"/>
      </a:dk2>
      <a:lt2>
        <a:srgbClr val="F2F6FA"/>
      </a:lt2>
      <a:accent1>
        <a:srgbClr val="2EC4E8"/>
      </a:accent1>
      <a:accent2>
        <a:srgbClr val="1B4F8A"/>
      </a:accent2>
      <a:accent3>
        <a:srgbClr val="F2A33A"/>
      </a:accent3>
      <a:accent4>
        <a:srgbClr val="5D738A"/>
      </a:accent4>
      <a:accent5>
        <a:srgbClr val="9FC3DE"/>
      </a:accent5>
      <a:accent6>
        <a:srgbClr val="DCEAF5"/>
      </a:accent6>
      <a:hlink>
        <a:srgbClr val="1B4F8A"/>
      </a:hlink>
      <a:folHlink>
        <a:srgbClr val="5D738A"/>
      </a:folHlink>
    </a:clrScheme>
    <a:fontScheme name="AllBlue Deep Sea">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AllBlue IR - Seed</dc:title>
  <dc:subject>PptxGenJS Presentation</dc:subject>
  <dc:creator>럼바우 남상현</dc:creator>
  <cp:lastModifiedBy>럼바우 남상현</cp:lastModifiedBy>
  <cp:revision>1</cp:revision>
  <dcterms:created xsi:type="dcterms:W3CDTF">2026-10-20T06:52:55Z</dcterms:created>
  <dcterms:modified xsi:type="dcterms:W3CDTF">2026-10-20T06:52:55Z</dcterms:modified>
</cp:coreProperties>
</file>