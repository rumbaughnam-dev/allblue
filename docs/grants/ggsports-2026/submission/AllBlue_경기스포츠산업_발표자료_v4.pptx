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34dff957-de0a-b196-dd90-f7f4e04b7097}">
          <p14:sldIdLst>
            <p14:sldId id="256"/>
            <p14:sldId id="257"/>
          </p14:sldIdLst>
        </p14:section>
        <p14:section name="문제와 해결" id="{7ef089aa-3207-c2a9-e709-841a377c010e}">
          <p14:sldIdLst>
            <p14:sldId id="258"/>
            <p14:sldId id="259"/>
          </p14:sldIdLst>
        </p14:section>
        <p14:section name="제품" id="{865f56da-5cf3-3b0e-e7e5-459feecf3fc2}">
          <p14:sldIdLst>
            <p14:sldId id="260"/>
            <p14:sldId id="261"/>
            <p14:sldId id="262"/>
          </p14:sldIdLst>
        </p14:section>
        <p14:section name="사업" id="{6e0df7c3-3468-b32d-7c7a-0e9d251b9437}">
          <p14:sldIdLst>
            <p14:sldId id="263"/>
            <p14:sldId id="264"/>
            <p14:sldId id="265"/>
          </p14:sldIdLst>
        </p14:section>
        <p14:section name="팀과 마무리" id="{4b130262-590e-bc41-c8df-0f3711deed73}">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12개월 결제액(만원)</c:v>
                </c:pt>
              </c:strCache>
            </c:strRef>
          </c:tx>
          <c:spPr>
            <a:solidFill>
              <a:srgbClr val="2EC4E8"/>
            </a:solidFill>
            <a:effectLst/>
          </c:spPr>
          <c:invertIfNegative val="0"/>
          <c:dLbls>
            <c:numFmt formatCode="#,##0&quot;만원&quot;" sourceLinked="0"/>
            <c:txPr>
              <a:bodyPr/>
              <a:lstStyle/>
              <a:p>
                <a:pPr>
                  <a:defRPr b="1" i="0" strike="noStrike" sz="1300" u="none">
                    <a:solidFill>
                      <a:srgbClr val="FFFFFF"/>
                    </a:solidFill>
                    <a:latin typeface="+mn-lt"/>
                  </a:defRPr>
                </a:pPr>
              </a:p>
            </c:txPr>
            <c:showLegendKey val="0"/>
            <c:showVal val="1"/>
            <c:showCatName val="0"/>
            <c:showSerName val="0"/>
            <c:showPercent val="0"/>
            <c:showBubbleSize val="0"/>
            <c:showLeaderLines val="0"/>
          </c:dLbls>
          <c:cat>
            <c:multiLvlStrRef>
              <c:f>Sheet1!$A$2:$A$4</c:f>
              <c:multiLvlStrCache>
                <c:ptCount val="3"/>
                <c:lvl>
                  <c:pt idx="0">
                    <c:v>100명</c:v>
                  </c:pt>
                  <c:pt idx="1">
                    <c:v>300명</c:v>
                  </c:pt>
                  <c:pt idx="2">
                    <c:v>1,000명</c:v>
                  </c:pt>
                </c:lvl>
              </c:multiLvlStrCache>
            </c:multiLvlStrRef>
          </c:cat>
          <c:val>
            <c:numRef>
              <c:f>Sheet1!$B$2:$B$4</c:f>
              <c:numCache>
                <c:formatCode>General</c:formatCode>
                <c:ptCount val="3"/>
                <c:pt idx="0">
                  <c:v>351</c:v>
                </c:pt>
                <c:pt idx="1">
                  <c:v>1053</c:v>
                </c:pt>
                <c:pt idx="2">
                  <c:v>3510</c:v>
                </c:pt>
              </c:numCache>
            </c:numRef>
          </c:val>
        </c:ser>
        <c:dLbls>
          <c:numFmt formatCode="#,##0&quot;만원&quot;" sourceLinked="0"/>
          <c:txPr>
            <a:bodyPr/>
            <a:lstStyle/>
            <a:p>
              <a:pPr>
                <a:defRPr b="1" i="0" strike="noStrike" sz="1300" u="none">
                  <a:solidFill>
                    <a:srgbClr val="FFFFFF"/>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DCEAF5"/>
                </a:solidFill>
                <a:latin typeface="+mn-lt"/>
              </a:defRPr>
            </a:pPr>
            <a:endParaRPr lang="en-US"/>
          </a:p>
        </c:txPr>
        <c:crossAx val="2094734552"/>
        <c:crosses val="autoZero"/>
        <c:auto val="1"/>
        <c:lblAlgn val="ctr"/>
        <c:noMultiLvlLbl val="1"/>
      </c:catAx>
      <c:valAx>
        <c:axId val="2094734552"/>
        <c:scaling>
          <c:orientation val="minMax"/>
          <c:max val="420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[20초] 안녕하세요, 럼바우 대표 남상현입니다. AllBlue는 프리다이빙 강사의 수업 일정, 교육생 진도, 수업 후 피드백을 하나로 연결하는 앱입니다. 현재 정식 출시 전이며 2026년 10월 안에 출시할 예정입니다.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[30초] 발표 내용을 먼저 요약하겠습니다. 문제는 흩어진 교육 기록입니다. 해결책은 한 번의 수업에 필요한 기록을 앱 안에서 연결하는 것이고, 강사에게 월 3,900원 구독료를 받는 모델입니다. 개발은 마쳤고 운영 환경에서 테스트 중이며 10월 안에 정식 출시합니다.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[45초] 프리다이빙 교육 현장에서 교육생 진도를 엑셀로 관리하는 경우를 많이 보았습니다. 일정 안내, 면책동의서와 의료진술서, 수업 후 피드백까지 따로 관리하면 한 교육생의 정보를 여러 곳에서 찾아야 합니다. 수업 전에는 지난 진도를 찾고, 수업 후에는 배운 내용을 정리하고, 다음 수업 때 기록을 다시 확인합니다. 이 반복 업무에서 AllBlue가 출발했습니다. 이는 대표자와 협업 강사의 현장 관찰이며 업계 전체 통계는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[35초] AllBlue는 한 번의 수업을 중심으로 기록을 모읍니다. 강사가 일정을 만들고 교육생을 초대하면 교육생이 참석 여부를 응답합니다. 일정 상세에서 참가자별 서류 상태와 교육 진도를 확인하고, 수업 뒤에는 이수 항목과 디브리핑을 남겨 다음 수업에서 다시 참고합니다.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[40초] 수업 전 화면입니다. 월간 캘린더에서 한 달의 수업 일정을 보고, 날짜별 수업과 참여 교육생을 확인합니다. 일정 상세에서는 교육생별 면책동의서와 의료진술서 제출 상태를 확인하고 URL로 공유할 수 있습니다. 화면은 실제 앱 화면입니다.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[40초] 수업 후 화면입니다. 교육생마다 AIDA 과정별 개방수역과 풀 요건을 항목별로 체크합니다. 수업이 끝나면 통과 처리와 피드백 메모를 한 화면에서 기록하고, 다음 수업 준비 때 다시 조회합니다. 앱은 기록 도구이며 교육과 자격 판단은 강사가 맡습니다.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[60초, 시연 45초 포함] 이제 실제 앱으로 한 번의 수업을 따라가 보겠습니다. 테스트용 일정을 선택하고, 참여 교육생과 서류 상태를 확인한 뒤, 과정별 진도를 보고, 디브리핑을 저장하겠습니다. 네트워크가 불안정하면 이 화면과 앞의 캡처로 설명합니다.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[30초] 엑셀과 메신저는 익숙하지만 기록이 흩어집니다. 다이빙 분야에는 MySSI처럼 디지털 교육, 자격증과 로그북을 제공하는 앱이 있습니다. AllBlue는 강사가 매번 반복하는 수업 운영, 즉 참석과 서류 확인, 진도와 피드백이 자연스럽게 이어지는지에 집중합니다. 출시 후에는 같은 수업을 기존 도구와 AllBlue로 준비해 비교하겠습니다.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[40초] 비용은 강사에게만 받습니다. 월 3,900원이며 처음 3개월은 무료로 제공해 실제 수업에 적용해 볼 시간을 줍니다. 교육생은 별도 구독료 없이 함께 사용합니다. 오른쪽은 목표가 아니라 가격 계산 예시입니다. 유료 강사 300명이면 12개월 결제액은 약 1,053만 원으로, 초기에는 협업 채널로 고객 확보 비용을 줄이고 운영비를 관리해야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[40초] 10월 정식 출시 후, 협업 채널을 통해 강사를 모으고 3개월 무료 체험 동안 실제 교육과정에 적용합니다. 체험이 끝나면 유료 전환과 해지 사유를 확인합니다. 활성 강사 수, 디브리핑 작성 비율, 첫 수업 이후 재사용 비율을 보겠습니다. 아직 측정 결과는 없습니다. 프리다이빙에서 검증한 뒤 다른 종목의 교육·훈련 관리와 대회 참가자의 사전교육 기록으로 확장을 제안합니다. 이는 협약이나 구현 전 단계의 제안입니다.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[30초] 저는 개발 14년차이고 프리다이빙은 3년째, AIDA Level 2 자격을 보유하고 있습니다. 내부 인력은 저 한 명으로 개발과 운영을 맡고, AIDA Instructor 자격을 가진 협업자가 현장 의견을 주며, 유튜브 먹보야 놀자와 홍보를 준비하고 있습니다. 문제를 직접 겪는 개발자로서 다음 수업에도 쓰이는 제품을 만들겠습니다.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[10초] AllBlue는 수업이 끝난 뒤에도 기록이 이어지는 프리다이빙 교육을 만들겠습니다.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LIGHT-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AllBlue  ·  2026 경기스포츠산업 공모전</a:t>
            </a:r>
            <a:endParaRPr lang="en-US" sz="1000" dirty="0"/>
          </a:p>
        </p:txBody>
      </p:sp>
      <p:sp>
        <p:nvSpPr>
          <p:cNvPr id="3" name="Text 1"/>
          <p:cNvSpPr/>
          <p:nvPr>
            <p:ph idx="101" type="body" hasCustomPrompt="1"/>
          </p:nvPr>
        </p:nvSpPr>
        <p:spPr>
          <a:xfrm>
            <a:off x="548640" y="347472"/>
            <a:ext cx="7315200" cy="292608"/>
          </a:xfrm>
          <a:prstGeom prst="rect">
            <a:avLst/>
          </a:prstGeom>
          <a:noFill/>
          <a:ln/>
        </p:spPr>
        <p:txBody>
          <a:bodyPr wrap="square" rtlCol="0"/>
          <a:lstStyle>
            <a:lvl1pPr indent="0" marL="0">
              <a:buNone/>
              <a:defRPr lang="en-US" sz="1300" b="1" spc="100" kern="0" dirty="0">
                <a:solidFill>
                  <a:schemeClr val="accent1"/>
                </a:solidFill>
              </a:defRPr>
            </a:lvl1pPr>
          </a:lstStyle>
          <a:p>
            <a:pPr indent="0" marL="0">
              <a:buNone/>
            </a:pPr>
            <a:endParaRPr lang="en-US" sz="1300" dirty="0"/>
          </a:p>
        </p:txBody>
      </p:sp>
      <p:sp>
        <p:nvSpPr>
          <p:cNvPr id="4" name="Text 1"/>
          <p:cNvSpPr/>
          <p:nvPr>
            <p:ph idx="102" type="title" hasCustomPrompt="1"/>
          </p:nvPr>
        </p:nvSpPr>
        <p:spPr>
          <a:xfrm>
            <a:off x="548640" y="658368"/>
            <a:ext cx="11094415" cy="7315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AllBlue  ·  2026 경기스포츠산업 공모전</a:t>
            </a:r>
            <a:endParaRPr lang="en-US" sz="1000" dirty="0"/>
          </a:p>
        </p:txBody>
      </p:sp>
      <p:sp>
        <p:nvSpPr>
          <p:cNvPr id="3" name="Text 1"/>
          <p:cNvSpPr/>
          <p:nvPr>
            <p:ph idx="101" type="body" hasCustomPrompt="1"/>
          </p:nvPr>
        </p:nvSpPr>
        <p:spPr>
          <a:xfrm>
            <a:off x="548640" y="347472"/>
            <a:ext cx="7315200" cy="292608"/>
          </a:xfrm>
          <a:prstGeom prst="rect">
            <a:avLst/>
          </a:prstGeom>
          <a:noFill/>
          <a:ln/>
        </p:spPr>
        <p:txBody>
          <a:bodyPr wrap="square" rtlCol="0"/>
          <a:lstStyle>
            <a:lvl1pPr indent="0" marL="0">
              <a:buNone/>
              <a:defRPr lang="en-US" sz="1300" b="1" spc="100" kern="0" dirty="0">
                <a:solidFill>
                  <a:schemeClr val="accent2"/>
                </a:solidFill>
              </a:defRPr>
            </a:lvl1pPr>
          </a:lstStyle>
          <a:p>
            <a:pPr indent="0" marL="0">
              <a:buNone/>
            </a:pPr>
            <a:endParaRPr lang="en-US" sz="1300" dirty="0"/>
          </a:p>
        </p:txBody>
      </p:sp>
      <p:sp>
        <p:nvSpPr>
          <p:cNvPr id="4" name="Text 1"/>
          <p:cNvSpPr/>
          <p:nvPr>
            <p:ph idx="102" type="title" hasCustomPrompt="1"/>
          </p:nvPr>
        </p:nvSpPr>
        <p:spPr>
          <a:xfrm>
            <a:off x="548640" y="658368"/>
            <a:ext cx="11094415"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4.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2.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category chip"/>
          <p:cNvSpPr/>
          <p:nvPr/>
        </p:nvSpPr>
        <p:spPr>
          <a:xfrm>
            <a:off x="548640" y="822960"/>
            <a:ext cx="2331720" cy="384048"/>
          </a:xfrm>
          <a:prstGeom prst="roundRect">
            <a:avLst>
              <a:gd name="adj" fmla="val 50000"/>
            </a:avLst>
          </a:prstGeom>
          <a:solidFill>
            <a:schemeClr val="accent1">
              <a:alpha val="18000"/>
            </a:schemeClr>
          </a:solidFill>
          <a:ln w="12700">
            <a:solidFill>
              <a:schemeClr val="accent1"/>
            </a:solidFill>
            <a:prstDash val="solid"/>
          </a:ln>
        </p:spPr>
      </p:sp>
      <p:sp>
        <p:nvSpPr>
          <p:cNvPr id="4" name="Text 1"/>
          <p:cNvSpPr txBox="1"/>
          <p:nvPr/>
        </p:nvSpPr>
        <p:spPr>
          <a:xfrm>
            <a:off x="548640" y="822960"/>
            <a:ext cx="2331720" cy="384048"/>
          </a:xfrm>
          <a:prstGeom prst="rect">
            <a:avLst/>
          </a:prstGeom>
          <a:noFill/>
          <a:ln/>
        </p:spPr>
        <p:txBody>
          <a:bodyPr wrap="square" lIns="0" tIns="0" rIns="0" bIns="0" rtlCol="0" anchor="ctr"/>
          <a:lstStyle/>
          <a:p>
            <a:pPr algn="ctr" indent="0" marL="0">
              <a:buNone/>
            </a:pPr>
            <a:r>
              <a:rPr lang="en-US" sz="1200" b="1" dirty="0">
                <a:solidFill>
                  <a:schemeClr val="accent1"/>
                </a:solidFill>
              </a:rPr>
              <a:t>대회 운영 · 관리 기술</a:t>
            </a:r>
            <a:endParaRPr lang="en-US" sz="1200" dirty="0"/>
          </a:p>
        </p:txBody>
      </p:sp>
      <p:sp>
        <p:nvSpPr>
          <p:cNvPr id="5" name="Text 2"/>
          <p:cNvSpPr txBox="1"/>
          <p:nvPr/>
        </p:nvSpPr>
        <p:spPr>
          <a:xfrm>
            <a:off x="548640" y="1600200"/>
            <a:ext cx="6400800" cy="1280160"/>
          </a:xfrm>
          <a:prstGeom prst="rect">
            <a:avLst/>
          </a:prstGeom>
          <a:noFill/>
          <a:ln/>
        </p:spPr>
        <p:txBody>
          <a:bodyPr wrap="square" lIns="0" tIns="0" rIns="0" bIns="0" rtlCol="0" anchor="ctr"/>
          <a:lstStyle/>
          <a:p>
            <a:pPr indent="0" marL="0">
              <a:buNone/>
            </a:pPr>
            <a:r>
              <a:rPr lang="en-US" sz="8000" b="1" dirty="0">
                <a:solidFill>
                  <a:schemeClr val="bg1"/>
                </a:solidFill>
              </a:rPr>
              <a:t>AllBlue</a:t>
            </a:r>
            <a:endParaRPr lang="en-US" sz="8000" dirty="0"/>
          </a:p>
        </p:txBody>
      </p:sp>
      <p:sp>
        <p:nvSpPr>
          <p:cNvPr id="6" name="Text 3"/>
          <p:cNvSpPr txBox="1"/>
          <p:nvPr/>
        </p:nvSpPr>
        <p:spPr>
          <a:xfrm>
            <a:off x="548640" y="3017520"/>
            <a:ext cx="6400800" cy="1371600"/>
          </a:xfrm>
          <a:prstGeom prst="rect">
            <a:avLst/>
          </a:prstGeom>
          <a:noFill/>
          <a:ln/>
        </p:spPr>
        <p:txBody>
          <a:bodyPr wrap="square" lIns="0" tIns="0" rIns="0" bIns="0" rtlCol="0" anchor="t"/>
          <a:lstStyle/>
          <a:p>
            <a:pPr indent="0" marL="0">
              <a:buNone/>
            </a:pPr>
            <a:r>
              <a:rPr lang="en-US" sz="3600" b="1" dirty="0">
                <a:solidFill>
                  <a:schemeClr val="bg1"/>
                </a:solidFill>
              </a:rPr>
              <a:t>프리다이빙 교육,</a:t>
            </a:r>
            <a:endParaRPr lang="en-US" sz="3600" dirty="0"/>
          </a:p>
          <a:p>
            <a:pPr indent="0" marL="0">
              <a:buNone/>
            </a:pPr>
            <a:r>
              <a:rPr lang="en-US" sz="3600" b="1" dirty="0">
                <a:solidFill>
                  <a:schemeClr val="bg1"/>
                </a:solidFill>
              </a:rPr>
              <a:t>수업 다음까지 </a:t>
            </a:r>
            <a:pPr indent="0" marL="0">
              <a:buNone/>
            </a:pPr>
            <a:r>
              <a:rPr lang="en-US" sz="3600" b="1" dirty="0">
                <a:solidFill>
                  <a:schemeClr val="accent1"/>
                </a:solidFill>
              </a:rPr>
              <a:t>이어지게</a:t>
            </a:r>
            <a:endParaRPr lang="en-US" sz="3600" dirty="0"/>
          </a:p>
        </p:txBody>
      </p:sp>
      <p:sp>
        <p:nvSpPr>
          <p:cNvPr id="7" name="Text 4"/>
          <p:cNvSpPr txBox="1"/>
          <p:nvPr/>
        </p:nvSpPr>
        <p:spPr>
          <a:xfrm>
            <a:off x="548640" y="4480560"/>
            <a:ext cx="6035040" cy="685800"/>
          </a:xfrm>
          <a:prstGeom prst="rect">
            <a:avLst/>
          </a:prstGeom>
          <a:noFill/>
          <a:ln/>
        </p:spPr>
        <p:txBody>
          <a:bodyPr wrap="square" lIns="0" tIns="0" rIns="0" bIns="0" rtlCol="0" anchor="t"/>
          <a:lstStyle/>
          <a:p>
            <a:pPr indent="0" marL="0">
              <a:buNone/>
            </a:pPr>
            <a:r>
              <a:rPr lang="en-US" sz="1600" dirty="0">
                <a:solidFill>
                  <a:schemeClr val="accent6"/>
                </a:solidFill>
              </a:rPr>
              <a:t>일정 · 교육생 진도 · 수업 피드백을 하나로 잇는</a:t>
            </a:r>
            <a:endParaRPr lang="en-US" sz="1600" dirty="0"/>
          </a:p>
          <a:p>
            <a:pPr indent="0" marL="0">
              <a:buNone/>
            </a:pPr>
            <a:r>
              <a:rPr lang="en-US" sz="1600" dirty="0">
                <a:solidFill>
                  <a:schemeClr val="accent6"/>
                </a:solidFill>
              </a:rPr>
              <a:t>강사용 교육 운영 앱</a:t>
            </a:r>
            <a:endParaRPr lang="en-US" sz="1600" dirty="0"/>
          </a:p>
        </p:txBody>
      </p:sp>
      <p:sp>
        <p:nvSpPr>
          <p:cNvPr id="8" name="Text 5"/>
          <p:cNvSpPr txBox="1"/>
          <p:nvPr/>
        </p:nvSpPr>
        <p:spPr>
          <a:xfrm>
            <a:off x="548640" y="5486400"/>
            <a:ext cx="5486400" cy="731520"/>
          </a:xfrm>
          <a:prstGeom prst="rect">
            <a:avLst/>
          </a:prstGeom>
          <a:noFill/>
          <a:ln/>
        </p:spPr>
        <p:txBody>
          <a:bodyPr wrap="square" lIns="0" tIns="0" rIns="0" bIns="0" rtlCol="0" anchor="t"/>
          <a:lstStyle/>
          <a:p>
            <a:pPr indent="0" marL="0">
              <a:buNone/>
            </a:pPr>
            <a:r>
              <a:rPr lang="en-US" sz="1400" dirty="0">
                <a:solidFill>
                  <a:schemeClr val="accent5"/>
                </a:solidFill>
              </a:rPr>
              <a:t>2026 경기스포츠산업 공모전</a:t>
            </a:r>
            <a:endParaRPr lang="en-US" sz="1400" dirty="0"/>
          </a:p>
          <a:p>
            <a:pPr indent="0" marL="0">
              <a:buNone/>
            </a:pPr>
            <a:r>
              <a:rPr lang="en-US" sz="1400" b="1" dirty="0">
                <a:solidFill>
                  <a:schemeClr val="bg1"/>
                </a:solidFill>
              </a:rPr>
              <a:t>럼바우  |  대표 남상현</a:t>
            </a:r>
            <a:endParaRPr lang="en-US" sz="1400" dirty="0"/>
          </a:p>
        </p:txBody>
      </p:sp>
      <p:pic>
        <p:nvPicPr>
          <p:cNvPr id="9" name="phone 06_feature_4.png" descr="AllBlue 앱 화면">    </p:cNvPr>
          <p:cNvPicPr>
            <a:picLocks noChangeAspect="1"/>
          </p:cNvPicPr>
          <p:nvPr/>
        </p:nvPicPr>
        <p:blipFill>
          <a:blip r:embed="rId1"/>
          <a:stretch>
            <a:fillRect/>
          </a:stretch>
        </p:blipFill>
        <p:spPr>
          <a:xfrm rot="-540000">
            <a:off x="6720840" y="1417320"/>
            <a:ext cx="2132608" cy="4480560"/>
          </a:xfrm>
          <a:prstGeom prst="rect">
            <a:avLst/>
          </a:prstGeom>
        </p:spPr>
      </p:pic>
      <p:pic>
        <p:nvPicPr>
          <p:cNvPr id="10" name="phone 03_feature_1.png" descr="AllBlue 앱 화면">    </p:cNvPr>
          <p:cNvPicPr>
            <a:picLocks noChangeAspect="1"/>
          </p:cNvPicPr>
          <p:nvPr/>
        </p:nvPicPr>
        <p:blipFill>
          <a:blip r:embed="rId2"/>
          <a:stretch>
            <a:fillRect/>
          </a:stretch>
        </p:blipFill>
        <p:spPr>
          <a:xfrm rot="540000">
            <a:off x="9555480" y="1417320"/>
            <a:ext cx="2132608" cy="4480560"/>
          </a:xfrm>
          <a:prstGeom prst="rect">
            <a:avLst/>
          </a:prstGeom>
        </p:spPr>
      </p:pic>
      <p:pic>
        <p:nvPicPr>
          <p:cNvPr id="11" name="phone 05_feature_3.png" descr="AllBlue 앱 화면">    </p:cNvPr>
          <p:cNvPicPr>
            <a:picLocks noChangeAspect="1"/>
          </p:cNvPicPr>
          <p:nvPr/>
        </p:nvPicPr>
        <p:blipFill>
          <a:blip r:embed="rId3"/>
          <a:stretch>
            <a:fillRect/>
          </a:stretch>
        </p:blipFill>
        <p:spPr>
          <a:xfrm>
            <a:off x="8092440" y="914400"/>
            <a:ext cx="2437266" cy="5120640"/>
          </a:xfrm>
          <a:prstGeom prst="rect">
            <a:avLst/>
          </a:prstGeom>
          <a:effectLst>
            <a:outerShdw sx="100000" sy="100000" kx="0" ky="0" algn="bl" rotWithShape="0" blurRad="228600" dist="76200" dir="5400000">
              <a:srgbClr val="000000">
                <a:alpha val="35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7315200" cy="292608"/>
          </a:xfrm>
          <a:prstGeom prst="rect">
            <a:avLst/>
          </a:prstGeom>
          <a:noFill/>
          <a:ln/>
        </p:spPr>
        <p:txBody>
          <a:bodyPr wrap="square" lIns="0" tIns="0" rIns="0" bIns="0" rtlCol="0"/>
          <a:lstStyle/>
          <a:p>
            <a:pPr indent="0" marL="0">
              <a:buNone/>
            </a:pPr>
            <a:r>
              <a:rPr lang="en-US" sz="1300" b="1" spc="100" kern="0" dirty="0">
                <a:solidFill>
                  <a:schemeClr val="accent2"/>
                </a:solidFill>
              </a:rPr>
              <a:t>SUMMARY</a:t>
            </a:r>
            <a:endParaRPr lang="en-US" sz="1300" dirty="0"/>
          </a:p>
        </p:txBody>
      </p:sp>
      <p:sp>
        <p:nvSpPr>
          <p:cNvPr id="3" name="Text 1"/>
          <p:cNvSpPr/>
          <p:nvPr>
            <p:ph idx="102"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한눈에 보는 AllBlue</a:t>
            </a:r>
            <a:endParaRPr lang="en-US" sz="3200" dirty="0"/>
          </a:p>
        </p:txBody>
      </p:sp>
      <p:sp>
        <p:nvSpPr>
          <p:cNvPr id="5" name="summary card 1"/>
          <p:cNvSpPr/>
          <p:nvPr/>
        </p:nvSpPr>
        <p:spPr>
          <a:xfrm>
            <a:off x="548640" y="1645920"/>
            <a:ext cx="3515258" cy="3246120"/>
          </a:xfrm>
          <a:prstGeom prst="roundRect">
            <a:avLst>
              <a:gd name="adj" fmla="val 3944"/>
            </a:avLst>
          </a:prstGeom>
          <a:solidFill>
            <a:schemeClr val="bg1"/>
          </a:solidFill>
          <a:ln/>
          <a:effectLst>
            <a:outerShdw sx="100000" sy="100000" kx="0" ky="0" algn="bl" rotWithShape="0" blurRad="127000" dist="38100" dir="5400000">
              <a:srgbClr val="0A2540">
                <a:alpha val="14000"/>
              </a:srgbClr>
            </a:outerShdw>
          </a:effectLst>
        </p:spPr>
      </p:sp>
      <p:sp>
        <p:nvSpPr>
          <p:cNvPr id="6" name="summary 문제 circle"/>
          <p:cNvSpPr/>
          <p:nvPr/>
        </p:nvSpPr>
        <p:spPr>
          <a:xfrm>
            <a:off x="868680" y="1965960"/>
            <a:ext cx="685800" cy="685800"/>
          </a:xfrm>
          <a:prstGeom prst="ellipse">
            <a:avLst/>
          </a:prstGeom>
          <a:solidFill>
            <a:schemeClr val="accent6"/>
          </a:solidFill>
          <a:ln/>
        </p:spPr>
      </p:sp>
      <p:pic>
        <p:nvPicPr>
          <p:cNvPr id="7" name="summary 문제 icon" descr="summary 문제">    </p:cNvPr>
          <p:cNvPicPr>
            <a:picLocks noChangeAspect="1"/>
          </p:cNvPicPr>
          <p:nvPr/>
        </p:nvPicPr>
        <p:blipFill>
          <a:blip r:embed="rId1"/>
          <a:stretch>
            <a:fillRect/>
          </a:stretch>
        </p:blipFill>
        <p:spPr>
          <a:xfrm>
            <a:off x="1053846" y="2151126"/>
            <a:ext cx="315468" cy="315468"/>
          </a:xfrm>
          <a:prstGeom prst="rect">
            <a:avLst/>
          </a:prstGeom>
        </p:spPr>
      </p:pic>
      <p:sp>
        <p:nvSpPr>
          <p:cNvPr id="8" name="Text 4"/>
          <p:cNvSpPr txBox="1"/>
          <p:nvPr/>
        </p:nvSpPr>
        <p:spPr>
          <a:xfrm>
            <a:off x="868680" y="2834640"/>
            <a:ext cx="2875178" cy="274320"/>
          </a:xfrm>
          <a:prstGeom prst="rect">
            <a:avLst/>
          </a:prstGeom>
          <a:noFill/>
          <a:ln/>
        </p:spPr>
        <p:txBody>
          <a:bodyPr wrap="square" lIns="0" tIns="0" rIns="0" bIns="0" rtlCol="0" anchor="t"/>
          <a:lstStyle/>
          <a:p>
            <a:pPr indent="0" marL="0">
              <a:buNone/>
            </a:pPr>
            <a:r>
              <a:rPr lang="en-US" sz="1200" b="1" dirty="0">
                <a:solidFill>
                  <a:schemeClr val="accent4"/>
                </a:solidFill>
              </a:rPr>
              <a:t>문제</a:t>
            </a:r>
            <a:endParaRPr lang="en-US" sz="1200" dirty="0"/>
          </a:p>
        </p:txBody>
      </p:sp>
      <p:sp>
        <p:nvSpPr>
          <p:cNvPr id="9" name="Text 5"/>
          <p:cNvSpPr txBox="1"/>
          <p:nvPr/>
        </p:nvSpPr>
        <p:spPr>
          <a:xfrm>
            <a:off x="868680" y="3127248"/>
            <a:ext cx="2875178" cy="457200"/>
          </a:xfrm>
          <a:prstGeom prst="rect">
            <a:avLst/>
          </a:prstGeom>
          <a:noFill/>
          <a:ln/>
        </p:spPr>
        <p:txBody>
          <a:bodyPr wrap="square" lIns="0" tIns="0" rIns="0" bIns="0" rtlCol="0" anchor="t"/>
          <a:lstStyle/>
          <a:p>
            <a:pPr indent="0" marL="0">
              <a:buNone/>
            </a:pPr>
            <a:r>
              <a:rPr lang="en-US" sz="2000" b="1" dirty="0">
                <a:solidFill>
                  <a:schemeClr val="tx1"/>
                </a:solidFill>
              </a:rPr>
              <a:t>흩어진 교육 기록</a:t>
            </a:r>
            <a:endParaRPr lang="en-US" sz="2000" dirty="0"/>
          </a:p>
        </p:txBody>
      </p:sp>
      <p:sp>
        <p:nvSpPr>
          <p:cNvPr id="10" name="Text 6"/>
          <p:cNvSpPr txBox="1"/>
          <p:nvPr/>
        </p:nvSpPr>
        <p:spPr>
          <a:xfrm>
            <a:off x="868680" y="3657600"/>
            <a:ext cx="2875178" cy="1188720"/>
          </a:xfrm>
          <a:prstGeom prst="rect">
            <a:avLst/>
          </a:prstGeom>
          <a:noFill/>
          <a:ln/>
        </p:spPr>
        <p:txBody>
          <a:bodyPr wrap="square" lIns="0" tIns="0" rIns="0" bIns="0" rtlCol="0" anchor="t"/>
          <a:lstStyle/>
          <a:p>
            <a:pPr indent="0" marL="0">
              <a:lnSpc>
                <a:spcPct val="115000"/>
              </a:lnSpc>
              <a:buNone/>
            </a:pPr>
            <a:r>
              <a:rPr lang="en-US" sz="1400" dirty="0">
                <a:solidFill>
                  <a:schemeClr val="accent4"/>
                </a:solidFill>
              </a:rPr>
              <a:t>진도는 엑셀에, 일정 안내와</a:t>
            </a:r>
            <a:endParaRPr lang="en-US" sz="1400" dirty="0"/>
          </a:p>
          <a:p>
            <a:pPr indent="0" marL="0">
              <a:lnSpc>
                <a:spcPct val="115000"/>
              </a:lnSpc>
              <a:buNone/>
            </a:pPr>
            <a:r>
              <a:rPr lang="en-US" sz="1400" dirty="0">
                <a:solidFill>
                  <a:schemeClr val="accent4"/>
                </a:solidFill>
              </a:rPr>
              <a:t>서류·피드백은 따로.</a:t>
            </a:r>
            <a:endParaRPr lang="en-US" sz="1400" dirty="0"/>
          </a:p>
          <a:p>
            <a:pPr indent="0" marL="0">
              <a:lnSpc>
                <a:spcPct val="115000"/>
              </a:lnSpc>
              <a:buNone/>
            </a:pPr>
            <a:r>
              <a:rPr lang="en-US" sz="1400" dirty="0">
                <a:solidFill>
                  <a:schemeClr val="accent4"/>
                </a:solidFill>
              </a:rPr>
              <a:t>한 교육생의 정보를</a:t>
            </a:r>
            <a:endParaRPr lang="en-US" sz="1400" dirty="0"/>
          </a:p>
          <a:p>
            <a:pPr indent="0" marL="0">
              <a:lnSpc>
                <a:spcPct val="115000"/>
              </a:lnSpc>
              <a:buNone/>
            </a:pPr>
            <a:r>
              <a:rPr lang="en-US" sz="1400" dirty="0">
                <a:solidFill>
                  <a:schemeClr val="accent4"/>
                </a:solidFill>
              </a:rPr>
              <a:t>여러 곳에서 찾아야 합니다.</a:t>
            </a:r>
            <a:endParaRPr lang="en-US" sz="1400" dirty="0"/>
          </a:p>
        </p:txBody>
      </p:sp>
      <p:sp>
        <p:nvSpPr>
          <p:cNvPr id="11" name="summary card 2"/>
          <p:cNvSpPr/>
          <p:nvPr/>
        </p:nvSpPr>
        <p:spPr>
          <a:xfrm>
            <a:off x="4338218" y="1645920"/>
            <a:ext cx="3515258" cy="3246120"/>
          </a:xfrm>
          <a:prstGeom prst="roundRect">
            <a:avLst>
              <a:gd name="adj" fmla="val 3944"/>
            </a:avLst>
          </a:prstGeom>
          <a:solidFill>
            <a:schemeClr val="bg1"/>
          </a:solidFill>
          <a:ln/>
          <a:effectLst>
            <a:outerShdw sx="100000" sy="100000" kx="0" ky="0" algn="bl" rotWithShape="0" blurRad="127000" dist="38100" dir="5400000">
              <a:srgbClr val="0A2540">
                <a:alpha val="14000"/>
              </a:srgbClr>
            </a:outerShdw>
          </a:effectLst>
        </p:spPr>
      </p:sp>
      <p:sp>
        <p:nvSpPr>
          <p:cNvPr id="12" name="summary 해결 circle"/>
          <p:cNvSpPr/>
          <p:nvPr/>
        </p:nvSpPr>
        <p:spPr>
          <a:xfrm>
            <a:off x="4658258" y="1965960"/>
            <a:ext cx="685800" cy="685800"/>
          </a:xfrm>
          <a:prstGeom prst="ellipse">
            <a:avLst/>
          </a:prstGeom>
          <a:solidFill>
            <a:schemeClr val="accent2"/>
          </a:solidFill>
          <a:ln/>
        </p:spPr>
      </p:sp>
      <p:pic>
        <p:nvPicPr>
          <p:cNvPr id="13" name="summary 해결 icon" descr="summary 해결">    </p:cNvPr>
          <p:cNvPicPr>
            <a:picLocks noChangeAspect="1"/>
          </p:cNvPicPr>
          <p:nvPr/>
        </p:nvPicPr>
        <p:blipFill>
          <a:blip r:embed="rId2"/>
          <a:stretch>
            <a:fillRect/>
          </a:stretch>
        </p:blipFill>
        <p:spPr>
          <a:xfrm>
            <a:off x="4843424" y="2151126"/>
            <a:ext cx="315468" cy="315468"/>
          </a:xfrm>
          <a:prstGeom prst="rect">
            <a:avLst/>
          </a:prstGeom>
        </p:spPr>
      </p:pic>
      <p:sp>
        <p:nvSpPr>
          <p:cNvPr id="14" name="Text 9"/>
          <p:cNvSpPr txBox="1"/>
          <p:nvPr/>
        </p:nvSpPr>
        <p:spPr>
          <a:xfrm>
            <a:off x="4658258" y="2834640"/>
            <a:ext cx="2875178" cy="274320"/>
          </a:xfrm>
          <a:prstGeom prst="rect">
            <a:avLst/>
          </a:prstGeom>
          <a:noFill/>
          <a:ln/>
        </p:spPr>
        <p:txBody>
          <a:bodyPr wrap="square" lIns="0" tIns="0" rIns="0" bIns="0" rtlCol="0" anchor="t"/>
          <a:lstStyle/>
          <a:p>
            <a:pPr indent="0" marL="0">
              <a:buNone/>
            </a:pPr>
            <a:r>
              <a:rPr lang="en-US" sz="1200" b="1" dirty="0">
                <a:solidFill>
                  <a:schemeClr val="accent4"/>
                </a:solidFill>
              </a:rPr>
              <a:t>해결</a:t>
            </a:r>
            <a:endParaRPr lang="en-US" sz="1200" dirty="0"/>
          </a:p>
        </p:txBody>
      </p:sp>
      <p:sp>
        <p:nvSpPr>
          <p:cNvPr id="15" name="Text 10"/>
          <p:cNvSpPr txBox="1"/>
          <p:nvPr/>
        </p:nvSpPr>
        <p:spPr>
          <a:xfrm>
            <a:off x="4658258" y="3127248"/>
            <a:ext cx="2875178" cy="457200"/>
          </a:xfrm>
          <a:prstGeom prst="rect">
            <a:avLst/>
          </a:prstGeom>
          <a:noFill/>
          <a:ln/>
        </p:spPr>
        <p:txBody>
          <a:bodyPr wrap="square" lIns="0" tIns="0" rIns="0" bIns="0" rtlCol="0" anchor="t"/>
          <a:lstStyle/>
          <a:p>
            <a:pPr indent="0" marL="0">
              <a:buNone/>
            </a:pPr>
            <a:r>
              <a:rPr lang="en-US" sz="2000" b="1" dirty="0">
                <a:solidFill>
                  <a:schemeClr val="tx1"/>
                </a:solidFill>
              </a:rPr>
              <a:t>수업 하나에 기록을 연결</a:t>
            </a:r>
            <a:endParaRPr lang="en-US" sz="2000" dirty="0"/>
          </a:p>
        </p:txBody>
      </p:sp>
      <p:sp>
        <p:nvSpPr>
          <p:cNvPr id="16" name="Text 11"/>
          <p:cNvSpPr txBox="1"/>
          <p:nvPr/>
        </p:nvSpPr>
        <p:spPr>
          <a:xfrm>
            <a:off x="4658258" y="3657600"/>
            <a:ext cx="2875178" cy="1188720"/>
          </a:xfrm>
          <a:prstGeom prst="rect">
            <a:avLst/>
          </a:prstGeom>
          <a:noFill/>
          <a:ln/>
        </p:spPr>
        <p:txBody>
          <a:bodyPr wrap="square" lIns="0" tIns="0" rIns="0" bIns="0" rtlCol="0" anchor="t"/>
          <a:lstStyle/>
          <a:p>
            <a:pPr indent="0" marL="0">
              <a:lnSpc>
                <a:spcPct val="115000"/>
              </a:lnSpc>
              <a:buNone/>
            </a:pPr>
            <a:r>
              <a:rPr lang="en-US" sz="1400" dirty="0">
                <a:solidFill>
                  <a:schemeClr val="accent4"/>
                </a:solidFill>
              </a:rPr>
              <a:t>일정·참가자·서류 상태</a:t>
            </a:r>
            <a:endParaRPr lang="en-US" sz="1400" dirty="0"/>
          </a:p>
          <a:p>
            <a:pPr indent="0" marL="0">
              <a:lnSpc>
                <a:spcPct val="115000"/>
              </a:lnSpc>
              <a:buNone/>
            </a:pPr>
            <a:r>
              <a:rPr lang="en-US" sz="1400" dirty="0">
                <a:solidFill>
                  <a:schemeClr val="accent4"/>
                </a:solidFill>
              </a:rPr>
              <a:t>과정별 진도·디브리핑을</a:t>
            </a:r>
            <a:endParaRPr lang="en-US" sz="1400" dirty="0"/>
          </a:p>
          <a:p>
            <a:pPr indent="0" marL="0">
              <a:lnSpc>
                <a:spcPct val="115000"/>
              </a:lnSpc>
              <a:buNone/>
            </a:pPr>
            <a:r>
              <a:rPr lang="en-US" sz="1400" dirty="0">
                <a:solidFill>
                  <a:schemeClr val="accent4"/>
                </a:solidFill>
              </a:rPr>
              <a:t>수업 단위로 모아 봅니다.</a:t>
            </a:r>
            <a:endParaRPr lang="en-US" sz="1400" dirty="0"/>
          </a:p>
        </p:txBody>
      </p:sp>
      <p:sp>
        <p:nvSpPr>
          <p:cNvPr id="17" name="summary card 3"/>
          <p:cNvSpPr/>
          <p:nvPr/>
        </p:nvSpPr>
        <p:spPr>
          <a:xfrm>
            <a:off x="8127797" y="1645920"/>
            <a:ext cx="3515258" cy="3246120"/>
          </a:xfrm>
          <a:prstGeom prst="roundRect">
            <a:avLst>
              <a:gd name="adj" fmla="val 3944"/>
            </a:avLst>
          </a:prstGeom>
          <a:solidFill>
            <a:schemeClr val="bg1"/>
          </a:solidFill>
          <a:ln/>
          <a:effectLst>
            <a:outerShdw sx="100000" sy="100000" kx="0" ky="0" algn="bl" rotWithShape="0" blurRad="127000" dist="38100" dir="5400000">
              <a:srgbClr val="0A2540">
                <a:alpha val="14000"/>
              </a:srgbClr>
            </a:outerShdw>
          </a:effectLst>
        </p:spPr>
      </p:sp>
      <p:sp>
        <p:nvSpPr>
          <p:cNvPr id="18" name="summary 사업 모델 circle"/>
          <p:cNvSpPr/>
          <p:nvPr/>
        </p:nvSpPr>
        <p:spPr>
          <a:xfrm>
            <a:off x="8447837" y="1965960"/>
            <a:ext cx="685800" cy="685800"/>
          </a:xfrm>
          <a:prstGeom prst="ellipse">
            <a:avLst/>
          </a:prstGeom>
          <a:solidFill>
            <a:schemeClr val="accent6"/>
          </a:solidFill>
          <a:ln/>
        </p:spPr>
      </p:sp>
      <p:pic>
        <p:nvPicPr>
          <p:cNvPr id="19" name="summary 사업 모델 icon" descr="summary 사업 모델">    </p:cNvPr>
          <p:cNvPicPr>
            <a:picLocks noChangeAspect="1"/>
          </p:cNvPicPr>
          <p:nvPr/>
        </p:nvPicPr>
        <p:blipFill>
          <a:blip r:embed="rId3"/>
          <a:stretch>
            <a:fillRect/>
          </a:stretch>
        </p:blipFill>
        <p:spPr>
          <a:xfrm>
            <a:off x="8633003" y="2151126"/>
            <a:ext cx="315468" cy="315468"/>
          </a:xfrm>
          <a:prstGeom prst="rect">
            <a:avLst/>
          </a:prstGeom>
        </p:spPr>
      </p:pic>
      <p:sp>
        <p:nvSpPr>
          <p:cNvPr id="20" name="Text 14"/>
          <p:cNvSpPr txBox="1"/>
          <p:nvPr/>
        </p:nvSpPr>
        <p:spPr>
          <a:xfrm>
            <a:off x="8447837" y="2834640"/>
            <a:ext cx="2875178" cy="274320"/>
          </a:xfrm>
          <a:prstGeom prst="rect">
            <a:avLst/>
          </a:prstGeom>
          <a:noFill/>
          <a:ln/>
        </p:spPr>
        <p:txBody>
          <a:bodyPr wrap="square" lIns="0" tIns="0" rIns="0" bIns="0" rtlCol="0" anchor="t"/>
          <a:lstStyle/>
          <a:p>
            <a:pPr indent="0" marL="0">
              <a:buNone/>
            </a:pPr>
            <a:r>
              <a:rPr lang="en-US" sz="1200" b="1" dirty="0">
                <a:solidFill>
                  <a:schemeClr val="accent4"/>
                </a:solidFill>
              </a:rPr>
              <a:t>사업 모델</a:t>
            </a:r>
            <a:endParaRPr lang="en-US" sz="1200" dirty="0"/>
          </a:p>
        </p:txBody>
      </p:sp>
      <p:sp>
        <p:nvSpPr>
          <p:cNvPr id="21" name="Text 15"/>
          <p:cNvSpPr txBox="1"/>
          <p:nvPr/>
        </p:nvSpPr>
        <p:spPr>
          <a:xfrm>
            <a:off x="8447837" y="3127248"/>
            <a:ext cx="2875178" cy="457200"/>
          </a:xfrm>
          <a:prstGeom prst="rect">
            <a:avLst/>
          </a:prstGeom>
          <a:noFill/>
          <a:ln/>
        </p:spPr>
        <p:txBody>
          <a:bodyPr wrap="square" lIns="0" tIns="0" rIns="0" bIns="0" rtlCol="0" anchor="t"/>
          <a:lstStyle/>
          <a:p>
            <a:pPr indent="0" marL="0">
              <a:buNone/>
            </a:pPr>
            <a:r>
              <a:rPr lang="en-US" sz="2000" b="1" dirty="0">
                <a:solidFill>
                  <a:schemeClr val="tx1"/>
                </a:solidFill>
              </a:rPr>
              <a:t>강사 월 3,900원 구독</a:t>
            </a:r>
            <a:endParaRPr lang="en-US" sz="2000" dirty="0"/>
          </a:p>
        </p:txBody>
      </p:sp>
      <p:sp>
        <p:nvSpPr>
          <p:cNvPr id="22" name="Text 16"/>
          <p:cNvSpPr txBox="1"/>
          <p:nvPr/>
        </p:nvSpPr>
        <p:spPr>
          <a:xfrm>
            <a:off x="8447837" y="3657600"/>
            <a:ext cx="2875178" cy="1188720"/>
          </a:xfrm>
          <a:prstGeom prst="rect">
            <a:avLst/>
          </a:prstGeom>
          <a:noFill/>
          <a:ln/>
        </p:spPr>
        <p:txBody>
          <a:bodyPr wrap="square" lIns="0" tIns="0" rIns="0" bIns="0" rtlCol="0" anchor="t"/>
          <a:lstStyle/>
          <a:p>
            <a:pPr indent="0" marL="0">
              <a:lnSpc>
                <a:spcPct val="115000"/>
              </a:lnSpc>
              <a:buNone/>
            </a:pPr>
            <a:r>
              <a:rPr lang="en-US" sz="1400" dirty="0">
                <a:solidFill>
                  <a:schemeClr val="accent4"/>
                </a:solidFill>
              </a:rPr>
              <a:t>최초 3개월 무료,</a:t>
            </a:r>
            <a:endParaRPr lang="en-US" sz="1400" dirty="0"/>
          </a:p>
          <a:p>
            <a:pPr indent="0" marL="0">
              <a:lnSpc>
                <a:spcPct val="115000"/>
              </a:lnSpc>
              <a:buNone/>
            </a:pPr>
            <a:r>
              <a:rPr lang="en-US" sz="1400" dirty="0">
                <a:solidFill>
                  <a:schemeClr val="accent4"/>
                </a:solidFill>
              </a:rPr>
              <a:t>교육생은 무료.</a:t>
            </a:r>
            <a:endParaRPr lang="en-US" sz="1400" dirty="0"/>
          </a:p>
          <a:p>
            <a:pPr indent="0" marL="0">
              <a:lnSpc>
                <a:spcPct val="115000"/>
              </a:lnSpc>
              <a:buNone/>
            </a:pPr>
            <a:r>
              <a:rPr lang="en-US" sz="1400" dirty="0">
                <a:solidFill>
                  <a:schemeClr val="accent4"/>
                </a:solidFill>
              </a:rPr>
              <a:t>협업 유튜브 채널로</a:t>
            </a:r>
            <a:endParaRPr lang="en-US" sz="1400" dirty="0"/>
          </a:p>
          <a:p>
            <a:pPr indent="0" marL="0">
              <a:lnSpc>
                <a:spcPct val="115000"/>
              </a:lnSpc>
              <a:buNone/>
            </a:pPr>
            <a:r>
              <a:rPr lang="en-US" sz="1400" dirty="0">
                <a:solidFill>
                  <a:schemeClr val="accent4"/>
                </a:solidFill>
              </a:rPr>
              <a:t>초기 강사를 모읍니다.</a:t>
            </a:r>
            <a:endParaRPr lang="en-US" sz="1400" dirty="0"/>
          </a:p>
        </p:txBody>
      </p:sp>
      <p:sp>
        <p:nvSpPr>
          <p:cNvPr id="23" name="status panel"/>
          <p:cNvSpPr/>
          <p:nvPr/>
        </p:nvSpPr>
        <p:spPr>
          <a:xfrm>
            <a:off x="548640" y="5212080"/>
            <a:ext cx="11094415" cy="868680"/>
          </a:xfrm>
          <a:prstGeom prst="roundRect">
            <a:avLst>
              <a:gd name="adj" fmla="val 14737"/>
            </a:avLst>
          </a:prstGeom>
          <a:solidFill>
            <a:schemeClr val="tx2"/>
          </a:solidFill>
          <a:ln/>
        </p:spPr>
      </p:sp>
      <p:sp>
        <p:nvSpPr>
          <p:cNvPr id="24" name="status dot 0"/>
          <p:cNvSpPr/>
          <p:nvPr/>
        </p:nvSpPr>
        <p:spPr>
          <a:xfrm>
            <a:off x="960120" y="5577840"/>
            <a:ext cx="118872" cy="118872"/>
          </a:xfrm>
          <a:prstGeom prst="ellipse">
            <a:avLst/>
          </a:prstGeom>
          <a:solidFill>
            <a:schemeClr val="accent1"/>
          </a:solidFill>
          <a:ln/>
        </p:spPr>
      </p:sp>
      <p:sp>
        <p:nvSpPr>
          <p:cNvPr id="25" name="Text 19"/>
          <p:cNvSpPr txBox="1"/>
          <p:nvPr/>
        </p:nvSpPr>
        <p:spPr>
          <a:xfrm>
            <a:off x="1216152" y="5212080"/>
            <a:ext cx="3240938" cy="868680"/>
          </a:xfrm>
          <a:prstGeom prst="rect">
            <a:avLst/>
          </a:prstGeom>
          <a:noFill/>
          <a:ln/>
        </p:spPr>
        <p:txBody>
          <a:bodyPr wrap="square" lIns="0" tIns="0" rIns="0" bIns="0" rtlCol="0" anchor="ctr"/>
          <a:lstStyle/>
          <a:p>
            <a:pPr indent="0" marL="0">
              <a:buNone/>
            </a:pPr>
            <a:r>
              <a:rPr lang="en-US" sz="1500" b="1" dirty="0">
                <a:solidFill>
                  <a:schemeClr val="bg1"/>
                </a:solidFill>
              </a:rPr>
              <a:t>개발 완료  </a:t>
            </a:r>
            <a:pPr indent="0" marL="0">
              <a:buNone/>
            </a:pPr>
            <a:r>
              <a:rPr lang="en-US" sz="1500" dirty="0">
                <a:solidFill>
                  <a:schemeClr val="accent5"/>
                </a:solidFill>
              </a:rPr>
              <a:t>운영 환경 테스트 중</a:t>
            </a:r>
            <a:endParaRPr lang="en-US" sz="1500" dirty="0"/>
          </a:p>
        </p:txBody>
      </p:sp>
      <p:sp>
        <p:nvSpPr>
          <p:cNvPr id="26" name="status dot 1"/>
          <p:cNvSpPr/>
          <p:nvPr/>
        </p:nvSpPr>
        <p:spPr>
          <a:xfrm>
            <a:off x="4658258" y="5577840"/>
            <a:ext cx="118872" cy="118872"/>
          </a:xfrm>
          <a:prstGeom prst="ellipse">
            <a:avLst/>
          </a:prstGeom>
          <a:solidFill>
            <a:schemeClr val="accent3"/>
          </a:solidFill>
          <a:ln/>
        </p:spPr>
      </p:sp>
      <p:sp>
        <p:nvSpPr>
          <p:cNvPr id="27" name="Text 21"/>
          <p:cNvSpPr txBox="1"/>
          <p:nvPr/>
        </p:nvSpPr>
        <p:spPr>
          <a:xfrm>
            <a:off x="4914290" y="5212080"/>
            <a:ext cx="3240938" cy="868680"/>
          </a:xfrm>
          <a:prstGeom prst="rect">
            <a:avLst/>
          </a:prstGeom>
          <a:noFill/>
          <a:ln/>
        </p:spPr>
        <p:txBody>
          <a:bodyPr wrap="square" lIns="0" tIns="0" rIns="0" bIns="0" rtlCol="0" anchor="ctr"/>
          <a:lstStyle/>
          <a:p>
            <a:pPr indent="0" marL="0">
              <a:buNone/>
            </a:pPr>
            <a:r>
              <a:rPr lang="en-US" sz="1500" b="1" dirty="0">
                <a:solidFill>
                  <a:schemeClr val="bg1"/>
                </a:solidFill>
              </a:rPr>
              <a:t>2026년 10월  </a:t>
            </a:r>
            <a:pPr indent="0" marL="0">
              <a:buNone/>
            </a:pPr>
            <a:r>
              <a:rPr lang="en-US" sz="1500" dirty="0">
                <a:solidFill>
                  <a:schemeClr val="accent5"/>
                </a:solidFill>
              </a:rPr>
              <a:t>정식 출시 예정</a:t>
            </a:r>
            <a:endParaRPr lang="en-US" sz="1500" dirty="0"/>
          </a:p>
        </p:txBody>
      </p:sp>
      <p:sp>
        <p:nvSpPr>
          <p:cNvPr id="28" name="status dot 2"/>
          <p:cNvSpPr/>
          <p:nvPr/>
        </p:nvSpPr>
        <p:spPr>
          <a:xfrm>
            <a:off x="8356397" y="5577840"/>
            <a:ext cx="118872" cy="118872"/>
          </a:xfrm>
          <a:prstGeom prst="ellipse">
            <a:avLst/>
          </a:prstGeom>
          <a:solidFill>
            <a:schemeClr val="accent1"/>
          </a:solidFill>
          <a:ln/>
        </p:spPr>
      </p:sp>
      <p:sp>
        <p:nvSpPr>
          <p:cNvPr id="29" name="Text 23"/>
          <p:cNvSpPr txBox="1"/>
          <p:nvPr/>
        </p:nvSpPr>
        <p:spPr>
          <a:xfrm>
            <a:off x="8612429" y="5212080"/>
            <a:ext cx="3240938" cy="868680"/>
          </a:xfrm>
          <a:prstGeom prst="rect">
            <a:avLst/>
          </a:prstGeom>
          <a:noFill/>
          <a:ln/>
        </p:spPr>
        <p:txBody>
          <a:bodyPr wrap="square" lIns="0" tIns="0" rIns="0" bIns="0" rtlCol="0" anchor="ctr"/>
          <a:lstStyle/>
          <a:p>
            <a:pPr indent="0" marL="0">
              <a:buNone/>
            </a:pPr>
            <a:r>
              <a:rPr lang="en-US" sz="1500" b="1" dirty="0">
                <a:solidFill>
                  <a:schemeClr val="bg1"/>
                </a:solidFill>
              </a:rPr>
              <a:t>개발 14년차  </a:t>
            </a:r>
            <a:pPr indent="0" marL="0">
              <a:buNone/>
            </a:pPr>
            <a:r>
              <a:rPr lang="en-US" sz="1500" dirty="0">
                <a:solidFill>
                  <a:schemeClr val="accent5"/>
                </a:solidFill>
              </a:rPr>
              <a:t>프리다이빙 3년차</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7315200" cy="292608"/>
          </a:xfrm>
          <a:prstGeom prst="rect">
            <a:avLst/>
          </a:prstGeom>
          <a:noFill/>
          <a:ln/>
        </p:spPr>
        <p:txBody>
          <a:bodyPr wrap="square" lIns="0" tIns="0" rIns="0" bIns="0" rtlCol="0"/>
          <a:lstStyle/>
          <a:p>
            <a:pPr indent="0" marL="0">
              <a:buNone/>
            </a:pPr>
            <a:r>
              <a:rPr lang="en-US" sz="1300" b="1" spc="100" kern="0" dirty="0">
                <a:solidFill>
                  <a:schemeClr val="accent2"/>
                </a:solidFill>
              </a:rPr>
              <a:t>01  문제</a:t>
            </a:r>
            <a:endParaRPr lang="en-US" sz="1300" dirty="0"/>
          </a:p>
        </p:txBody>
      </p:sp>
      <p:sp>
        <p:nvSpPr>
          <p:cNvPr id="3" name="Text 1"/>
          <p:cNvSpPr/>
          <p:nvPr>
            <p:ph idx="102"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한 교육생의 기록이 여러 곳에 흩어져 있습니다</a:t>
            </a:r>
            <a:endParaRPr lang="en-US" sz="3200" dirty="0"/>
          </a:p>
        </p:txBody>
      </p:sp>
      <p:sp>
        <p:nvSpPr>
          <p:cNvPr id="5" name="connector"/>
          <p:cNvSpPr/>
          <p:nvPr/>
        </p:nvSpPr>
        <p:spPr>
          <a:xfrm>
            <a:off x="1737360" y="2148840"/>
            <a:ext cx="1737360" cy="1645920"/>
          </a:xfrm>
          <a:prstGeom prst="line">
            <a:avLst/>
          </a:prstGeom>
          <a:noFill/>
          <a:ln w="19050">
            <a:solidFill>
              <a:schemeClr val="accent5"/>
            </a:solidFill>
            <a:prstDash val="dash"/>
          </a:ln>
        </p:spPr>
      </p:sp>
      <p:sp>
        <p:nvSpPr>
          <p:cNvPr id="6" name="connector"/>
          <p:cNvSpPr/>
          <p:nvPr/>
        </p:nvSpPr>
        <p:spPr>
          <a:xfrm flipH="1">
            <a:off x="3474720" y="2148840"/>
            <a:ext cx="1737360" cy="1645920"/>
          </a:xfrm>
          <a:prstGeom prst="line">
            <a:avLst/>
          </a:prstGeom>
          <a:noFill/>
          <a:ln w="19050">
            <a:solidFill>
              <a:schemeClr val="accent5"/>
            </a:solidFill>
            <a:prstDash val="dash"/>
          </a:ln>
        </p:spPr>
      </p:sp>
      <p:sp>
        <p:nvSpPr>
          <p:cNvPr id="7" name="connector"/>
          <p:cNvSpPr/>
          <p:nvPr/>
        </p:nvSpPr>
        <p:spPr>
          <a:xfrm flipH="1">
            <a:off x="1737360" y="3794760"/>
            <a:ext cx="1737360" cy="1645920"/>
          </a:xfrm>
          <a:prstGeom prst="line">
            <a:avLst/>
          </a:prstGeom>
          <a:noFill/>
          <a:ln w="19050">
            <a:solidFill>
              <a:schemeClr val="accent5"/>
            </a:solidFill>
            <a:prstDash val="dash"/>
          </a:ln>
        </p:spPr>
      </p:sp>
      <p:sp>
        <p:nvSpPr>
          <p:cNvPr id="8" name="connector"/>
          <p:cNvSpPr/>
          <p:nvPr/>
        </p:nvSpPr>
        <p:spPr>
          <a:xfrm>
            <a:off x="3474720" y="3794760"/>
            <a:ext cx="1737360" cy="1645920"/>
          </a:xfrm>
          <a:prstGeom prst="line">
            <a:avLst/>
          </a:prstGeom>
          <a:noFill/>
          <a:ln w="19050">
            <a:solidFill>
              <a:schemeClr val="accent5"/>
            </a:solidFill>
            <a:prstDash val="dash"/>
          </a:ln>
        </p:spPr>
      </p:sp>
      <p:sp>
        <p:nvSpPr>
          <p:cNvPr id="9" name="scattered 교육 진도"/>
          <p:cNvSpPr/>
          <p:nvPr/>
        </p:nvSpPr>
        <p:spPr>
          <a:xfrm>
            <a:off x="548640" y="1691640"/>
            <a:ext cx="2377440" cy="914400"/>
          </a:xfrm>
          <a:prstGeom prst="roundRect">
            <a:avLst>
              <a:gd name="adj" fmla="val 14000"/>
            </a:avLst>
          </a:prstGeom>
          <a:solidFill>
            <a:schemeClr val="bg1"/>
          </a:solidFill>
          <a:ln/>
          <a:effectLst>
            <a:outerShdw sx="100000" sy="100000" kx="0" ky="0" algn="bl" rotWithShape="0" blurRad="127000" dist="38100" dir="5400000">
              <a:srgbClr val="0A2540">
                <a:alpha val="14000"/>
              </a:srgbClr>
            </a:outerShdw>
          </a:effectLst>
        </p:spPr>
      </p:sp>
      <p:sp>
        <p:nvSpPr>
          <p:cNvPr id="10" name="교육 진도 circle"/>
          <p:cNvSpPr/>
          <p:nvPr/>
        </p:nvSpPr>
        <p:spPr>
          <a:xfrm>
            <a:off x="731520" y="1874520"/>
            <a:ext cx="548640" cy="548640"/>
          </a:xfrm>
          <a:prstGeom prst="ellipse">
            <a:avLst/>
          </a:prstGeom>
          <a:solidFill>
            <a:schemeClr val="accent6"/>
          </a:solidFill>
          <a:ln/>
        </p:spPr>
      </p:sp>
      <p:pic>
        <p:nvPicPr>
          <p:cNvPr id="11" name="교육 진도 icon" descr="교육 진도">    </p:cNvPr>
          <p:cNvPicPr>
            <a:picLocks noChangeAspect="1"/>
          </p:cNvPicPr>
          <p:nvPr/>
        </p:nvPicPr>
        <p:blipFill>
          <a:blip r:embed="rId1"/>
          <a:stretch>
            <a:fillRect/>
          </a:stretch>
        </p:blipFill>
        <p:spPr>
          <a:xfrm>
            <a:off x="879653" y="2022653"/>
            <a:ext cx="252374" cy="252374"/>
          </a:xfrm>
          <a:prstGeom prst="rect">
            <a:avLst/>
          </a:prstGeom>
        </p:spPr>
      </p:pic>
      <p:sp>
        <p:nvSpPr>
          <p:cNvPr id="12" name="Text 8"/>
          <p:cNvSpPr txBox="1"/>
          <p:nvPr/>
        </p:nvSpPr>
        <p:spPr>
          <a:xfrm>
            <a:off x="1417320" y="1874520"/>
            <a:ext cx="1463040" cy="292608"/>
          </a:xfrm>
          <a:prstGeom prst="rect">
            <a:avLst/>
          </a:prstGeom>
          <a:noFill/>
          <a:ln/>
        </p:spPr>
        <p:txBody>
          <a:bodyPr wrap="square" lIns="0" tIns="0" rIns="0" bIns="0" rtlCol="0" anchor="t"/>
          <a:lstStyle/>
          <a:p>
            <a:pPr indent="0" marL="0">
              <a:buNone/>
            </a:pPr>
            <a:r>
              <a:rPr lang="en-US" sz="1400" b="1" dirty="0">
                <a:solidFill>
                  <a:schemeClr val="tx1"/>
                </a:solidFill>
              </a:rPr>
              <a:t>교육 진도</a:t>
            </a:r>
            <a:endParaRPr lang="en-US" sz="1400" dirty="0"/>
          </a:p>
        </p:txBody>
      </p:sp>
      <p:sp>
        <p:nvSpPr>
          <p:cNvPr id="13" name="Text 9"/>
          <p:cNvSpPr txBox="1"/>
          <p:nvPr/>
        </p:nvSpPr>
        <p:spPr>
          <a:xfrm>
            <a:off x="1417320" y="2185416"/>
            <a:ext cx="1463040" cy="256032"/>
          </a:xfrm>
          <a:prstGeom prst="rect">
            <a:avLst/>
          </a:prstGeom>
          <a:noFill/>
          <a:ln/>
        </p:spPr>
        <p:txBody>
          <a:bodyPr wrap="square" lIns="0" tIns="0" rIns="0" bIns="0" rtlCol="0" anchor="t"/>
          <a:lstStyle/>
          <a:p>
            <a:pPr indent="0" marL="0">
              <a:buNone/>
            </a:pPr>
            <a:r>
              <a:rPr lang="en-US" sz="1200" dirty="0">
                <a:solidFill>
                  <a:schemeClr val="accent4"/>
                </a:solidFill>
              </a:rPr>
              <a:t>엑셀 표</a:t>
            </a:r>
            <a:endParaRPr lang="en-US" sz="1200" dirty="0"/>
          </a:p>
        </p:txBody>
      </p:sp>
      <p:sp>
        <p:nvSpPr>
          <p:cNvPr id="14" name="scattered 일정 안내·참석"/>
          <p:cNvSpPr/>
          <p:nvPr/>
        </p:nvSpPr>
        <p:spPr>
          <a:xfrm>
            <a:off x="4023360" y="1691640"/>
            <a:ext cx="2377440" cy="914400"/>
          </a:xfrm>
          <a:prstGeom prst="roundRect">
            <a:avLst>
              <a:gd name="adj" fmla="val 14000"/>
            </a:avLst>
          </a:prstGeom>
          <a:solidFill>
            <a:schemeClr val="bg1"/>
          </a:solidFill>
          <a:ln/>
          <a:effectLst>
            <a:outerShdw sx="100000" sy="100000" kx="0" ky="0" algn="bl" rotWithShape="0" blurRad="127000" dist="38100" dir="5400000">
              <a:srgbClr val="0A2540">
                <a:alpha val="14000"/>
              </a:srgbClr>
            </a:outerShdw>
          </a:effectLst>
        </p:spPr>
      </p:sp>
      <p:sp>
        <p:nvSpPr>
          <p:cNvPr id="15" name="일정 안내·참석 circle"/>
          <p:cNvSpPr/>
          <p:nvPr/>
        </p:nvSpPr>
        <p:spPr>
          <a:xfrm>
            <a:off x="4206240" y="1874520"/>
            <a:ext cx="548640" cy="548640"/>
          </a:xfrm>
          <a:prstGeom prst="ellipse">
            <a:avLst/>
          </a:prstGeom>
          <a:solidFill>
            <a:schemeClr val="accent6"/>
          </a:solidFill>
          <a:ln/>
        </p:spPr>
      </p:sp>
      <p:pic>
        <p:nvPicPr>
          <p:cNvPr id="16" name="일정 안내·참석 icon" descr="일정 안내·참석">    </p:cNvPr>
          <p:cNvPicPr>
            <a:picLocks noChangeAspect="1"/>
          </p:cNvPicPr>
          <p:nvPr/>
        </p:nvPicPr>
        <p:blipFill>
          <a:blip r:embed="rId2"/>
          <a:stretch>
            <a:fillRect/>
          </a:stretch>
        </p:blipFill>
        <p:spPr>
          <a:xfrm>
            <a:off x="4354373" y="2022653"/>
            <a:ext cx="252374" cy="252374"/>
          </a:xfrm>
          <a:prstGeom prst="rect">
            <a:avLst/>
          </a:prstGeom>
        </p:spPr>
      </p:pic>
      <p:sp>
        <p:nvSpPr>
          <p:cNvPr id="17" name="Text 12"/>
          <p:cNvSpPr txBox="1"/>
          <p:nvPr/>
        </p:nvSpPr>
        <p:spPr>
          <a:xfrm>
            <a:off x="4892040" y="1874520"/>
            <a:ext cx="1463040" cy="292608"/>
          </a:xfrm>
          <a:prstGeom prst="rect">
            <a:avLst/>
          </a:prstGeom>
          <a:noFill/>
          <a:ln/>
        </p:spPr>
        <p:txBody>
          <a:bodyPr wrap="square" lIns="0" tIns="0" rIns="0" bIns="0" rtlCol="0" anchor="t"/>
          <a:lstStyle/>
          <a:p>
            <a:pPr indent="0" marL="0">
              <a:buNone/>
            </a:pPr>
            <a:r>
              <a:rPr lang="en-US" sz="1400" b="1" dirty="0">
                <a:solidFill>
                  <a:schemeClr val="tx1"/>
                </a:solidFill>
              </a:rPr>
              <a:t>일정 안내·참석</a:t>
            </a:r>
            <a:endParaRPr lang="en-US" sz="1400" dirty="0"/>
          </a:p>
        </p:txBody>
      </p:sp>
      <p:sp>
        <p:nvSpPr>
          <p:cNvPr id="18" name="Text 13"/>
          <p:cNvSpPr txBox="1"/>
          <p:nvPr/>
        </p:nvSpPr>
        <p:spPr>
          <a:xfrm>
            <a:off x="4892040" y="2185416"/>
            <a:ext cx="1463040" cy="256032"/>
          </a:xfrm>
          <a:prstGeom prst="rect">
            <a:avLst/>
          </a:prstGeom>
          <a:noFill/>
          <a:ln/>
        </p:spPr>
        <p:txBody>
          <a:bodyPr wrap="square" lIns="0" tIns="0" rIns="0" bIns="0" rtlCol="0" anchor="t"/>
          <a:lstStyle/>
          <a:p>
            <a:pPr indent="0" marL="0">
              <a:buNone/>
            </a:pPr>
            <a:r>
              <a:rPr lang="en-US" sz="1200" dirty="0">
                <a:solidFill>
                  <a:schemeClr val="accent4"/>
                </a:solidFill>
              </a:rPr>
              <a:t>별도 연락</a:t>
            </a:r>
            <a:endParaRPr lang="en-US" sz="1200" dirty="0"/>
          </a:p>
        </p:txBody>
      </p:sp>
      <p:sp>
        <p:nvSpPr>
          <p:cNvPr id="19" name="scattered 동의서·진술서"/>
          <p:cNvSpPr/>
          <p:nvPr/>
        </p:nvSpPr>
        <p:spPr>
          <a:xfrm>
            <a:off x="548640" y="4983480"/>
            <a:ext cx="2377440" cy="914400"/>
          </a:xfrm>
          <a:prstGeom prst="roundRect">
            <a:avLst>
              <a:gd name="adj" fmla="val 14000"/>
            </a:avLst>
          </a:prstGeom>
          <a:solidFill>
            <a:schemeClr val="bg1"/>
          </a:solidFill>
          <a:ln/>
          <a:effectLst>
            <a:outerShdw sx="100000" sy="100000" kx="0" ky="0" algn="bl" rotWithShape="0" blurRad="127000" dist="38100" dir="5400000">
              <a:srgbClr val="0A2540">
                <a:alpha val="14000"/>
              </a:srgbClr>
            </a:outerShdw>
          </a:effectLst>
        </p:spPr>
      </p:sp>
      <p:sp>
        <p:nvSpPr>
          <p:cNvPr id="20" name="동의서·진술서 circle"/>
          <p:cNvSpPr/>
          <p:nvPr/>
        </p:nvSpPr>
        <p:spPr>
          <a:xfrm>
            <a:off x="731520" y="5166360"/>
            <a:ext cx="548640" cy="548640"/>
          </a:xfrm>
          <a:prstGeom prst="ellipse">
            <a:avLst/>
          </a:prstGeom>
          <a:solidFill>
            <a:schemeClr val="accent6"/>
          </a:solidFill>
          <a:ln/>
        </p:spPr>
      </p:sp>
      <p:pic>
        <p:nvPicPr>
          <p:cNvPr id="21" name="동의서·진술서 icon" descr="동의서·진술서">    </p:cNvPr>
          <p:cNvPicPr>
            <a:picLocks noChangeAspect="1"/>
          </p:cNvPicPr>
          <p:nvPr/>
        </p:nvPicPr>
        <p:blipFill>
          <a:blip r:embed="rId3"/>
          <a:stretch>
            <a:fillRect/>
          </a:stretch>
        </p:blipFill>
        <p:spPr>
          <a:xfrm>
            <a:off x="879653" y="5314493"/>
            <a:ext cx="252374" cy="252374"/>
          </a:xfrm>
          <a:prstGeom prst="rect">
            <a:avLst/>
          </a:prstGeom>
        </p:spPr>
      </p:pic>
      <p:sp>
        <p:nvSpPr>
          <p:cNvPr id="22" name="Text 16"/>
          <p:cNvSpPr txBox="1"/>
          <p:nvPr/>
        </p:nvSpPr>
        <p:spPr>
          <a:xfrm>
            <a:off x="1417320" y="5166360"/>
            <a:ext cx="1463040" cy="292608"/>
          </a:xfrm>
          <a:prstGeom prst="rect">
            <a:avLst/>
          </a:prstGeom>
          <a:noFill/>
          <a:ln/>
        </p:spPr>
        <p:txBody>
          <a:bodyPr wrap="square" lIns="0" tIns="0" rIns="0" bIns="0" rtlCol="0" anchor="t"/>
          <a:lstStyle/>
          <a:p>
            <a:pPr indent="0" marL="0">
              <a:buNone/>
            </a:pPr>
            <a:r>
              <a:rPr lang="en-US" sz="1400" b="1" dirty="0">
                <a:solidFill>
                  <a:schemeClr val="tx1"/>
                </a:solidFill>
              </a:rPr>
              <a:t>동의서·진술서</a:t>
            </a:r>
            <a:endParaRPr lang="en-US" sz="1400" dirty="0"/>
          </a:p>
        </p:txBody>
      </p:sp>
      <p:sp>
        <p:nvSpPr>
          <p:cNvPr id="23" name="Text 17"/>
          <p:cNvSpPr txBox="1"/>
          <p:nvPr/>
        </p:nvSpPr>
        <p:spPr>
          <a:xfrm>
            <a:off x="1417320" y="5477256"/>
            <a:ext cx="1463040" cy="256032"/>
          </a:xfrm>
          <a:prstGeom prst="rect">
            <a:avLst/>
          </a:prstGeom>
          <a:noFill/>
          <a:ln/>
        </p:spPr>
        <p:txBody>
          <a:bodyPr wrap="square" lIns="0" tIns="0" rIns="0" bIns="0" rtlCol="0" anchor="t"/>
          <a:lstStyle/>
          <a:p>
            <a:pPr indent="0" marL="0">
              <a:buNone/>
            </a:pPr>
            <a:r>
              <a:rPr lang="en-US" sz="1200" dirty="0">
                <a:solidFill>
                  <a:schemeClr val="accent4"/>
                </a:solidFill>
              </a:rPr>
              <a:t>별도 서류</a:t>
            </a:r>
            <a:endParaRPr lang="en-US" sz="1200" dirty="0"/>
          </a:p>
        </p:txBody>
      </p:sp>
      <p:sp>
        <p:nvSpPr>
          <p:cNvPr id="24" name="scattered 수업 피드백"/>
          <p:cNvSpPr/>
          <p:nvPr/>
        </p:nvSpPr>
        <p:spPr>
          <a:xfrm>
            <a:off x="4023360" y="4983480"/>
            <a:ext cx="2377440" cy="914400"/>
          </a:xfrm>
          <a:prstGeom prst="roundRect">
            <a:avLst>
              <a:gd name="adj" fmla="val 14000"/>
            </a:avLst>
          </a:prstGeom>
          <a:solidFill>
            <a:schemeClr val="bg1"/>
          </a:solidFill>
          <a:ln/>
          <a:effectLst>
            <a:outerShdw sx="100000" sy="100000" kx="0" ky="0" algn="bl" rotWithShape="0" blurRad="127000" dist="38100" dir="5400000">
              <a:srgbClr val="0A2540">
                <a:alpha val="14000"/>
              </a:srgbClr>
            </a:outerShdw>
          </a:effectLst>
        </p:spPr>
      </p:sp>
      <p:sp>
        <p:nvSpPr>
          <p:cNvPr id="25" name="수업 피드백 circle"/>
          <p:cNvSpPr/>
          <p:nvPr/>
        </p:nvSpPr>
        <p:spPr>
          <a:xfrm>
            <a:off x="4206240" y="5166360"/>
            <a:ext cx="548640" cy="548640"/>
          </a:xfrm>
          <a:prstGeom prst="ellipse">
            <a:avLst/>
          </a:prstGeom>
          <a:solidFill>
            <a:schemeClr val="accent6"/>
          </a:solidFill>
          <a:ln/>
        </p:spPr>
      </p:sp>
      <p:pic>
        <p:nvPicPr>
          <p:cNvPr id="26" name="수업 피드백 icon" descr="수업 피드백">    </p:cNvPr>
          <p:cNvPicPr>
            <a:picLocks noChangeAspect="1"/>
          </p:cNvPicPr>
          <p:nvPr/>
        </p:nvPicPr>
        <p:blipFill>
          <a:blip r:embed="rId4"/>
          <a:stretch>
            <a:fillRect/>
          </a:stretch>
        </p:blipFill>
        <p:spPr>
          <a:xfrm>
            <a:off x="4354373" y="5314493"/>
            <a:ext cx="252374" cy="252374"/>
          </a:xfrm>
          <a:prstGeom prst="rect">
            <a:avLst/>
          </a:prstGeom>
        </p:spPr>
      </p:pic>
      <p:sp>
        <p:nvSpPr>
          <p:cNvPr id="27" name="Text 20"/>
          <p:cNvSpPr txBox="1"/>
          <p:nvPr/>
        </p:nvSpPr>
        <p:spPr>
          <a:xfrm>
            <a:off x="4892040" y="5166360"/>
            <a:ext cx="1463040" cy="292608"/>
          </a:xfrm>
          <a:prstGeom prst="rect">
            <a:avLst/>
          </a:prstGeom>
          <a:noFill/>
          <a:ln/>
        </p:spPr>
        <p:txBody>
          <a:bodyPr wrap="square" lIns="0" tIns="0" rIns="0" bIns="0" rtlCol="0" anchor="t"/>
          <a:lstStyle/>
          <a:p>
            <a:pPr indent="0" marL="0">
              <a:buNone/>
            </a:pPr>
            <a:r>
              <a:rPr lang="en-US" sz="1400" b="1" dirty="0">
                <a:solidFill>
                  <a:schemeClr val="tx1"/>
                </a:solidFill>
              </a:rPr>
              <a:t>수업 피드백</a:t>
            </a:r>
            <a:endParaRPr lang="en-US" sz="1400" dirty="0"/>
          </a:p>
        </p:txBody>
      </p:sp>
      <p:sp>
        <p:nvSpPr>
          <p:cNvPr id="28" name="Text 21"/>
          <p:cNvSpPr txBox="1"/>
          <p:nvPr/>
        </p:nvSpPr>
        <p:spPr>
          <a:xfrm>
            <a:off x="4892040" y="5477256"/>
            <a:ext cx="1463040" cy="256032"/>
          </a:xfrm>
          <a:prstGeom prst="rect">
            <a:avLst/>
          </a:prstGeom>
          <a:noFill/>
          <a:ln/>
        </p:spPr>
        <p:txBody>
          <a:bodyPr wrap="square" lIns="0" tIns="0" rIns="0" bIns="0" rtlCol="0" anchor="t"/>
          <a:lstStyle/>
          <a:p>
            <a:pPr indent="0" marL="0">
              <a:buNone/>
            </a:pPr>
            <a:r>
              <a:rPr lang="en-US" sz="1200" dirty="0">
                <a:solidFill>
                  <a:schemeClr val="accent4"/>
                </a:solidFill>
              </a:rPr>
              <a:t>별도 메모</a:t>
            </a:r>
            <a:endParaRPr lang="en-US" sz="1200" dirty="0"/>
          </a:p>
        </p:txBody>
      </p:sp>
      <p:sp>
        <p:nvSpPr>
          <p:cNvPr id="29" name="student hub"/>
          <p:cNvSpPr/>
          <p:nvPr/>
        </p:nvSpPr>
        <p:spPr>
          <a:xfrm>
            <a:off x="2743200" y="3063240"/>
            <a:ext cx="1463040" cy="1463040"/>
          </a:xfrm>
          <a:prstGeom prst="ellipse">
            <a:avLst/>
          </a:prstGeom>
          <a:solidFill>
            <a:schemeClr val="accent3"/>
          </a:solidFill>
          <a:ln w="50800">
            <a:solidFill>
              <a:schemeClr val="bg1"/>
            </a:solidFill>
            <a:prstDash val="solid"/>
          </a:ln>
          <a:effectLst>
            <a:outerShdw sx="100000" sy="100000" kx="0" ky="0" algn="bl" rotWithShape="0" blurRad="127000" dist="38100" dir="5400000">
              <a:srgbClr val="0A2540">
                <a:alpha val="14000"/>
              </a:srgbClr>
            </a:outerShdw>
          </a:effectLst>
        </p:spPr>
      </p:sp>
      <p:pic>
        <p:nvPicPr>
          <p:cNvPr id="30" name="student icon" descr="교육생">    </p:cNvPr>
          <p:cNvPicPr>
            <a:picLocks noChangeAspect="1"/>
          </p:cNvPicPr>
          <p:nvPr/>
        </p:nvPicPr>
        <p:blipFill>
          <a:blip r:embed="rId5"/>
          <a:stretch>
            <a:fillRect/>
          </a:stretch>
        </p:blipFill>
        <p:spPr>
          <a:xfrm>
            <a:off x="3246120" y="3264408"/>
            <a:ext cx="457200" cy="457200"/>
          </a:xfrm>
          <a:prstGeom prst="rect">
            <a:avLst/>
          </a:prstGeom>
        </p:spPr>
      </p:pic>
      <p:sp>
        <p:nvSpPr>
          <p:cNvPr id="31" name="Text 23"/>
          <p:cNvSpPr txBox="1"/>
          <p:nvPr/>
        </p:nvSpPr>
        <p:spPr>
          <a:xfrm>
            <a:off x="2743200" y="3794760"/>
            <a:ext cx="1463040" cy="320040"/>
          </a:xfrm>
          <a:prstGeom prst="rect">
            <a:avLst/>
          </a:prstGeom>
          <a:noFill/>
          <a:ln/>
        </p:spPr>
        <p:txBody>
          <a:bodyPr wrap="square" lIns="0" tIns="0" rIns="0" bIns="0" rtlCol="0" anchor="t"/>
          <a:lstStyle/>
          <a:p>
            <a:pPr algn="ctr" indent="0" marL="0">
              <a:buNone/>
            </a:pPr>
            <a:r>
              <a:rPr lang="en-US" sz="1300" b="1" dirty="0">
                <a:solidFill>
                  <a:schemeClr val="bg1"/>
                </a:solidFill>
              </a:rPr>
              <a:t>교육생 한 명</a:t>
            </a:r>
            <a:endParaRPr lang="en-US" sz="1300" dirty="0"/>
          </a:p>
        </p:txBody>
      </p:sp>
      <p:sp>
        <p:nvSpPr>
          <p:cNvPr id="32" name="number 1"/>
          <p:cNvSpPr/>
          <p:nvPr/>
        </p:nvSpPr>
        <p:spPr>
          <a:xfrm>
            <a:off x="7040880" y="1874520"/>
            <a:ext cx="502920" cy="502920"/>
          </a:xfrm>
          <a:prstGeom prst="ellipse">
            <a:avLst/>
          </a:prstGeom>
          <a:solidFill>
            <a:schemeClr val="accent2"/>
          </a:solidFill>
          <a:ln/>
        </p:spPr>
      </p:sp>
      <p:sp>
        <p:nvSpPr>
          <p:cNvPr id="33" name="Text 25"/>
          <p:cNvSpPr txBox="1"/>
          <p:nvPr/>
        </p:nvSpPr>
        <p:spPr>
          <a:xfrm>
            <a:off x="7040880" y="18745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34" name="Text 26"/>
          <p:cNvSpPr txBox="1"/>
          <p:nvPr/>
        </p:nvSpPr>
        <p:spPr>
          <a:xfrm>
            <a:off x="7772400" y="1783080"/>
            <a:ext cx="3657600" cy="274320"/>
          </a:xfrm>
          <a:prstGeom prst="rect">
            <a:avLst/>
          </a:prstGeom>
          <a:noFill/>
          <a:ln/>
        </p:spPr>
        <p:txBody>
          <a:bodyPr wrap="square" lIns="0" tIns="0" rIns="0" bIns="0" rtlCol="0" anchor="t"/>
          <a:lstStyle/>
          <a:p>
            <a:pPr indent="0" marL="0">
              <a:buNone/>
            </a:pPr>
            <a:r>
              <a:rPr lang="en-US" sz="1200" b="1" dirty="0">
                <a:solidFill>
                  <a:schemeClr val="accent4"/>
                </a:solidFill>
              </a:rPr>
              <a:t>수업 전</a:t>
            </a:r>
            <a:endParaRPr lang="en-US" sz="1200" dirty="0"/>
          </a:p>
        </p:txBody>
      </p:sp>
      <p:sp>
        <p:nvSpPr>
          <p:cNvPr id="35" name="Text 27"/>
          <p:cNvSpPr txBox="1"/>
          <p:nvPr/>
        </p:nvSpPr>
        <p:spPr>
          <a:xfrm>
            <a:off x="7772400" y="2057400"/>
            <a:ext cx="3840480" cy="411480"/>
          </a:xfrm>
          <a:prstGeom prst="rect">
            <a:avLst/>
          </a:prstGeom>
          <a:noFill/>
          <a:ln/>
        </p:spPr>
        <p:txBody>
          <a:bodyPr wrap="square" lIns="0" tIns="0" rIns="0" bIns="0" rtlCol="0" anchor="t"/>
          <a:lstStyle/>
          <a:p>
            <a:pPr indent="0" marL="0">
              <a:buNone/>
            </a:pPr>
            <a:r>
              <a:rPr lang="en-US" sz="2000" b="1" dirty="0">
                <a:solidFill>
                  <a:schemeClr val="tx1"/>
                </a:solidFill>
              </a:rPr>
              <a:t>지난 진도를 다시 찾고</a:t>
            </a:r>
            <a:endParaRPr lang="en-US" sz="2000" dirty="0"/>
          </a:p>
        </p:txBody>
      </p:sp>
      <p:sp>
        <p:nvSpPr>
          <p:cNvPr id="36" name="number 2"/>
          <p:cNvSpPr/>
          <p:nvPr/>
        </p:nvSpPr>
        <p:spPr>
          <a:xfrm>
            <a:off x="7040880" y="2743200"/>
            <a:ext cx="502920" cy="502920"/>
          </a:xfrm>
          <a:prstGeom prst="ellipse">
            <a:avLst/>
          </a:prstGeom>
          <a:solidFill>
            <a:schemeClr val="accent2"/>
          </a:solidFill>
          <a:ln/>
        </p:spPr>
      </p:sp>
      <p:sp>
        <p:nvSpPr>
          <p:cNvPr id="37" name="Text 29"/>
          <p:cNvSpPr txBox="1"/>
          <p:nvPr/>
        </p:nvSpPr>
        <p:spPr>
          <a:xfrm>
            <a:off x="7040880" y="27432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38" name="Text 30"/>
          <p:cNvSpPr txBox="1"/>
          <p:nvPr/>
        </p:nvSpPr>
        <p:spPr>
          <a:xfrm>
            <a:off x="7772400" y="2651760"/>
            <a:ext cx="3657600" cy="274320"/>
          </a:xfrm>
          <a:prstGeom prst="rect">
            <a:avLst/>
          </a:prstGeom>
          <a:noFill/>
          <a:ln/>
        </p:spPr>
        <p:txBody>
          <a:bodyPr wrap="square" lIns="0" tIns="0" rIns="0" bIns="0" rtlCol="0" anchor="t"/>
          <a:lstStyle/>
          <a:p>
            <a:pPr indent="0" marL="0">
              <a:buNone/>
            </a:pPr>
            <a:r>
              <a:rPr lang="en-US" sz="1200" b="1" dirty="0">
                <a:solidFill>
                  <a:schemeClr val="accent4"/>
                </a:solidFill>
              </a:rPr>
              <a:t>수업 후</a:t>
            </a:r>
            <a:endParaRPr lang="en-US" sz="1200" dirty="0"/>
          </a:p>
        </p:txBody>
      </p:sp>
      <p:sp>
        <p:nvSpPr>
          <p:cNvPr id="39" name="Text 31"/>
          <p:cNvSpPr txBox="1"/>
          <p:nvPr/>
        </p:nvSpPr>
        <p:spPr>
          <a:xfrm>
            <a:off x="7772400" y="2926080"/>
            <a:ext cx="3840480" cy="411480"/>
          </a:xfrm>
          <a:prstGeom prst="rect">
            <a:avLst/>
          </a:prstGeom>
          <a:noFill/>
          <a:ln/>
        </p:spPr>
        <p:txBody>
          <a:bodyPr wrap="square" lIns="0" tIns="0" rIns="0" bIns="0" rtlCol="0" anchor="t"/>
          <a:lstStyle/>
          <a:p>
            <a:pPr indent="0" marL="0">
              <a:buNone/>
            </a:pPr>
            <a:r>
              <a:rPr lang="en-US" sz="2000" b="1" dirty="0">
                <a:solidFill>
                  <a:schemeClr val="tx1"/>
                </a:solidFill>
              </a:rPr>
              <a:t>배운 내용을 따로 정리하고</a:t>
            </a:r>
            <a:endParaRPr lang="en-US" sz="2000" dirty="0"/>
          </a:p>
        </p:txBody>
      </p:sp>
      <p:sp>
        <p:nvSpPr>
          <p:cNvPr id="40" name="number 3"/>
          <p:cNvSpPr/>
          <p:nvPr/>
        </p:nvSpPr>
        <p:spPr>
          <a:xfrm>
            <a:off x="7040880" y="3611880"/>
            <a:ext cx="502920" cy="502920"/>
          </a:xfrm>
          <a:prstGeom prst="ellipse">
            <a:avLst/>
          </a:prstGeom>
          <a:solidFill>
            <a:schemeClr val="accent3"/>
          </a:solidFill>
          <a:ln/>
        </p:spPr>
      </p:sp>
      <p:sp>
        <p:nvSpPr>
          <p:cNvPr id="41" name="Text 33"/>
          <p:cNvSpPr txBox="1"/>
          <p:nvPr/>
        </p:nvSpPr>
        <p:spPr>
          <a:xfrm>
            <a:off x="7040880" y="36118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42" name="Text 34"/>
          <p:cNvSpPr txBox="1"/>
          <p:nvPr/>
        </p:nvSpPr>
        <p:spPr>
          <a:xfrm>
            <a:off x="7772400" y="3520440"/>
            <a:ext cx="3657600" cy="274320"/>
          </a:xfrm>
          <a:prstGeom prst="rect">
            <a:avLst/>
          </a:prstGeom>
          <a:noFill/>
          <a:ln/>
        </p:spPr>
        <p:txBody>
          <a:bodyPr wrap="square" lIns="0" tIns="0" rIns="0" bIns="0" rtlCol="0" anchor="t"/>
          <a:lstStyle/>
          <a:p>
            <a:pPr indent="0" marL="0">
              <a:buNone/>
            </a:pPr>
            <a:r>
              <a:rPr lang="en-US" sz="1200" b="1" dirty="0">
                <a:solidFill>
                  <a:schemeClr val="accent4"/>
                </a:solidFill>
              </a:rPr>
              <a:t>다음 수업</a:t>
            </a:r>
            <a:endParaRPr lang="en-US" sz="1200" dirty="0"/>
          </a:p>
        </p:txBody>
      </p:sp>
      <p:sp>
        <p:nvSpPr>
          <p:cNvPr id="43" name="Text 35"/>
          <p:cNvSpPr txBox="1"/>
          <p:nvPr/>
        </p:nvSpPr>
        <p:spPr>
          <a:xfrm>
            <a:off x="7772400" y="3794760"/>
            <a:ext cx="3840480" cy="411480"/>
          </a:xfrm>
          <a:prstGeom prst="rect">
            <a:avLst/>
          </a:prstGeom>
          <a:noFill/>
          <a:ln/>
        </p:spPr>
        <p:txBody>
          <a:bodyPr wrap="square" lIns="0" tIns="0" rIns="0" bIns="0" rtlCol="0" anchor="t"/>
          <a:lstStyle/>
          <a:p>
            <a:pPr indent="0" marL="0">
              <a:buNone/>
            </a:pPr>
            <a:r>
              <a:rPr lang="en-US" sz="2000" b="1" dirty="0">
                <a:solidFill>
                  <a:schemeClr val="tx1"/>
                </a:solidFill>
              </a:rPr>
              <a:t>기록을 또 확인합니다</a:t>
            </a:r>
            <a:endParaRPr lang="en-US" sz="2000" dirty="0"/>
          </a:p>
        </p:txBody>
      </p:sp>
      <p:sp>
        <p:nvSpPr>
          <p:cNvPr id="44" name="quote box"/>
          <p:cNvSpPr/>
          <p:nvPr/>
        </p:nvSpPr>
        <p:spPr>
          <a:xfrm>
            <a:off x="7040880" y="4526280"/>
            <a:ext cx="4599432" cy="1234440"/>
          </a:xfrm>
          <a:prstGeom prst="roundRect">
            <a:avLst>
              <a:gd name="adj" fmla="val 10370"/>
            </a:avLst>
          </a:prstGeom>
          <a:solidFill>
            <a:schemeClr val="accent6"/>
          </a:solidFill>
          <a:ln/>
        </p:spPr>
      </p:sp>
      <p:sp>
        <p:nvSpPr>
          <p:cNvPr id="45" name="Text 37"/>
          <p:cNvSpPr txBox="1"/>
          <p:nvPr/>
        </p:nvSpPr>
        <p:spPr>
          <a:xfrm>
            <a:off x="7315200" y="4526280"/>
            <a:ext cx="4206240" cy="1234440"/>
          </a:xfrm>
          <a:prstGeom prst="rect">
            <a:avLst/>
          </a:prstGeom>
          <a:noFill/>
          <a:ln/>
        </p:spPr>
        <p:txBody>
          <a:bodyPr wrap="square" lIns="0" tIns="0" rIns="0" bIns="0" rtlCol="0" anchor="ctr"/>
          <a:lstStyle/>
          <a:p>
            <a:pPr indent="0" marL="0">
              <a:buNone/>
            </a:pPr>
            <a:r>
              <a:rPr lang="en-US" sz="2200" b="1" dirty="0">
                <a:solidFill>
                  <a:schemeClr val="accent2"/>
                </a:solidFill>
              </a:rPr>
              <a:t>“진도는 엑셀에,</a:t>
            </a:r>
            <a:endParaRPr lang="en-US" sz="2200" dirty="0"/>
          </a:p>
          <a:p>
            <a:pPr indent="0" marL="0">
              <a:buNone/>
            </a:pPr>
            <a:r>
              <a:rPr lang="en-US" sz="2200" b="1" dirty="0">
                <a:solidFill>
                  <a:schemeClr val="accent2"/>
                </a:solidFill>
              </a:rPr>
              <a:t>다음 수업 준비는 다시.”</a:t>
            </a:r>
            <a:endParaRPr lang="en-US" sz="2200" dirty="0"/>
          </a:p>
        </p:txBody>
      </p:sp>
      <p:sp>
        <p:nvSpPr>
          <p:cNvPr id="46" name="Text 38"/>
          <p:cNvSpPr txBox="1"/>
          <p:nvPr/>
        </p:nvSpPr>
        <p:spPr>
          <a:xfrm>
            <a:off x="7040880" y="5897880"/>
            <a:ext cx="4599432" cy="274320"/>
          </a:xfrm>
          <a:prstGeom prst="rect">
            <a:avLst/>
          </a:prstGeom>
          <a:noFill/>
          <a:ln/>
        </p:spPr>
        <p:txBody>
          <a:bodyPr wrap="square" lIns="0" tIns="0" rIns="0" bIns="0" rtlCol="0" anchor="t"/>
          <a:lstStyle/>
          <a:p>
            <a:pPr indent="0" marL="0">
              <a:buNone/>
            </a:pPr>
            <a:r>
              <a:rPr lang="en-US" sz="1000" dirty="0">
                <a:solidFill>
                  <a:schemeClr val="accent4"/>
                </a:solidFill>
              </a:rPr>
              <a:t>대표자·협업 강사의 현장 관찰 기반 문제 정의 (업계 통계 아님)</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7315200" cy="292608"/>
          </a:xfrm>
          <a:prstGeom prst="rect">
            <a:avLst/>
          </a:prstGeom>
          <a:noFill/>
          <a:ln/>
        </p:spPr>
        <p:txBody>
          <a:bodyPr wrap="square" lIns="0" tIns="0" rIns="0" bIns="0" rtlCol="0"/>
          <a:lstStyle/>
          <a:p>
            <a:pPr indent="0" marL="0">
              <a:buNone/>
            </a:pPr>
            <a:r>
              <a:rPr lang="en-US" sz="1300" b="1" spc="100" kern="0" dirty="0">
                <a:solidFill>
                  <a:schemeClr val="accent1"/>
                </a:solidFill>
              </a:rPr>
              <a:t>02  해결</a:t>
            </a:r>
            <a:endParaRPr lang="en-US" sz="1300" dirty="0"/>
          </a:p>
        </p:txBody>
      </p:sp>
      <p:sp>
        <p:nvSpPr>
          <p:cNvPr id="3" name="Text 1"/>
          <p:cNvSpPr/>
          <p:nvPr>
            <p:ph idx="102"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200" b="1" dirty="0">
                <a:solidFill>
                  <a:schemeClr val="bg1"/>
                </a:solidFill>
              </a:rPr>
              <a:t>수업 단위로 이어지는 다섯 단계</a:t>
            </a:r>
            <a:endParaRPr lang="en-US" sz="3200" dirty="0"/>
          </a:p>
        </p:txBody>
      </p:sp>
      <p:sp>
        <p:nvSpPr>
          <p:cNvPr id="5" name="step card 1"/>
          <p:cNvSpPr/>
          <p:nvPr/>
        </p:nvSpPr>
        <p:spPr>
          <a:xfrm>
            <a:off x="548640" y="1783080"/>
            <a:ext cx="1999427" cy="2880360"/>
          </a:xfrm>
          <a:prstGeom prst="roundRect">
            <a:avLst>
              <a:gd name="adj" fmla="val 6403"/>
            </a:avLst>
          </a:prstGeom>
          <a:solidFill>
            <a:schemeClr val="bg1">
              <a:alpha val="10000"/>
            </a:schemeClr>
          </a:solidFill>
          <a:ln w="9525">
            <a:solidFill>
              <a:schemeClr val="accent5">
                <a:alpha val="40000"/>
              </a:schemeClr>
            </a:solidFill>
            <a:prstDash val="solid"/>
          </a:ln>
        </p:spPr>
      </p:sp>
      <p:sp>
        <p:nvSpPr>
          <p:cNvPr id="6" name="수업 준비 circle"/>
          <p:cNvSpPr/>
          <p:nvPr/>
        </p:nvSpPr>
        <p:spPr>
          <a:xfrm>
            <a:off x="822960" y="2103120"/>
            <a:ext cx="731520" cy="731520"/>
          </a:xfrm>
          <a:prstGeom prst="ellipse">
            <a:avLst/>
          </a:prstGeom>
          <a:solidFill>
            <a:schemeClr val="accent1"/>
          </a:solidFill>
          <a:ln/>
        </p:spPr>
      </p:sp>
      <p:pic>
        <p:nvPicPr>
          <p:cNvPr id="7" name="수업 준비 icon" descr="수업 준비">    </p:cNvPr>
          <p:cNvPicPr>
            <a:picLocks noChangeAspect="1"/>
          </p:cNvPicPr>
          <p:nvPr/>
        </p:nvPicPr>
        <p:blipFill>
          <a:blip r:embed="rId1"/>
          <a:stretch>
            <a:fillRect/>
          </a:stretch>
        </p:blipFill>
        <p:spPr>
          <a:xfrm>
            <a:off x="1020470" y="2300630"/>
            <a:ext cx="336499" cy="336499"/>
          </a:xfrm>
          <a:prstGeom prst="rect">
            <a:avLst/>
          </a:prstGeom>
        </p:spPr>
      </p:pic>
      <p:sp>
        <p:nvSpPr>
          <p:cNvPr id="8" name="Text 4"/>
          <p:cNvSpPr txBox="1"/>
          <p:nvPr/>
        </p:nvSpPr>
        <p:spPr>
          <a:xfrm>
            <a:off x="822960" y="3017520"/>
            <a:ext cx="1542227"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STEP 1</a:t>
            </a:r>
            <a:endParaRPr lang="en-US" sz="1100" dirty="0"/>
          </a:p>
        </p:txBody>
      </p:sp>
      <p:sp>
        <p:nvSpPr>
          <p:cNvPr id="9" name="Text 5"/>
          <p:cNvSpPr txBox="1"/>
          <p:nvPr/>
        </p:nvSpPr>
        <p:spPr>
          <a:xfrm>
            <a:off x="822960" y="3291840"/>
            <a:ext cx="1542227" cy="384048"/>
          </a:xfrm>
          <a:prstGeom prst="rect">
            <a:avLst/>
          </a:prstGeom>
          <a:noFill/>
          <a:ln/>
        </p:spPr>
        <p:txBody>
          <a:bodyPr wrap="square" lIns="0" tIns="0" rIns="0" bIns="0" rtlCol="0" anchor="t"/>
          <a:lstStyle/>
          <a:p>
            <a:pPr indent="0" marL="0">
              <a:buNone/>
            </a:pPr>
            <a:r>
              <a:rPr lang="en-US" sz="2000" b="1" dirty="0">
                <a:solidFill>
                  <a:schemeClr val="bg1"/>
                </a:solidFill>
              </a:rPr>
              <a:t>수업 준비</a:t>
            </a:r>
            <a:endParaRPr lang="en-US" sz="2000" dirty="0"/>
          </a:p>
        </p:txBody>
      </p:sp>
      <p:sp>
        <p:nvSpPr>
          <p:cNvPr id="10" name="Text 6"/>
          <p:cNvSpPr txBox="1"/>
          <p:nvPr/>
        </p:nvSpPr>
        <p:spPr>
          <a:xfrm>
            <a:off x="822960" y="3749040"/>
            <a:ext cx="1587947" cy="822960"/>
          </a:xfrm>
          <a:prstGeom prst="rect">
            <a:avLst/>
          </a:prstGeom>
          <a:noFill/>
          <a:ln/>
        </p:spPr>
        <p:txBody>
          <a:bodyPr wrap="square" lIns="0" tIns="0" rIns="0" bIns="0" rtlCol="0" anchor="t"/>
          <a:lstStyle/>
          <a:p>
            <a:pPr indent="0" marL="0">
              <a:lnSpc>
                <a:spcPct val="110000"/>
              </a:lnSpc>
              <a:buNone/>
            </a:pPr>
            <a:r>
              <a:rPr lang="en-US" sz="1400" dirty="0">
                <a:solidFill>
                  <a:schemeClr val="accent6"/>
                </a:solidFill>
              </a:rPr>
              <a:t>일정 작성·초대</a:t>
            </a:r>
            <a:endParaRPr lang="en-US" sz="1400" dirty="0"/>
          </a:p>
          <a:p>
            <a:pPr indent="0" marL="0">
              <a:lnSpc>
                <a:spcPct val="110000"/>
              </a:lnSpc>
              <a:buNone/>
            </a:pPr>
            <a:r>
              <a:rPr lang="en-US" sz="1400" dirty="0">
                <a:solidFill>
                  <a:schemeClr val="accent6"/>
                </a:solidFill>
              </a:rPr>
              <a:t>참석 응답 확인</a:t>
            </a:r>
            <a:endParaRPr lang="en-US" sz="1400" dirty="0"/>
          </a:p>
        </p:txBody>
      </p:sp>
      <p:pic>
        <p:nvPicPr>
          <p:cNvPr id="11" name="step arrow 0" descr="다음 단계">    </p:cNvPr>
          <p:cNvPicPr>
            <a:picLocks noChangeAspect="1"/>
          </p:cNvPicPr>
          <p:nvPr/>
        </p:nvPicPr>
        <p:blipFill>
          <a:blip r:embed="rId2"/>
          <a:stretch>
            <a:fillRect/>
          </a:stretch>
        </p:blipFill>
        <p:spPr>
          <a:xfrm>
            <a:off x="2566355" y="3108960"/>
            <a:ext cx="237744" cy="237744"/>
          </a:xfrm>
          <a:prstGeom prst="rect">
            <a:avLst/>
          </a:prstGeom>
        </p:spPr>
      </p:pic>
      <p:sp>
        <p:nvSpPr>
          <p:cNvPr id="12" name="step card 2"/>
          <p:cNvSpPr/>
          <p:nvPr/>
        </p:nvSpPr>
        <p:spPr>
          <a:xfrm>
            <a:off x="2822387" y="1783080"/>
            <a:ext cx="1999427" cy="2880360"/>
          </a:xfrm>
          <a:prstGeom prst="roundRect">
            <a:avLst>
              <a:gd name="adj" fmla="val 6403"/>
            </a:avLst>
          </a:prstGeom>
          <a:solidFill>
            <a:schemeClr val="bg1">
              <a:alpha val="10000"/>
            </a:schemeClr>
          </a:solidFill>
          <a:ln w="9525">
            <a:solidFill>
              <a:schemeClr val="accent5">
                <a:alpha val="40000"/>
              </a:schemeClr>
            </a:solidFill>
            <a:prstDash val="solid"/>
          </a:ln>
        </p:spPr>
      </p:sp>
      <p:sp>
        <p:nvSpPr>
          <p:cNvPr id="13" name="서류 확인 circle"/>
          <p:cNvSpPr/>
          <p:nvPr/>
        </p:nvSpPr>
        <p:spPr>
          <a:xfrm>
            <a:off x="3096707" y="2103120"/>
            <a:ext cx="731520" cy="731520"/>
          </a:xfrm>
          <a:prstGeom prst="ellipse">
            <a:avLst/>
          </a:prstGeom>
          <a:solidFill>
            <a:schemeClr val="accent1"/>
          </a:solidFill>
          <a:ln/>
        </p:spPr>
      </p:sp>
      <p:pic>
        <p:nvPicPr>
          <p:cNvPr id="14" name="서류 확인 icon" descr="서류 확인">    </p:cNvPr>
          <p:cNvPicPr>
            <a:picLocks noChangeAspect="1"/>
          </p:cNvPicPr>
          <p:nvPr/>
        </p:nvPicPr>
        <p:blipFill>
          <a:blip r:embed="rId3"/>
          <a:stretch>
            <a:fillRect/>
          </a:stretch>
        </p:blipFill>
        <p:spPr>
          <a:xfrm>
            <a:off x="3294217" y="2300630"/>
            <a:ext cx="336499" cy="336499"/>
          </a:xfrm>
          <a:prstGeom prst="rect">
            <a:avLst/>
          </a:prstGeom>
        </p:spPr>
      </p:pic>
      <p:sp>
        <p:nvSpPr>
          <p:cNvPr id="15" name="Text 9"/>
          <p:cNvSpPr txBox="1"/>
          <p:nvPr/>
        </p:nvSpPr>
        <p:spPr>
          <a:xfrm>
            <a:off x="3096707" y="3017520"/>
            <a:ext cx="1542227"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STEP 2</a:t>
            </a:r>
            <a:endParaRPr lang="en-US" sz="1100" dirty="0"/>
          </a:p>
        </p:txBody>
      </p:sp>
      <p:sp>
        <p:nvSpPr>
          <p:cNvPr id="16" name="Text 10"/>
          <p:cNvSpPr txBox="1"/>
          <p:nvPr/>
        </p:nvSpPr>
        <p:spPr>
          <a:xfrm>
            <a:off x="3096707" y="3291840"/>
            <a:ext cx="1542227" cy="384048"/>
          </a:xfrm>
          <a:prstGeom prst="rect">
            <a:avLst/>
          </a:prstGeom>
          <a:noFill/>
          <a:ln/>
        </p:spPr>
        <p:txBody>
          <a:bodyPr wrap="square" lIns="0" tIns="0" rIns="0" bIns="0" rtlCol="0" anchor="t"/>
          <a:lstStyle/>
          <a:p>
            <a:pPr indent="0" marL="0">
              <a:buNone/>
            </a:pPr>
            <a:r>
              <a:rPr lang="en-US" sz="2000" b="1" dirty="0">
                <a:solidFill>
                  <a:schemeClr val="bg1"/>
                </a:solidFill>
              </a:rPr>
              <a:t>서류 확인</a:t>
            </a:r>
            <a:endParaRPr lang="en-US" sz="2000" dirty="0"/>
          </a:p>
        </p:txBody>
      </p:sp>
      <p:sp>
        <p:nvSpPr>
          <p:cNvPr id="17" name="Text 11"/>
          <p:cNvSpPr txBox="1"/>
          <p:nvPr/>
        </p:nvSpPr>
        <p:spPr>
          <a:xfrm>
            <a:off x="3096707" y="3749040"/>
            <a:ext cx="1587947" cy="822960"/>
          </a:xfrm>
          <a:prstGeom prst="rect">
            <a:avLst/>
          </a:prstGeom>
          <a:noFill/>
          <a:ln/>
        </p:spPr>
        <p:txBody>
          <a:bodyPr wrap="square" lIns="0" tIns="0" rIns="0" bIns="0" rtlCol="0" anchor="t"/>
          <a:lstStyle/>
          <a:p>
            <a:pPr indent="0" marL="0">
              <a:lnSpc>
                <a:spcPct val="110000"/>
              </a:lnSpc>
              <a:buNone/>
            </a:pPr>
            <a:r>
              <a:rPr lang="en-US" sz="1400" dirty="0">
                <a:solidFill>
                  <a:schemeClr val="accent6"/>
                </a:solidFill>
              </a:rPr>
              <a:t>면책동의서·</a:t>
            </a:r>
            <a:endParaRPr lang="en-US" sz="1400" dirty="0"/>
          </a:p>
          <a:p>
            <a:pPr indent="0" marL="0">
              <a:lnSpc>
                <a:spcPct val="110000"/>
              </a:lnSpc>
              <a:buNone/>
            </a:pPr>
            <a:r>
              <a:rPr lang="en-US" sz="1400" dirty="0">
                <a:solidFill>
                  <a:schemeClr val="accent6"/>
                </a:solidFill>
              </a:rPr>
              <a:t>의료진술서</a:t>
            </a:r>
            <a:endParaRPr lang="en-US" sz="1400" dirty="0"/>
          </a:p>
          <a:p>
            <a:pPr indent="0" marL="0">
              <a:lnSpc>
                <a:spcPct val="110000"/>
              </a:lnSpc>
              <a:buNone/>
            </a:pPr>
            <a:r>
              <a:rPr lang="en-US" sz="1400" dirty="0">
                <a:solidFill>
                  <a:schemeClr val="accent6"/>
                </a:solidFill>
              </a:rPr>
              <a:t>서명 상태 확인</a:t>
            </a:r>
            <a:endParaRPr lang="en-US" sz="1400" dirty="0"/>
          </a:p>
        </p:txBody>
      </p:sp>
      <p:pic>
        <p:nvPicPr>
          <p:cNvPr id="18" name="step arrow 1" descr="다음 단계">    </p:cNvPr>
          <p:cNvPicPr>
            <a:picLocks noChangeAspect="1"/>
          </p:cNvPicPr>
          <p:nvPr/>
        </p:nvPicPr>
        <p:blipFill>
          <a:blip r:embed="rId4"/>
          <a:stretch>
            <a:fillRect/>
          </a:stretch>
        </p:blipFill>
        <p:spPr>
          <a:xfrm>
            <a:off x="4840102" y="3108960"/>
            <a:ext cx="237744" cy="237744"/>
          </a:xfrm>
          <a:prstGeom prst="rect">
            <a:avLst/>
          </a:prstGeom>
        </p:spPr>
      </p:pic>
      <p:sp>
        <p:nvSpPr>
          <p:cNvPr id="19" name="step card 3"/>
          <p:cNvSpPr/>
          <p:nvPr/>
        </p:nvSpPr>
        <p:spPr>
          <a:xfrm>
            <a:off x="5096134" y="1783080"/>
            <a:ext cx="1999427" cy="2880360"/>
          </a:xfrm>
          <a:prstGeom prst="roundRect">
            <a:avLst>
              <a:gd name="adj" fmla="val 6403"/>
            </a:avLst>
          </a:prstGeom>
          <a:solidFill>
            <a:schemeClr val="bg1">
              <a:alpha val="10000"/>
            </a:schemeClr>
          </a:solidFill>
          <a:ln w="9525">
            <a:solidFill>
              <a:schemeClr val="accent5">
                <a:alpha val="40000"/>
              </a:schemeClr>
            </a:solidFill>
            <a:prstDash val="solid"/>
          </a:ln>
        </p:spPr>
      </p:sp>
      <p:sp>
        <p:nvSpPr>
          <p:cNvPr id="20" name="교육 기록 circle"/>
          <p:cNvSpPr/>
          <p:nvPr/>
        </p:nvSpPr>
        <p:spPr>
          <a:xfrm>
            <a:off x="5370454" y="2103120"/>
            <a:ext cx="731520" cy="731520"/>
          </a:xfrm>
          <a:prstGeom prst="ellipse">
            <a:avLst/>
          </a:prstGeom>
          <a:solidFill>
            <a:schemeClr val="accent1"/>
          </a:solidFill>
          <a:ln/>
        </p:spPr>
      </p:sp>
      <p:pic>
        <p:nvPicPr>
          <p:cNvPr id="21" name="교육 기록 icon" descr="교육 기록">    </p:cNvPr>
          <p:cNvPicPr>
            <a:picLocks noChangeAspect="1"/>
          </p:cNvPicPr>
          <p:nvPr/>
        </p:nvPicPr>
        <p:blipFill>
          <a:blip r:embed="rId5"/>
          <a:stretch>
            <a:fillRect/>
          </a:stretch>
        </p:blipFill>
        <p:spPr>
          <a:xfrm>
            <a:off x="5567964" y="2300630"/>
            <a:ext cx="336499" cy="336499"/>
          </a:xfrm>
          <a:prstGeom prst="rect">
            <a:avLst/>
          </a:prstGeom>
        </p:spPr>
      </p:pic>
      <p:sp>
        <p:nvSpPr>
          <p:cNvPr id="22" name="Text 14"/>
          <p:cNvSpPr txBox="1"/>
          <p:nvPr/>
        </p:nvSpPr>
        <p:spPr>
          <a:xfrm>
            <a:off x="5370454" y="3017520"/>
            <a:ext cx="1542227"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STEP 3</a:t>
            </a:r>
            <a:endParaRPr lang="en-US" sz="1100" dirty="0"/>
          </a:p>
        </p:txBody>
      </p:sp>
      <p:sp>
        <p:nvSpPr>
          <p:cNvPr id="23" name="Text 15"/>
          <p:cNvSpPr txBox="1"/>
          <p:nvPr/>
        </p:nvSpPr>
        <p:spPr>
          <a:xfrm>
            <a:off x="5370454" y="3291840"/>
            <a:ext cx="1542227" cy="384048"/>
          </a:xfrm>
          <a:prstGeom prst="rect">
            <a:avLst/>
          </a:prstGeom>
          <a:noFill/>
          <a:ln/>
        </p:spPr>
        <p:txBody>
          <a:bodyPr wrap="square" lIns="0" tIns="0" rIns="0" bIns="0" rtlCol="0" anchor="t"/>
          <a:lstStyle/>
          <a:p>
            <a:pPr indent="0" marL="0">
              <a:buNone/>
            </a:pPr>
            <a:r>
              <a:rPr lang="en-US" sz="2000" b="1" dirty="0">
                <a:solidFill>
                  <a:schemeClr val="bg1"/>
                </a:solidFill>
              </a:rPr>
              <a:t>교육 기록</a:t>
            </a:r>
            <a:endParaRPr lang="en-US" sz="2000" dirty="0"/>
          </a:p>
        </p:txBody>
      </p:sp>
      <p:sp>
        <p:nvSpPr>
          <p:cNvPr id="24" name="Text 16"/>
          <p:cNvSpPr txBox="1"/>
          <p:nvPr/>
        </p:nvSpPr>
        <p:spPr>
          <a:xfrm>
            <a:off x="5370454" y="3749040"/>
            <a:ext cx="1587947" cy="822960"/>
          </a:xfrm>
          <a:prstGeom prst="rect">
            <a:avLst/>
          </a:prstGeom>
          <a:noFill/>
          <a:ln/>
        </p:spPr>
        <p:txBody>
          <a:bodyPr wrap="square" lIns="0" tIns="0" rIns="0" bIns="0" rtlCol="0" anchor="t"/>
          <a:lstStyle/>
          <a:p>
            <a:pPr indent="0" marL="0">
              <a:lnSpc>
                <a:spcPct val="110000"/>
              </a:lnSpc>
              <a:buNone/>
            </a:pPr>
            <a:r>
              <a:rPr lang="en-US" sz="1400" dirty="0">
                <a:solidFill>
                  <a:schemeClr val="accent6"/>
                </a:solidFill>
              </a:rPr>
              <a:t>과정별 요건</a:t>
            </a:r>
            <a:endParaRPr lang="en-US" sz="1400" dirty="0"/>
          </a:p>
          <a:p>
            <a:pPr indent="0" marL="0">
              <a:lnSpc>
                <a:spcPct val="110000"/>
              </a:lnSpc>
              <a:buNone/>
            </a:pPr>
            <a:r>
              <a:rPr lang="en-US" sz="1400" dirty="0">
                <a:solidFill>
                  <a:schemeClr val="accent6"/>
                </a:solidFill>
              </a:rPr>
              <a:t>완료 상태 관리</a:t>
            </a:r>
            <a:endParaRPr lang="en-US" sz="1400" dirty="0"/>
          </a:p>
        </p:txBody>
      </p:sp>
      <p:pic>
        <p:nvPicPr>
          <p:cNvPr id="25" name="step arrow 2" descr="다음 단계">    </p:cNvPr>
          <p:cNvPicPr>
            <a:picLocks noChangeAspect="1"/>
          </p:cNvPicPr>
          <p:nvPr/>
        </p:nvPicPr>
        <p:blipFill>
          <a:blip r:embed="rId6"/>
          <a:stretch>
            <a:fillRect/>
          </a:stretch>
        </p:blipFill>
        <p:spPr>
          <a:xfrm>
            <a:off x="7113849" y="3108960"/>
            <a:ext cx="237744" cy="237744"/>
          </a:xfrm>
          <a:prstGeom prst="rect">
            <a:avLst/>
          </a:prstGeom>
        </p:spPr>
      </p:pic>
      <p:sp>
        <p:nvSpPr>
          <p:cNvPr id="26" name="step card 4"/>
          <p:cNvSpPr/>
          <p:nvPr/>
        </p:nvSpPr>
        <p:spPr>
          <a:xfrm>
            <a:off x="7369881" y="1783080"/>
            <a:ext cx="1999427" cy="2880360"/>
          </a:xfrm>
          <a:prstGeom prst="roundRect">
            <a:avLst>
              <a:gd name="adj" fmla="val 6403"/>
            </a:avLst>
          </a:prstGeom>
          <a:solidFill>
            <a:schemeClr val="bg1">
              <a:alpha val="10000"/>
            </a:schemeClr>
          </a:solidFill>
          <a:ln w="9525">
            <a:solidFill>
              <a:schemeClr val="accent5">
                <a:alpha val="40000"/>
              </a:schemeClr>
            </a:solidFill>
            <a:prstDash val="solid"/>
          </a:ln>
        </p:spPr>
      </p:sp>
      <p:sp>
        <p:nvSpPr>
          <p:cNvPr id="27" name="수업 마무리 circle"/>
          <p:cNvSpPr/>
          <p:nvPr/>
        </p:nvSpPr>
        <p:spPr>
          <a:xfrm>
            <a:off x="7644201" y="2103120"/>
            <a:ext cx="731520" cy="731520"/>
          </a:xfrm>
          <a:prstGeom prst="ellipse">
            <a:avLst/>
          </a:prstGeom>
          <a:solidFill>
            <a:schemeClr val="accent3"/>
          </a:solidFill>
          <a:ln/>
        </p:spPr>
      </p:sp>
      <p:pic>
        <p:nvPicPr>
          <p:cNvPr id="28" name="수업 마무리 icon" descr="수업 마무리">    </p:cNvPr>
          <p:cNvPicPr>
            <a:picLocks noChangeAspect="1"/>
          </p:cNvPicPr>
          <p:nvPr/>
        </p:nvPicPr>
        <p:blipFill>
          <a:blip r:embed="rId7"/>
          <a:stretch>
            <a:fillRect/>
          </a:stretch>
        </p:blipFill>
        <p:spPr>
          <a:xfrm>
            <a:off x="7841712" y="2300630"/>
            <a:ext cx="336499" cy="336499"/>
          </a:xfrm>
          <a:prstGeom prst="rect">
            <a:avLst/>
          </a:prstGeom>
        </p:spPr>
      </p:pic>
      <p:sp>
        <p:nvSpPr>
          <p:cNvPr id="29" name="Text 19"/>
          <p:cNvSpPr txBox="1"/>
          <p:nvPr/>
        </p:nvSpPr>
        <p:spPr>
          <a:xfrm>
            <a:off x="7644201" y="3017520"/>
            <a:ext cx="1542227"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STEP 4</a:t>
            </a:r>
            <a:endParaRPr lang="en-US" sz="1100" dirty="0"/>
          </a:p>
        </p:txBody>
      </p:sp>
      <p:sp>
        <p:nvSpPr>
          <p:cNvPr id="30" name="Text 20"/>
          <p:cNvSpPr txBox="1"/>
          <p:nvPr/>
        </p:nvSpPr>
        <p:spPr>
          <a:xfrm>
            <a:off x="7644201" y="3291840"/>
            <a:ext cx="1542227" cy="384048"/>
          </a:xfrm>
          <a:prstGeom prst="rect">
            <a:avLst/>
          </a:prstGeom>
          <a:noFill/>
          <a:ln/>
        </p:spPr>
        <p:txBody>
          <a:bodyPr wrap="square" lIns="0" tIns="0" rIns="0" bIns="0" rtlCol="0" anchor="t"/>
          <a:lstStyle/>
          <a:p>
            <a:pPr indent="0" marL="0">
              <a:buNone/>
            </a:pPr>
            <a:r>
              <a:rPr lang="en-US" sz="2000" b="1" dirty="0">
                <a:solidFill>
                  <a:schemeClr val="bg1"/>
                </a:solidFill>
              </a:rPr>
              <a:t>수업 마무리</a:t>
            </a:r>
            <a:endParaRPr lang="en-US" sz="2000" dirty="0"/>
          </a:p>
        </p:txBody>
      </p:sp>
      <p:sp>
        <p:nvSpPr>
          <p:cNvPr id="31" name="Text 21"/>
          <p:cNvSpPr txBox="1"/>
          <p:nvPr/>
        </p:nvSpPr>
        <p:spPr>
          <a:xfrm>
            <a:off x="7644201" y="3749040"/>
            <a:ext cx="1587947" cy="822960"/>
          </a:xfrm>
          <a:prstGeom prst="rect">
            <a:avLst/>
          </a:prstGeom>
          <a:noFill/>
          <a:ln/>
        </p:spPr>
        <p:txBody>
          <a:bodyPr wrap="square" lIns="0" tIns="0" rIns="0" bIns="0" rtlCol="0" anchor="t"/>
          <a:lstStyle/>
          <a:p>
            <a:pPr indent="0" marL="0">
              <a:lnSpc>
                <a:spcPct val="110000"/>
              </a:lnSpc>
              <a:buNone/>
            </a:pPr>
            <a:r>
              <a:rPr lang="en-US" sz="1400" dirty="0">
                <a:solidFill>
                  <a:schemeClr val="accent6"/>
                </a:solidFill>
              </a:rPr>
              <a:t>디브리핑 작성</a:t>
            </a:r>
            <a:endParaRPr lang="en-US" sz="1400" dirty="0"/>
          </a:p>
          <a:p>
            <a:pPr indent="0" marL="0">
              <a:lnSpc>
                <a:spcPct val="110000"/>
              </a:lnSpc>
              <a:buNone/>
            </a:pPr>
            <a:r>
              <a:rPr lang="en-US" sz="1400" dirty="0">
                <a:solidFill>
                  <a:schemeClr val="accent6"/>
                </a:solidFill>
              </a:rPr>
              <a:t>이전 기록 조회</a:t>
            </a:r>
            <a:endParaRPr lang="en-US" sz="1400" dirty="0"/>
          </a:p>
        </p:txBody>
      </p:sp>
      <p:pic>
        <p:nvPicPr>
          <p:cNvPr id="32" name="step arrow 3" descr="다음 단계">    </p:cNvPr>
          <p:cNvPicPr>
            <a:picLocks noChangeAspect="1"/>
          </p:cNvPicPr>
          <p:nvPr/>
        </p:nvPicPr>
        <p:blipFill>
          <a:blip r:embed="rId8"/>
          <a:stretch>
            <a:fillRect/>
          </a:stretch>
        </p:blipFill>
        <p:spPr>
          <a:xfrm>
            <a:off x="9387596" y="3108960"/>
            <a:ext cx="237744" cy="237744"/>
          </a:xfrm>
          <a:prstGeom prst="rect">
            <a:avLst/>
          </a:prstGeom>
        </p:spPr>
      </p:pic>
      <p:sp>
        <p:nvSpPr>
          <p:cNvPr id="33" name="step card 5"/>
          <p:cNvSpPr/>
          <p:nvPr/>
        </p:nvSpPr>
        <p:spPr>
          <a:xfrm>
            <a:off x="9643628" y="1783080"/>
            <a:ext cx="1999427" cy="2880360"/>
          </a:xfrm>
          <a:prstGeom prst="roundRect">
            <a:avLst>
              <a:gd name="adj" fmla="val 6403"/>
            </a:avLst>
          </a:prstGeom>
          <a:solidFill>
            <a:schemeClr val="bg1">
              <a:alpha val="10000"/>
            </a:schemeClr>
          </a:solidFill>
          <a:ln w="9525">
            <a:solidFill>
              <a:schemeClr val="accent5">
                <a:alpha val="40000"/>
              </a:schemeClr>
            </a:solidFill>
            <a:prstDash val="solid"/>
          </a:ln>
        </p:spPr>
      </p:sp>
      <p:sp>
        <p:nvSpPr>
          <p:cNvPr id="34" name="관계 관리 circle"/>
          <p:cNvSpPr/>
          <p:nvPr/>
        </p:nvSpPr>
        <p:spPr>
          <a:xfrm>
            <a:off x="9917948" y="2103120"/>
            <a:ext cx="731520" cy="731520"/>
          </a:xfrm>
          <a:prstGeom prst="ellipse">
            <a:avLst/>
          </a:prstGeom>
          <a:solidFill>
            <a:schemeClr val="accent1"/>
          </a:solidFill>
          <a:ln/>
        </p:spPr>
      </p:sp>
      <p:pic>
        <p:nvPicPr>
          <p:cNvPr id="35" name="관계 관리 icon" descr="관계 관리">    </p:cNvPr>
          <p:cNvPicPr>
            <a:picLocks noChangeAspect="1"/>
          </p:cNvPicPr>
          <p:nvPr/>
        </p:nvPicPr>
        <p:blipFill>
          <a:blip r:embed="rId9"/>
          <a:stretch>
            <a:fillRect/>
          </a:stretch>
        </p:blipFill>
        <p:spPr>
          <a:xfrm>
            <a:off x="10115459" y="2300630"/>
            <a:ext cx="336499" cy="336499"/>
          </a:xfrm>
          <a:prstGeom prst="rect">
            <a:avLst/>
          </a:prstGeom>
        </p:spPr>
      </p:pic>
      <p:sp>
        <p:nvSpPr>
          <p:cNvPr id="36" name="Text 24"/>
          <p:cNvSpPr txBox="1"/>
          <p:nvPr/>
        </p:nvSpPr>
        <p:spPr>
          <a:xfrm>
            <a:off x="9917948" y="3017520"/>
            <a:ext cx="1542227"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STEP 5</a:t>
            </a:r>
            <a:endParaRPr lang="en-US" sz="1100" dirty="0"/>
          </a:p>
        </p:txBody>
      </p:sp>
      <p:sp>
        <p:nvSpPr>
          <p:cNvPr id="37" name="Text 25"/>
          <p:cNvSpPr txBox="1"/>
          <p:nvPr/>
        </p:nvSpPr>
        <p:spPr>
          <a:xfrm>
            <a:off x="9917948" y="3291840"/>
            <a:ext cx="1542227" cy="384048"/>
          </a:xfrm>
          <a:prstGeom prst="rect">
            <a:avLst/>
          </a:prstGeom>
          <a:noFill/>
          <a:ln/>
        </p:spPr>
        <p:txBody>
          <a:bodyPr wrap="square" lIns="0" tIns="0" rIns="0" bIns="0" rtlCol="0" anchor="t"/>
          <a:lstStyle/>
          <a:p>
            <a:pPr indent="0" marL="0">
              <a:buNone/>
            </a:pPr>
            <a:r>
              <a:rPr lang="en-US" sz="2000" b="1" dirty="0">
                <a:solidFill>
                  <a:schemeClr val="bg1"/>
                </a:solidFill>
              </a:rPr>
              <a:t>관계 관리</a:t>
            </a:r>
            <a:endParaRPr lang="en-US" sz="2000" dirty="0"/>
          </a:p>
        </p:txBody>
      </p:sp>
      <p:sp>
        <p:nvSpPr>
          <p:cNvPr id="38" name="Text 26"/>
          <p:cNvSpPr txBox="1"/>
          <p:nvPr/>
        </p:nvSpPr>
        <p:spPr>
          <a:xfrm>
            <a:off x="9917948" y="3749040"/>
            <a:ext cx="1587947" cy="822960"/>
          </a:xfrm>
          <a:prstGeom prst="rect">
            <a:avLst/>
          </a:prstGeom>
          <a:noFill/>
          <a:ln/>
        </p:spPr>
        <p:txBody>
          <a:bodyPr wrap="square" lIns="0" tIns="0" rIns="0" bIns="0" rtlCol="0" anchor="t"/>
          <a:lstStyle/>
          <a:p>
            <a:pPr indent="0" marL="0">
              <a:lnSpc>
                <a:spcPct val="110000"/>
              </a:lnSpc>
              <a:buNone/>
            </a:pPr>
            <a:r>
              <a:rPr lang="en-US" sz="1400" dirty="0">
                <a:solidFill>
                  <a:schemeClr val="accent6"/>
                </a:solidFill>
              </a:rPr>
              <a:t>강사·교육생</a:t>
            </a:r>
            <a:endParaRPr lang="en-US" sz="1400" dirty="0"/>
          </a:p>
          <a:p>
            <a:pPr indent="0" marL="0">
              <a:lnSpc>
                <a:spcPct val="110000"/>
              </a:lnSpc>
              <a:buNone/>
            </a:pPr>
            <a:r>
              <a:rPr lang="en-US" sz="1400" dirty="0">
                <a:solidFill>
                  <a:schemeClr val="accent6"/>
                </a:solidFill>
              </a:rPr>
              <a:t>그룹으로 연결</a:t>
            </a:r>
            <a:endParaRPr lang="en-US" sz="1400" dirty="0"/>
          </a:p>
        </p:txBody>
      </p:sp>
      <p:sp>
        <p:nvSpPr>
          <p:cNvPr id="39" name="loop circle"/>
          <p:cNvSpPr/>
          <p:nvPr/>
        </p:nvSpPr>
        <p:spPr>
          <a:xfrm>
            <a:off x="548640" y="5120640"/>
            <a:ext cx="685800" cy="685800"/>
          </a:xfrm>
          <a:prstGeom prst="ellipse">
            <a:avLst/>
          </a:prstGeom>
          <a:solidFill>
            <a:schemeClr val="accent3"/>
          </a:solidFill>
          <a:ln/>
        </p:spPr>
      </p:sp>
      <p:pic>
        <p:nvPicPr>
          <p:cNvPr id="40" name="loop icon" descr="loop">    </p:cNvPr>
          <p:cNvPicPr>
            <a:picLocks noChangeAspect="1"/>
          </p:cNvPicPr>
          <p:nvPr/>
        </p:nvPicPr>
        <p:blipFill>
          <a:blip r:embed="rId10"/>
          <a:stretch>
            <a:fillRect/>
          </a:stretch>
        </p:blipFill>
        <p:spPr>
          <a:xfrm>
            <a:off x="733806" y="5305806"/>
            <a:ext cx="315468" cy="315468"/>
          </a:xfrm>
          <a:prstGeom prst="rect">
            <a:avLst/>
          </a:prstGeom>
        </p:spPr>
      </p:pic>
      <p:sp>
        <p:nvSpPr>
          <p:cNvPr id="41" name="Text 28"/>
          <p:cNvSpPr txBox="1"/>
          <p:nvPr/>
        </p:nvSpPr>
        <p:spPr>
          <a:xfrm>
            <a:off x="1463040" y="5074920"/>
            <a:ext cx="9144000" cy="777240"/>
          </a:xfrm>
          <a:prstGeom prst="rect">
            <a:avLst/>
          </a:prstGeom>
          <a:noFill/>
          <a:ln/>
        </p:spPr>
        <p:txBody>
          <a:bodyPr wrap="square" lIns="0" tIns="0" rIns="0" bIns="0" rtlCol="0" anchor="ctr"/>
          <a:lstStyle/>
          <a:p>
            <a:pPr indent="0" marL="0">
              <a:buNone/>
            </a:pPr>
            <a:r>
              <a:rPr lang="en-US" sz="2600" b="1" dirty="0">
                <a:solidFill>
                  <a:schemeClr val="bg1"/>
                </a:solidFill>
              </a:rPr>
              <a:t>수업이 끝난 기록이 </a:t>
            </a:r>
            <a:pPr indent="0" marL="0">
              <a:buNone/>
            </a:pPr>
            <a:r>
              <a:rPr lang="en-US" sz="2600" b="1" dirty="0">
                <a:solidFill>
                  <a:schemeClr val="accent1"/>
                </a:solidFill>
              </a:rPr>
              <a:t>다음 수업의 출발점</a:t>
            </a:r>
            <a:pPr indent="0" marL="0">
              <a:buNone/>
            </a:pPr>
            <a:r>
              <a:rPr lang="en-US" sz="2600" b="1" dirty="0">
                <a:solidFill>
                  <a:schemeClr val="bg1"/>
                </a:solidFill>
              </a:rPr>
              <a:t>이 됩니다</a:t>
            </a:r>
            <a:endParaRPr lang="en-US" sz="2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7315200" cy="292608"/>
          </a:xfrm>
          <a:prstGeom prst="rect">
            <a:avLst/>
          </a:prstGeom>
          <a:noFill/>
          <a:ln/>
        </p:spPr>
        <p:txBody>
          <a:bodyPr wrap="square" lIns="0" tIns="0" rIns="0" bIns="0" rtlCol="0"/>
          <a:lstStyle/>
          <a:p>
            <a:pPr indent="0" marL="0">
              <a:buNone/>
            </a:pPr>
            <a:r>
              <a:rPr lang="en-US" sz="1300" b="1" spc="100" kern="0" dirty="0">
                <a:solidFill>
                  <a:schemeClr val="accent2"/>
                </a:solidFill>
              </a:rPr>
              <a:t>03  핵심 기능 · 수업 전</a:t>
            </a:r>
            <a:endParaRPr lang="en-US" sz="1300" dirty="0"/>
          </a:p>
        </p:txBody>
      </p:sp>
      <p:sp>
        <p:nvSpPr>
          <p:cNvPr id="3" name="Text 1"/>
          <p:cNvSpPr/>
          <p:nvPr>
            <p:ph idx="102"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일정과 참가자, 서류까지 한 곳에서</a:t>
            </a:r>
            <a:endParaRPr lang="en-US" sz="3200" dirty="0"/>
          </a:p>
        </p:txBody>
      </p:sp>
      <p:pic>
        <p:nvPicPr>
          <p:cNvPr id="5" name="phone 10_feature_8.png" descr="AllBlue 앱 화면">    </p:cNvPr>
          <p:cNvPicPr>
            <a:picLocks noChangeAspect="1"/>
          </p:cNvPicPr>
          <p:nvPr/>
        </p:nvPicPr>
        <p:blipFill>
          <a:blip r:embed="rId1"/>
          <a:stretch>
            <a:fillRect/>
          </a:stretch>
        </p:blipFill>
        <p:spPr>
          <a:xfrm>
            <a:off x="685800" y="1600200"/>
            <a:ext cx="2067324" cy="4343400"/>
          </a:xfrm>
          <a:prstGeom prst="rect">
            <a:avLst/>
          </a:prstGeom>
        </p:spPr>
      </p:pic>
      <p:sp>
        <p:nvSpPr>
          <p:cNvPr id="6" name="number 1"/>
          <p:cNvSpPr/>
          <p:nvPr/>
        </p:nvSpPr>
        <p:spPr>
          <a:xfrm>
            <a:off x="548640" y="1463040"/>
            <a:ext cx="457200" cy="457200"/>
          </a:xfrm>
          <a:prstGeom prst="ellipse">
            <a:avLst/>
          </a:prstGeom>
          <a:solidFill>
            <a:schemeClr val="accent3"/>
          </a:solidFill>
          <a:ln/>
        </p:spPr>
      </p:sp>
      <p:sp>
        <p:nvSpPr>
          <p:cNvPr id="7" name="Text 3"/>
          <p:cNvSpPr txBox="1"/>
          <p:nvPr/>
        </p:nvSpPr>
        <p:spPr>
          <a:xfrm>
            <a:off x="548640" y="146304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pic>
        <p:nvPicPr>
          <p:cNvPr id="8" name="phone 04_feature_2.png" descr="AllBlue 앱 화면">    </p:cNvPr>
          <p:cNvPicPr>
            <a:picLocks noChangeAspect="1"/>
          </p:cNvPicPr>
          <p:nvPr/>
        </p:nvPicPr>
        <p:blipFill>
          <a:blip r:embed="rId2"/>
          <a:stretch>
            <a:fillRect/>
          </a:stretch>
        </p:blipFill>
        <p:spPr>
          <a:xfrm>
            <a:off x="2971800" y="1600200"/>
            <a:ext cx="2067324" cy="4343400"/>
          </a:xfrm>
          <a:prstGeom prst="rect">
            <a:avLst/>
          </a:prstGeom>
        </p:spPr>
      </p:pic>
      <p:sp>
        <p:nvSpPr>
          <p:cNvPr id="9" name="number 2"/>
          <p:cNvSpPr/>
          <p:nvPr/>
        </p:nvSpPr>
        <p:spPr>
          <a:xfrm>
            <a:off x="2834640" y="1463040"/>
            <a:ext cx="457200" cy="457200"/>
          </a:xfrm>
          <a:prstGeom prst="ellipse">
            <a:avLst/>
          </a:prstGeom>
          <a:solidFill>
            <a:schemeClr val="accent3"/>
          </a:solidFill>
          <a:ln/>
        </p:spPr>
      </p:sp>
      <p:sp>
        <p:nvSpPr>
          <p:cNvPr id="10" name="Text 5"/>
          <p:cNvSpPr txBox="1"/>
          <p:nvPr/>
        </p:nvSpPr>
        <p:spPr>
          <a:xfrm>
            <a:off x="2834640" y="146304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pic>
        <p:nvPicPr>
          <p:cNvPr id="11" name="phone 07_feature_5.png" descr="AllBlue 앱 화면">    </p:cNvPr>
          <p:cNvPicPr>
            <a:picLocks noChangeAspect="1"/>
          </p:cNvPicPr>
          <p:nvPr/>
        </p:nvPicPr>
        <p:blipFill>
          <a:blip r:embed="rId3"/>
          <a:stretch>
            <a:fillRect/>
          </a:stretch>
        </p:blipFill>
        <p:spPr>
          <a:xfrm>
            <a:off x="5257800" y="1600200"/>
            <a:ext cx="2067324" cy="4343400"/>
          </a:xfrm>
          <a:prstGeom prst="rect">
            <a:avLst/>
          </a:prstGeom>
        </p:spPr>
      </p:pic>
      <p:sp>
        <p:nvSpPr>
          <p:cNvPr id="12" name="number 3"/>
          <p:cNvSpPr/>
          <p:nvPr/>
        </p:nvSpPr>
        <p:spPr>
          <a:xfrm>
            <a:off x="5120640" y="1463040"/>
            <a:ext cx="457200" cy="457200"/>
          </a:xfrm>
          <a:prstGeom prst="ellipse">
            <a:avLst/>
          </a:prstGeom>
          <a:solidFill>
            <a:schemeClr val="accent3"/>
          </a:solidFill>
          <a:ln/>
        </p:spPr>
      </p:sp>
      <p:sp>
        <p:nvSpPr>
          <p:cNvPr id="13" name="Text 7"/>
          <p:cNvSpPr txBox="1"/>
          <p:nvPr/>
        </p:nvSpPr>
        <p:spPr>
          <a:xfrm>
            <a:off x="5120640" y="146304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4" name="feature row 1"/>
          <p:cNvSpPr/>
          <p:nvPr/>
        </p:nvSpPr>
        <p:spPr>
          <a:xfrm>
            <a:off x="7543800" y="1737360"/>
            <a:ext cx="4096512" cy="1188720"/>
          </a:xfrm>
          <a:prstGeom prst="roundRect">
            <a:avLst>
              <a:gd name="adj" fmla="val 10769"/>
            </a:avLst>
          </a:prstGeom>
          <a:solidFill>
            <a:schemeClr val="bg1"/>
          </a:solidFill>
          <a:ln/>
          <a:effectLst>
            <a:outerShdw sx="100000" sy="100000" kx="0" ky="0" algn="bl" rotWithShape="0" blurRad="127000" dist="38100" dir="5400000">
              <a:srgbClr val="0A2540">
                <a:alpha val="14000"/>
              </a:srgbClr>
            </a:outerShdw>
          </a:effectLst>
        </p:spPr>
      </p:sp>
      <p:sp>
        <p:nvSpPr>
          <p:cNvPr id="15" name="number 1"/>
          <p:cNvSpPr/>
          <p:nvPr/>
        </p:nvSpPr>
        <p:spPr>
          <a:xfrm>
            <a:off x="7772400" y="2011680"/>
            <a:ext cx="457200" cy="457200"/>
          </a:xfrm>
          <a:prstGeom prst="ellipse">
            <a:avLst/>
          </a:prstGeom>
          <a:solidFill>
            <a:schemeClr val="accent3"/>
          </a:solidFill>
          <a:ln/>
        </p:spPr>
      </p:sp>
      <p:sp>
        <p:nvSpPr>
          <p:cNvPr id="16" name="Text 10"/>
          <p:cNvSpPr txBox="1"/>
          <p:nvPr/>
        </p:nvSpPr>
        <p:spPr>
          <a:xfrm>
            <a:off x="7772400" y="20116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17" name="Text 11"/>
          <p:cNvSpPr txBox="1"/>
          <p:nvPr/>
        </p:nvSpPr>
        <p:spPr>
          <a:xfrm>
            <a:off x="8412480" y="1938528"/>
            <a:ext cx="3063240" cy="347472"/>
          </a:xfrm>
          <a:prstGeom prst="rect">
            <a:avLst/>
          </a:prstGeom>
          <a:noFill/>
          <a:ln/>
        </p:spPr>
        <p:txBody>
          <a:bodyPr wrap="square" lIns="0" tIns="0" rIns="0" bIns="0" rtlCol="0" anchor="t"/>
          <a:lstStyle/>
          <a:p>
            <a:pPr indent="0" marL="0">
              <a:buNone/>
            </a:pPr>
            <a:r>
              <a:rPr lang="en-US" sz="1800" b="1" dirty="0">
                <a:solidFill>
                  <a:schemeClr val="tx1"/>
                </a:solidFill>
              </a:rPr>
              <a:t>월간 캘린더</a:t>
            </a:r>
            <a:endParaRPr lang="en-US" sz="1800" dirty="0"/>
          </a:p>
        </p:txBody>
      </p:sp>
      <p:sp>
        <p:nvSpPr>
          <p:cNvPr id="18" name="Text 12"/>
          <p:cNvSpPr txBox="1"/>
          <p:nvPr/>
        </p:nvSpPr>
        <p:spPr>
          <a:xfrm>
            <a:off x="8412480" y="2286000"/>
            <a:ext cx="3063240" cy="566928"/>
          </a:xfrm>
          <a:prstGeom prst="rect">
            <a:avLst/>
          </a:prstGeom>
          <a:noFill/>
          <a:ln/>
        </p:spPr>
        <p:txBody>
          <a:bodyPr wrap="square" lIns="0" tIns="0" rIns="0" bIns="0" rtlCol="0" anchor="t"/>
          <a:lstStyle/>
          <a:p>
            <a:pPr indent="0" marL="0">
              <a:buNone/>
            </a:pPr>
            <a:r>
              <a:rPr lang="en-US" sz="1300" dirty="0">
                <a:solidFill>
                  <a:schemeClr val="accent4"/>
                </a:solidFill>
              </a:rPr>
              <a:t>한 달의 수업 일정을</a:t>
            </a:r>
            <a:endParaRPr lang="en-US" sz="1300" dirty="0"/>
          </a:p>
          <a:p>
            <a:pPr indent="0" marL="0">
              <a:buNone/>
            </a:pPr>
            <a:r>
              <a:rPr lang="en-US" sz="1300" dirty="0">
                <a:solidFill>
                  <a:schemeClr val="accent4"/>
                </a:solidFill>
              </a:rPr>
              <a:t>달력에서 한눈에 확인합니다.</a:t>
            </a:r>
            <a:endParaRPr lang="en-US" sz="1300" dirty="0"/>
          </a:p>
        </p:txBody>
      </p:sp>
      <p:sp>
        <p:nvSpPr>
          <p:cNvPr id="19" name="feature row 2"/>
          <p:cNvSpPr/>
          <p:nvPr/>
        </p:nvSpPr>
        <p:spPr>
          <a:xfrm>
            <a:off x="7543800" y="3154680"/>
            <a:ext cx="4096512" cy="1188720"/>
          </a:xfrm>
          <a:prstGeom prst="roundRect">
            <a:avLst>
              <a:gd name="adj" fmla="val 10769"/>
            </a:avLst>
          </a:prstGeom>
          <a:solidFill>
            <a:schemeClr val="bg1"/>
          </a:solidFill>
          <a:ln/>
          <a:effectLst>
            <a:outerShdw sx="100000" sy="100000" kx="0" ky="0" algn="bl" rotWithShape="0" blurRad="127000" dist="38100" dir="5400000">
              <a:srgbClr val="0A2540">
                <a:alpha val="14000"/>
              </a:srgbClr>
            </a:outerShdw>
          </a:effectLst>
        </p:spPr>
      </p:sp>
      <p:sp>
        <p:nvSpPr>
          <p:cNvPr id="20" name="number 2"/>
          <p:cNvSpPr/>
          <p:nvPr/>
        </p:nvSpPr>
        <p:spPr>
          <a:xfrm>
            <a:off x="7772400" y="3429000"/>
            <a:ext cx="457200" cy="457200"/>
          </a:xfrm>
          <a:prstGeom prst="ellipse">
            <a:avLst/>
          </a:prstGeom>
          <a:solidFill>
            <a:schemeClr val="accent3"/>
          </a:solidFill>
          <a:ln/>
        </p:spPr>
      </p:sp>
      <p:sp>
        <p:nvSpPr>
          <p:cNvPr id="21" name="Text 15"/>
          <p:cNvSpPr txBox="1"/>
          <p:nvPr/>
        </p:nvSpPr>
        <p:spPr>
          <a:xfrm>
            <a:off x="7772400" y="342900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22" name="Text 16"/>
          <p:cNvSpPr txBox="1"/>
          <p:nvPr/>
        </p:nvSpPr>
        <p:spPr>
          <a:xfrm>
            <a:off x="8412480" y="3355848"/>
            <a:ext cx="3063240" cy="347472"/>
          </a:xfrm>
          <a:prstGeom prst="rect">
            <a:avLst/>
          </a:prstGeom>
          <a:noFill/>
          <a:ln/>
        </p:spPr>
        <p:txBody>
          <a:bodyPr wrap="square" lIns="0" tIns="0" rIns="0" bIns="0" rtlCol="0" anchor="t"/>
          <a:lstStyle/>
          <a:p>
            <a:pPr indent="0" marL="0">
              <a:buNone/>
            </a:pPr>
            <a:r>
              <a:rPr lang="en-US" sz="1800" b="1" dirty="0">
                <a:solidFill>
                  <a:schemeClr val="tx1"/>
                </a:solidFill>
              </a:rPr>
              <a:t>일정 · 참여 교육생</a:t>
            </a:r>
            <a:endParaRPr lang="en-US" sz="1800" dirty="0"/>
          </a:p>
        </p:txBody>
      </p:sp>
      <p:sp>
        <p:nvSpPr>
          <p:cNvPr id="23" name="Text 17"/>
          <p:cNvSpPr txBox="1"/>
          <p:nvPr/>
        </p:nvSpPr>
        <p:spPr>
          <a:xfrm>
            <a:off x="8412480" y="3703320"/>
            <a:ext cx="3063240" cy="566928"/>
          </a:xfrm>
          <a:prstGeom prst="rect">
            <a:avLst/>
          </a:prstGeom>
          <a:noFill/>
          <a:ln/>
        </p:spPr>
        <p:txBody>
          <a:bodyPr wrap="square" lIns="0" tIns="0" rIns="0" bIns="0" rtlCol="0" anchor="t"/>
          <a:lstStyle/>
          <a:p>
            <a:pPr indent="0" marL="0">
              <a:buNone/>
            </a:pPr>
            <a:r>
              <a:rPr lang="en-US" sz="1300" dirty="0">
                <a:solidFill>
                  <a:schemeClr val="accent4"/>
                </a:solidFill>
              </a:rPr>
              <a:t>날짜별 수업과 참여 교육생,</a:t>
            </a:r>
            <a:endParaRPr lang="en-US" sz="1300" dirty="0"/>
          </a:p>
          <a:p>
            <a:pPr indent="0" marL="0">
              <a:buNone/>
            </a:pPr>
            <a:r>
              <a:rPr lang="en-US" sz="1300" dirty="0">
                <a:solidFill>
                  <a:schemeClr val="accent4"/>
                </a:solidFill>
              </a:rPr>
              <a:t>초대 응답을 확인합니다.</a:t>
            </a:r>
            <a:endParaRPr lang="en-US" sz="1300" dirty="0"/>
          </a:p>
        </p:txBody>
      </p:sp>
      <p:sp>
        <p:nvSpPr>
          <p:cNvPr id="24" name="feature row 3"/>
          <p:cNvSpPr/>
          <p:nvPr/>
        </p:nvSpPr>
        <p:spPr>
          <a:xfrm>
            <a:off x="7543800" y="4572000"/>
            <a:ext cx="4096512" cy="1188720"/>
          </a:xfrm>
          <a:prstGeom prst="roundRect">
            <a:avLst>
              <a:gd name="adj" fmla="val 10769"/>
            </a:avLst>
          </a:prstGeom>
          <a:solidFill>
            <a:schemeClr val="bg1"/>
          </a:solidFill>
          <a:ln/>
          <a:effectLst>
            <a:outerShdw sx="100000" sy="100000" kx="0" ky="0" algn="bl" rotWithShape="0" blurRad="127000" dist="38100" dir="5400000">
              <a:srgbClr val="0A2540">
                <a:alpha val="14000"/>
              </a:srgbClr>
            </a:outerShdw>
          </a:effectLst>
        </p:spPr>
      </p:sp>
      <p:sp>
        <p:nvSpPr>
          <p:cNvPr id="25" name="number 3"/>
          <p:cNvSpPr/>
          <p:nvPr/>
        </p:nvSpPr>
        <p:spPr>
          <a:xfrm>
            <a:off x="7772400" y="4846320"/>
            <a:ext cx="457200" cy="457200"/>
          </a:xfrm>
          <a:prstGeom prst="ellipse">
            <a:avLst/>
          </a:prstGeom>
          <a:solidFill>
            <a:schemeClr val="accent3"/>
          </a:solidFill>
          <a:ln/>
        </p:spPr>
      </p:sp>
      <p:sp>
        <p:nvSpPr>
          <p:cNvPr id="26" name="Text 20"/>
          <p:cNvSpPr txBox="1"/>
          <p:nvPr/>
        </p:nvSpPr>
        <p:spPr>
          <a:xfrm>
            <a:off x="7772400" y="48463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27" name="Text 21"/>
          <p:cNvSpPr txBox="1"/>
          <p:nvPr/>
        </p:nvSpPr>
        <p:spPr>
          <a:xfrm>
            <a:off x="8412480" y="4773168"/>
            <a:ext cx="3063240" cy="347472"/>
          </a:xfrm>
          <a:prstGeom prst="rect">
            <a:avLst/>
          </a:prstGeom>
          <a:noFill/>
          <a:ln/>
        </p:spPr>
        <p:txBody>
          <a:bodyPr wrap="square" lIns="0" tIns="0" rIns="0" bIns="0" rtlCol="0" anchor="t"/>
          <a:lstStyle/>
          <a:p>
            <a:pPr indent="0" marL="0">
              <a:buNone/>
            </a:pPr>
            <a:r>
              <a:rPr lang="en-US" sz="1800" b="1" dirty="0">
                <a:solidFill>
                  <a:schemeClr val="tx1"/>
                </a:solidFill>
              </a:rPr>
              <a:t>서류 현황</a:t>
            </a:r>
            <a:endParaRPr lang="en-US" sz="1800" dirty="0"/>
          </a:p>
        </p:txBody>
      </p:sp>
      <p:sp>
        <p:nvSpPr>
          <p:cNvPr id="28" name="Text 22"/>
          <p:cNvSpPr txBox="1"/>
          <p:nvPr/>
        </p:nvSpPr>
        <p:spPr>
          <a:xfrm>
            <a:off x="8412480" y="5120640"/>
            <a:ext cx="3063240" cy="566928"/>
          </a:xfrm>
          <a:prstGeom prst="rect">
            <a:avLst/>
          </a:prstGeom>
          <a:noFill/>
          <a:ln/>
        </p:spPr>
        <p:txBody>
          <a:bodyPr wrap="square" lIns="0" tIns="0" rIns="0" bIns="0" rtlCol="0" anchor="t"/>
          <a:lstStyle/>
          <a:p>
            <a:pPr indent="0" marL="0">
              <a:buNone/>
            </a:pPr>
            <a:r>
              <a:rPr lang="en-US" sz="1300" dirty="0">
                <a:solidFill>
                  <a:schemeClr val="accent4"/>
                </a:solidFill>
              </a:rPr>
              <a:t>교육생별 동의서·진술서 상태를</a:t>
            </a:r>
            <a:endParaRPr lang="en-US" sz="1300" dirty="0"/>
          </a:p>
          <a:p>
            <a:pPr indent="0" marL="0">
              <a:buNone/>
            </a:pPr>
            <a:r>
              <a:rPr lang="en-US" sz="1300" dirty="0">
                <a:solidFill>
                  <a:schemeClr val="accent4"/>
                </a:solidFill>
              </a:rPr>
              <a:t>확인하고 URL로 공유합니다.</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7315200" cy="292608"/>
          </a:xfrm>
          <a:prstGeom prst="rect">
            <a:avLst/>
          </a:prstGeom>
          <a:noFill/>
          <a:ln/>
        </p:spPr>
        <p:txBody>
          <a:bodyPr wrap="square" lIns="0" tIns="0" rIns="0" bIns="0" rtlCol="0"/>
          <a:lstStyle/>
          <a:p>
            <a:pPr indent="0" marL="0">
              <a:buNone/>
            </a:pPr>
            <a:r>
              <a:rPr lang="en-US" sz="1300" b="1" spc="100" kern="0" dirty="0">
                <a:solidFill>
                  <a:schemeClr val="accent1"/>
                </a:solidFill>
              </a:rPr>
              <a:t>03  핵심 기능 · 수업 후</a:t>
            </a:r>
            <a:endParaRPr lang="en-US" sz="1300" dirty="0"/>
          </a:p>
        </p:txBody>
      </p:sp>
      <p:sp>
        <p:nvSpPr>
          <p:cNvPr id="3" name="Text 1"/>
          <p:cNvSpPr/>
          <p:nvPr>
            <p:ph idx="102"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200" b="1" dirty="0">
                <a:solidFill>
                  <a:schemeClr val="bg1"/>
                </a:solidFill>
              </a:rPr>
              <a:t>진도 체크와 디브리핑을 그 자리에서</a:t>
            </a:r>
            <a:endParaRPr lang="en-US" sz="3200" dirty="0"/>
          </a:p>
        </p:txBody>
      </p:sp>
      <p:pic>
        <p:nvPicPr>
          <p:cNvPr id="5" name="phone 05_feature_3.png" descr="AllBlue 앱 화면">    </p:cNvPr>
          <p:cNvPicPr>
            <a:picLocks noChangeAspect="1"/>
          </p:cNvPicPr>
          <p:nvPr/>
        </p:nvPicPr>
        <p:blipFill>
          <a:blip r:embed="rId1"/>
          <a:stretch>
            <a:fillRect/>
          </a:stretch>
        </p:blipFill>
        <p:spPr>
          <a:xfrm>
            <a:off x="731520" y="1554480"/>
            <a:ext cx="2154369" cy="4526280"/>
          </a:xfrm>
          <a:prstGeom prst="rect">
            <a:avLst/>
          </a:prstGeom>
        </p:spPr>
      </p:pic>
      <p:pic>
        <p:nvPicPr>
          <p:cNvPr id="6" name="phone 06_feature_4.png" descr="AllBlue 앱 화면">    </p:cNvPr>
          <p:cNvPicPr>
            <a:picLocks noChangeAspect="1"/>
          </p:cNvPicPr>
          <p:nvPr/>
        </p:nvPicPr>
        <p:blipFill>
          <a:blip r:embed="rId2"/>
          <a:stretch>
            <a:fillRect/>
          </a:stretch>
        </p:blipFill>
        <p:spPr>
          <a:xfrm>
            <a:off x="3063240" y="1554480"/>
            <a:ext cx="2154369" cy="4526280"/>
          </a:xfrm>
          <a:prstGeom prst="rect">
            <a:avLst/>
          </a:prstGeom>
        </p:spPr>
      </p:pic>
      <p:sp>
        <p:nvSpPr>
          <p:cNvPr id="7" name="Text 2"/>
          <p:cNvSpPr txBox="1"/>
          <p:nvPr/>
        </p:nvSpPr>
        <p:spPr>
          <a:xfrm>
            <a:off x="5760720" y="1600200"/>
            <a:ext cx="5852160" cy="1143000"/>
          </a:xfrm>
          <a:prstGeom prst="rect">
            <a:avLst/>
          </a:prstGeom>
          <a:noFill/>
          <a:ln/>
        </p:spPr>
        <p:txBody>
          <a:bodyPr wrap="square" lIns="0" tIns="0" rIns="0" bIns="0" rtlCol="0" anchor="t"/>
          <a:lstStyle/>
          <a:p>
            <a:pPr indent="0" marL="0">
              <a:lnSpc>
                <a:spcPct val="105000"/>
              </a:lnSpc>
              <a:buNone/>
            </a:pPr>
            <a:r>
              <a:rPr lang="en-US" sz="3000" b="1" dirty="0">
                <a:solidFill>
                  <a:schemeClr val="bg1"/>
                </a:solidFill>
              </a:rPr>
              <a:t>지난 수업이</a:t>
            </a:r>
            <a:endParaRPr lang="en-US" sz="3000" dirty="0"/>
          </a:p>
          <a:p>
            <a:pPr indent="0" marL="0">
              <a:lnSpc>
                <a:spcPct val="105000"/>
              </a:lnSpc>
              <a:buNone/>
            </a:pPr>
            <a:r>
              <a:rPr lang="en-US" sz="3000" b="1" dirty="0">
                <a:solidFill>
                  <a:schemeClr val="bg1"/>
                </a:solidFill>
              </a:rPr>
              <a:t>다음 수업의 </a:t>
            </a:r>
            <a:pPr indent="0" marL="0">
              <a:lnSpc>
                <a:spcPct val="105000"/>
              </a:lnSpc>
              <a:buNone/>
            </a:pPr>
            <a:r>
              <a:rPr lang="en-US" sz="3000" b="1" dirty="0">
                <a:solidFill>
                  <a:schemeClr val="accent1"/>
                </a:solidFill>
              </a:rPr>
              <a:t>출발점</a:t>
            </a:r>
            <a:pPr indent="0" marL="0">
              <a:lnSpc>
                <a:spcPct val="105000"/>
              </a:lnSpc>
              <a:buNone/>
            </a:pPr>
            <a:r>
              <a:rPr lang="en-US" sz="3000" b="1" dirty="0">
                <a:solidFill>
                  <a:schemeClr val="bg1"/>
                </a:solidFill>
              </a:rPr>
              <a:t>이 되도록</a:t>
            </a:r>
            <a:endParaRPr lang="en-US" sz="3000" dirty="0"/>
          </a:p>
        </p:txBody>
      </p:sp>
      <p:sp>
        <p:nvSpPr>
          <p:cNvPr id="8" name="after card 1"/>
          <p:cNvSpPr/>
          <p:nvPr/>
        </p:nvSpPr>
        <p:spPr>
          <a:xfrm>
            <a:off x="5760720" y="3017520"/>
            <a:ext cx="5879592" cy="1143000"/>
          </a:xfrm>
          <a:prstGeom prst="roundRect">
            <a:avLst>
              <a:gd name="adj" fmla="val 11200"/>
            </a:avLst>
          </a:prstGeom>
          <a:solidFill>
            <a:schemeClr val="bg1">
              <a:alpha val="10000"/>
            </a:schemeClr>
          </a:solidFill>
          <a:ln w="9525">
            <a:solidFill>
              <a:schemeClr val="accent5">
                <a:alpha val="40000"/>
              </a:schemeClr>
            </a:solidFill>
            <a:prstDash val="solid"/>
          </a:ln>
        </p:spPr>
      </p:sp>
      <p:sp>
        <p:nvSpPr>
          <p:cNvPr id="9" name="과정별 요건 체크 circle"/>
          <p:cNvSpPr/>
          <p:nvPr/>
        </p:nvSpPr>
        <p:spPr>
          <a:xfrm>
            <a:off x="5989320" y="3246120"/>
            <a:ext cx="685800" cy="685800"/>
          </a:xfrm>
          <a:prstGeom prst="ellipse">
            <a:avLst/>
          </a:prstGeom>
          <a:solidFill>
            <a:schemeClr val="accent1"/>
          </a:solidFill>
          <a:ln/>
        </p:spPr>
      </p:sp>
      <p:pic>
        <p:nvPicPr>
          <p:cNvPr id="10" name="과정별 요건 체크 icon" descr="과정별 요건 체크">    </p:cNvPr>
          <p:cNvPicPr>
            <a:picLocks noChangeAspect="1"/>
          </p:cNvPicPr>
          <p:nvPr/>
        </p:nvPicPr>
        <p:blipFill>
          <a:blip r:embed="rId3"/>
          <a:stretch>
            <a:fillRect/>
          </a:stretch>
        </p:blipFill>
        <p:spPr>
          <a:xfrm>
            <a:off x="6174486" y="3431286"/>
            <a:ext cx="315468" cy="315468"/>
          </a:xfrm>
          <a:prstGeom prst="rect">
            <a:avLst/>
          </a:prstGeom>
        </p:spPr>
      </p:pic>
      <p:sp>
        <p:nvSpPr>
          <p:cNvPr id="11" name="Text 5"/>
          <p:cNvSpPr txBox="1"/>
          <p:nvPr/>
        </p:nvSpPr>
        <p:spPr>
          <a:xfrm>
            <a:off x="6903720" y="3172968"/>
            <a:ext cx="4572000" cy="347472"/>
          </a:xfrm>
          <a:prstGeom prst="rect">
            <a:avLst/>
          </a:prstGeom>
          <a:noFill/>
          <a:ln/>
        </p:spPr>
        <p:txBody>
          <a:bodyPr wrap="square" lIns="0" tIns="0" rIns="0" bIns="0" rtlCol="0" anchor="t"/>
          <a:lstStyle/>
          <a:p>
            <a:pPr indent="0" marL="0">
              <a:buNone/>
            </a:pPr>
            <a:r>
              <a:rPr lang="en-US" sz="1800" b="1" dirty="0">
                <a:solidFill>
                  <a:schemeClr val="bg1"/>
                </a:solidFill>
              </a:rPr>
              <a:t>과정별 요건 체크</a:t>
            </a:r>
            <a:endParaRPr lang="en-US" sz="1800" dirty="0"/>
          </a:p>
        </p:txBody>
      </p:sp>
      <p:sp>
        <p:nvSpPr>
          <p:cNvPr id="12" name="Text 6"/>
          <p:cNvSpPr txBox="1"/>
          <p:nvPr/>
        </p:nvSpPr>
        <p:spPr>
          <a:xfrm>
            <a:off x="6903720" y="3520440"/>
            <a:ext cx="4572000" cy="566928"/>
          </a:xfrm>
          <a:prstGeom prst="rect">
            <a:avLst/>
          </a:prstGeom>
          <a:noFill/>
          <a:ln/>
        </p:spPr>
        <p:txBody>
          <a:bodyPr wrap="square" lIns="0" tIns="0" rIns="0" bIns="0" rtlCol="0" anchor="t"/>
          <a:lstStyle/>
          <a:p>
            <a:pPr indent="0" marL="0">
              <a:buNone/>
            </a:pPr>
            <a:r>
              <a:rPr lang="en-US" sz="1300" dirty="0">
                <a:solidFill>
                  <a:schemeClr val="accent6"/>
                </a:solidFill>
              </a:rPr>
              <a:t>AIDA 과정의 개방수역·풀 요건을 항목별로</a:t>
            </a:r>
            <a:endParaRPr lang="en-US" sz="1300" dirty="0"/>
          </a:p>
          <a:p>
            <a:pPr indent="0" marL="0">
              <a:buNone/>
            </a:pPr>
            <a:r>
              <a:rPr lang="en-US" sz="1300" dirty="0">
                <a:solidFill>
                  <a:schemeClr val="accent6"/>
                </a:solidFill>
              </a:rPr>
              <a:t>완료 표시하고 진행 상황을 봅니다.</a:t>
            </a:r>
            <a:endParaRPr lang="en-US" sz="1300" dirty="0"/>
          </a:p>
        </p:txBody>
      </p:sp>
      <p:sp>
        <p:nvSpPr>
          <p:cNvPr id="13" name="after card 2"/>
          <p:cNvSpPr/>
          <p:nvPr/>
        </p:nvSpPr>
        <p:spPr>
          <a:xfrm>
            <a:off x="5760720" y="4389120"/>
            <a:ext cx="5879592" cy="1143000"/>
          </a:xfrm>
          <a:prstGeom prst="roundRect">
            <a:avLst>
              <a:gd name="adj" fmla="val 11200"/>
            </a:avLst>
          </a:prstGeom>
          <a:solidFill>
            <a:schemeClr val="bg1">
              <a:alpha val="10000"/>
            </a:schemeClr>
          </a:solidFill>
          <a:ln w="9525">
            <a:solidFill>
              <a:schemeClr val="accent5">
                <a:alpha val="40000"/>
              </a:schemeClr>
            </a:solidFill>
            <a:prstDash val="solid"/>
          </a:ln>
        </p:spPr>
      </p:sp>
      <p:sp>
        <p:nvSpPr>
          <p:cNvPr id="14" name="수업 직후 디브리핑 circle"/>
          <p:cNvSpPr/>
          <p:nvPr/>
        </p:nvSpPr>
        <p:spPr>
          <a:xfrm>
            <a:off x="5989320" y="4617720"/>
            <a:ext cx="685800" cy="685800"/>
          </a:xfrm>
          <a:prstGeom prst="ellipse">
            <a:avLst/>
          </a:prstGeom>
          <a:solidFill>
            <a:schemeClr val="accent1"/>
          </a:solidFill>
          <a:ln/>
        </p:spPr>
      </p:sp>
      <p:pic>
        <p:nvPicPr>
          <p:cNvPr id="15" name="수업 직후 디브리핑 icon" descr="수업 직후 디브리핑">    </p:cNvPr>
          <p:cNvPicPr>
            <a:picLocks noChangeAspect="1"/>
          </p:cNvPicPr>
          <p:nvPr/>
        </p:nvPicPr>
        <p:blipFill>
          <a:blip r:embed="rId4"/>
          <a:stretch>
            <a:fillRect/>
          </a:stretch>
        </p:blipFill>
        <p:spPr>
          <a:xfrm>
            <a:off x="6174486" y="4802886"/>
            <a:ext cx="315468" cy="315468"/>
          </a:xfrm>
          <a:prstGeom prst="rect">
            <a:avLst/>
          </a:prstGeom>
        </p:spPr>
      </p:pic>
      <p:sp>
        <p:nvSpPr>
          <p:cNvPr id="16" name="Text 9"/>
          <p:cNvSpPr txBox="1"/>
          <p:nvPr/>
        </p:nvSpPr>
        <p:spPr>
          <a:xfrm>
            <a:off x="6903720" y="4544568"/>
            <a:ext cx="4572000" cy="347472"/>
          </a:xfrm>
          <a:prstGeom prst="rect">
            <a:avLst/>
          </a:prstGeom>
          <a:noFill/>
          <a:ln/>
        </p:spPr>
        <p:txBody>
          <a:bodyPr wrap="square" lIns="0" tIns="0" rIns="0" bIns="0" rtlCol="0" anchor="t"/>
          <a:lstStyle/>
          <a:p>
            <a:pPr indent="0" marL="0">
              <a:buNone/>
            </a:pPr>
            <a:r>
              <a:rPr lang="en-US" sz="1800" b="1" dirty="0">
                <a:solidFill>
                  <a:schemeClr val="bg1"/>
                </a:solidFill>
              </a:rPr>
              <a:t>수업 직후 디브리핑</a:t>
            </a:r>
            <a:endParaRPr lang="en-US" sz="1800" dirty="0"/>
          </a:p>
        </p:txBody>
      </p:sp>
      <p:sp>
        <p:nvSpPr>
          <p:cNvPr id="17" name="Text 10"/>
          <p:cNvSpPr txBox="1"/>
          <p:nvPr/>
        </p:nvSpPr>
        <p:spPr>
          <a:xfrm>
            <a:off x="6903720" y="4892040"/>
            <a:ext cx="4572000" cy="566928"/>
          </a:xfrm>
          <a:prstGeom prst="rect">
            <a:avLst/>
          </a:prstGeom>
          <a:noFill/>
          <a:ln/>
        </p:spPr>
        <p:txBody>
          <a:bodyPr wrap="square" lIns="0" tIns="0" rIns="0" bIns="0" rtlCol="0" anchor="t"/>
          <a:lstStyle/>
          <a:p>
            <a:pPr indent="0" marL="0">
              <a:buNone/>
            </a:pPr>
            <a:r>
              <a:rPr lang="en-US" sz="1300" dirty="0">
                <a:solidFill>
                  <a:schemeClr val="accent6"/>
                </a:solidFill>
              </a:rPr>
              <a:t>통과 처리와 피드백 메모를 한 화면에 남기고,</a:t>
            </a:r>
            <a:endParaRPr lang="en-US" sz="1300" dirty="0"/>
          </a:p>
          <a:p>
            <a:pPr indent="0" marL="0">
              <a:buNone/>
            </a:pPr>
            <a:r>
              <a:rPr lang="en-US" sz="1300" dirty="0">
                <a:solidFill>
                  <a:schemeClr val="accent6"/>
                </a:solidFill>
              </a:rPr>
              <a:t>다음 수업 전에 다시 꺼내 봅니다.</a:t>
            </a:r>
            <a:endParaRPr lang="en-US" sz="1300" dirty="0"/>
          </a:p>
        </p:txBody>
      </p:sp>
      <p:sp>
        <p:nvSpPr>
          <p:cNvPr id="18" name="Text 11"/>
          <p:cNvSpPr txBox="1"/>
          <p:nvPr/>
        </p:nvSpPr>
        <p:spPr>
          <a:xfrm>
            <a:off x="5760720" y="5806440"/>
            <a:ext cx="5879592" cy="274320"/>
          </a:xfrm>
          <a:prstGeom prst="rect">
            <a:avLst/>
          </a:prstGeom>
          <a:noFill/>
          <a:ln/>
        </p:spPr>
        <p:txBody>
          <a:bodyPr wrap="square" lIns="0" tIns="0" rIns="0" bIns="0" rtlCol="0" anchor="t"/>
          <a:lstStyle/>
          <a:p>
            <a:pPr indent="0" marL="0">
              <a:buNone/>
            </a:pPr>
            <a:r>
              <a:rPr lang="en-US" sz="1000" dirty="0">
                <a:solidFill>
                  <a:schemeClr val="accent5"/>
                </a:solidFill>
              </a:rPr>
              <a:t>교육·자격 판단은 강사가 수행하며, 앱은 교육단체의 공식 자격 발급을 대신하지 않습니다.</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7315200" cy="292608"/>
          </a:xfrm>
          <a:prstGeom prst="rect">
            <a:avLst/>
          </a:prstGeom>
          <a:noFill/>
          <a:ln/>
        </p:spPr>
        <p:txBody>
          <a:bodyPr wrap="square" lIns="0" tIns="0" rIns="0" bIns="0" rtlCol="0"/>
          <a:lstStyle/>
          <a:p>
            <a:pPr indent="0" marL="0">
              <a:buNone/>
            </a:pPr>
            <a:r>
              <a:rPr lang="en-US" sz="1300" b="1" spc="100" kern="0" dirty="0">
                <a:solidFill>
                  <a:schemeClr val="accent2"/>
                </a:solidFill>
              </a:rPr>
              <a:t>04  시연</a:t>
            </a:r>
            <a:endParaRPr lang="en-US" sz="1300" dirty="0"/>
          </a:p>
        </p:txBody>
      </p:sp>
      <p:sp>
        <p:nvSpPr>
          <p:cNvPr id="3" name="Text 1"/>
          <p:cNvSpPr/>
          <p:nvPr>
            <p:ph idx="102"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45초 시연: 한 번의 수업 따라가기</a:t>
            </a:r>
            <a:endParaRPr lang="en-US" sz="3200" dirty="0"/>
          </a:p>
        </p:txBody>
      </p:sp>
      <p:sp>
        <p:nvSpPr>
          <p:cNvPr id="5" name="demo timeline"/>
          <p:cNvSpPr/>
          <p:nvPr/>
        </p:nvSpPr>
        <p:spPr>
          <a:xfrm>
            <a:off x="822960" y="1965960"/>
            <a:ext cx="0" cy="3566160"/>
          </a:xfrm>
          <a:prstGeom prst="line">
            <a:avLst/>
          </a:prstGeom>
          <a:noFill/>
          <a:ln w="25400">
            <a:solidFill>
              <a:schemeClr val="accent5"/>
            </a:solidFill>
            <a:prstDash val="solid"/>
          </a:ln>
        </p:spPr>
      </p:sp>
      <p:sp>
        <p:nvSpPr>
          <p:cNvPr id="6" name="number 1"/>
          <p:cNvSpPr/>
          <p:nvPr/>
        </p:nvSpPr>
        <p:spPr>
          <a:xfrm>
            <a:off x="548640" y="1691640"/>
            <a:ext cx="548640" cy="548640"/>
          </a:xfrm>
          <a:prstGeom prst="ellipse">
            <a:avLst/>
          </a:prstGeom>
          <a:solidFill>
            <a:schemeClr val="accent2"/>
          </a:solidFill>
          <a:ln/>
        </p:spPr>
      </p:sp>
      <p:sp>
        <p:nvSpPr>
          <p:cNvPr id="7" name="Text 4"/>
          <p:cNvSpPr txBox="1"/>
          <p:nvPr/>
        </p:nvSpPr>
        <p:spPr>
          <a:xfrm>
            <a:off x="548640" y="16916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1371600" y="1673352"/>
            <a:ext cx="1188720" cy="274320"/>
          </a:xfrm>
          <a:prstGeom prst="rect">
            <a:avLst/>
          </a:prstGeom>
          <a:noFill/>
          <a:ln/>
        </p:spPr>
        <p:txBody>
          <a:bodyPr wrap="square" lIns="0" tIns="0" rIns="0" bIns="0" rtlCol="0" anchor="t"/>
          <a:lstStyle/>
          <a:p>
            <a:pPr indent="0" marL="0">
              <a:buNone/>
            </a:pPr>
            <a:r>
              <a:rPr lang="en-US" sz="1200" b="1" dirty="0">
                <a:solidFill>
                  <a:schemeClr val="accent2"/>
                </a:solidFill>
              </a:rPr>
              <a:t>0–10초</a:t>
            </a:r>
            <a:endParaRPr lang="en-US" sz="1200" dirty="0"/>
          </a:p>
        </p:txBody>
      </p:sp>
      <p:sp>
        <p:nvSpPr>
          <p:cNvPr id="9" name="Text 6"/>
          <p:cNvSpPr txBox="1"/>
          <p:nvPr/>
        </p:nvSpPr>
        <p:spPr>
          <a:xfrm>
            <a:off x="1371600" y="1947672"/>
            <a:ext cx="5486400" cy="384048"/>
          </a:xfrm>
          <a:prstGeom prst="rect">
            <a:avLst/>
          </a:prstGeom>
          <a:noFill/>
          <a:ln/>
        </p:spPr>
        <p:txBody>
          <a:bodyPr wrap="square" lIns="0" tIns="0" rIns="0" bIns="0" rtlCol="0" anchor="t"/>
          <a:lstStyle/>
          <a:p>
            <a:pPr indent="0" marL="0">
              <a:buNone/>
            </a:pPr>
            <a:r>
              <a:rPr lang="en-US" sz="2000" b="1" dirty="0">
                <a:solidFill>
                  <a:schemeClr val="tx1"/>
                </a:solidFill>
              </a:rPr>
              <a:t>테스트 일정 선택</a:t>
            </a:r>
            <a:endParaRPr lang="en-US" sz="2000" dirty="0"/>
          </a:p>
        </p:txBody>
      </p:sp>
      <p:sp>
        <p:nvSpPr>
          <p:cNvPr id="10" name="Text 7"/>
          <p:cNvSpPr txBox="1"/>
          <p:nvPr/>
        </p:nvSpPr>
        <p:spPr>
          <a:xfrm>
            <a:off x="1371600" y="2350008"/>
            <a:ext cx="5486400" cy="292608"/>
          </a:xfrm>
          <a:prstGeom prst="rect">
            <a:avLst/>
          </a:prstGeom>
          <a:noFill/>
          <a:ln/>
        </p:spPr>
        <p:txBody>
          <a:bodyPr wrap="square" lIns="0" tIns="0" rIns="0" bIns="0" rtlCol="0" anchor="t"/>
          <a:lstStyle/>
          <a:p>
            <a:pPr indent="0" marL="0">
              <a:buNone/>
            </a:pPr>
            <a:r>
              <a:rPr lang="en-US" sz="1400" dirty="0">
                <a:solidFill>
                  <a:schemeClr val="accent4"/>
                </a:solidFill>
              </a:rPr>
              <a:t>캘린더에서 오늘의 수업을 엽니다</a:t>
            </a:r>
            <a:endParaRPr lang="en-US" sz="1400" dirty="0"/>
          </a:p>
        </p:txBody>
      </p:sp>
      <p:sp>
        <p:nvSpPr>
          <p:cNvPr id="11" name="number 2"/>
          <p:cNvSpPr/>
          <p:nvPr/>
        </p:nvSpPr>
        <p:spPr>
          <a:xfrm>
            <a:off x="548640" y="2880360"/>
            <a:ext cx="548640" cy="548640"/>
          </a:xfrm>
          <a:prstGeom prst="ellipse">
            <a:avLst/>
          </a:prstGeom>
          <a:solidFill>
            <a:schemeClr val="accent2"/>
          </a:solidFill>
          <a:ln/>
        </p:spPr>
      </p:sp>
      <p:sp>
        <p:nvSpPr>
          <p:cNvPr id="12" name="Text 9"/>
          <p:cNvSpPr txBox="1"/>
          <p:nvPr/>
        </p:nvSpPr>
        <p:spPr>
          <a:xfrm>
            <a:off x="548640" y="288036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0"/>
          <p:cNvSpPr txBox="1"/>
          <p:nvPr/>
        </p:nvSpPr>
        <p:spPr>
          <a:xfrm>
            <a:off x="1371600" y="2862072"/>
            <a:ext cx="1188720" cy="274320"/>
          </a:xfrm>
          <a:prstGeom prst="rect">
            <a:avLst/>
          </a:prstGeom>
          <a:noFill/>
          <a:ln/>
        </p:spPr>
        <p:txBody>
          <a:bodyPr wrap="square" lIns="0" tIns="0" rIns="0" bIns="0" rtlCol="0" anchor="t"/>
          <a:lstStyle/>
          <a:p>
            <a:pPr indent="0" marL="0">
              <a:buNone/>
            </a:pPr>
            <a:r>
              <a:rPr lang="en-US" sz="1200" b="1" dirty="0">
                <a:solidFill>
                  <a:schemeClr val="accent2"/>
                </a:solidFill>
              </a:rPr>
              <a:t>10–20초</a:t>
            </a:r>
            <a:endParaRPr lang="en-US" sz="1200" dirty="0"/>
          </a:p>
        </p:txBody>
      </p:sp>
      <p:sp>
        <p:nvSpPr>
          <p:cNvPr id="14" name="Text 11"/>
          <p:cNvSpPr txBox="1"/>
          <p:nvPr/>
        </p:nvSpPr>
        <p:spPr>
          <a:xfrm>
            <a:off x="1371600" y="3136392"/>
            <a:ext cx="5486400" cy="384048"/>
          </a:xfrm>
          <a:prstGeom prst="rect">
            <a:avLst/>
          </a:prstGeom>
          <a:noFill/>
          <a:ln/>
        </p:spPr>
        <p:txBody>
          <a:bodyPr wrap="square" lIns="0" tIns="0" rIns="0" bIns="0" rtlCol="0" anchor="t"/>
          <a:lstStyle/>
          <a:p>
            <a:pPr indent="0" marL="0">
              <a:buNone/>
            </a:pPr>
            <a:r>
              <a:rPr lang="en-US" sz="2000" b="1" dirty="0">
                <a:solidFill>
                  <a:schemeClr val="tx1"/>
                </a:solidFill>
              </a:rPr>
              <a:t>참여 교육생 · 서류 확인</a:t>
            </a:r>
            <a:endParaRPr lang="en-US" sz="2000" dirty="0"/>
          </a:p>
        </p:txBody>
      </p:sp>
      <p:sp>
        <p:nvSpPr>
          <p:cNvPr id="15" name="Text 12"/>
          <p:cNvSpPr txBox="1"/>
          <p:nvPr/>
        </p:nvSpPr>
        <p:spPr>
          <a:xfrm>
            <a:off x="1371600" y="3538728"/>
            <a:ext cx="5486400" cy="292608"/>
          </a:xfrm>
          <a:prstGeom prst="rect">
            <a:avLst/>
          </a:prstGeom>
          <a:noFill/>
          <a:ln/>
        </p:spPr>
        <p:txBody>
          <a:bodyPr wrap="square" lIns="0" tIns="0" rIns="0" bIns="0" rtlCol="0" anchor="t"/>
          <a:lstStyle/>
          <a:p>
            <a:pPr indent="0" marL="0">
              <a:buNone/>
            </a:pPr>
            <a:r>
              <a:rPr lang="en-US" sz="1400" dirty="0">
                <a:solidFill>
                  <a:schemeClr val="accent4"/>
                </a:solidFill>
              </a:rPr>
              <a:t>참석 응답과 동의서 상태를 봅니다</a:t>
            </a:r>
            <a:endParaRPr lang="en-US" sz="1400" dirty="0"/>
          </a:p>
        </p:txBody>
      </p:sp>
      <p:sp>
        <p:nvSpPr>
          <p:cNvPr id="16" name="number 3"/>
          <p:cNvSpPr/>
          <p:nvPr/>
        </p:nvSpPr>
        <p:spPr>
          <a:xfrm>
            <a:off x="548640" y="4069080"/>
            <a:ext cx="548640" cy="548640"/>
          </a:xfrm>
          <a:prstGeom prst="ellipse">
            <a:avLst/>
          </a:prstGeom>
          <a:solidFill>
            <a:schemeClr val="accent2"/>
          </a:solidFill>
          <a:ln/>
        </p:spPr>
      </p:sp>
      <p:sp>
        <p:nvSpPr>
          <p:cNvPr id="17" name="Text 14"/>
          <p:cNvSpPr txBox="1"/>
          <p:nvPr/>
        </p:nvSpPr>
        <p:spPr>
          <a:xfrm>
            <a:off x="548640" y="406908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5"/>
          <p:cNvSpPr txBox="1"/>
          <p:nvPr/>
        </p:nvSpPr>
        <p:spPr>
          <a:xfrm>
            <a:off x="1371600" y="4050792"/>
            <a:ext cx="1188720" cy="274320"/>
          </a:xfrm>
          <a:prstGeom prst="rect">
            <a:avLst/>
          </a:prstGeom>
          <a:noFill/>
          <a:ln/>
        </p:spPr>
        <p:txBody>
          <a:bodyPr wrap="square" lIns="0" tIns="0" rIns="0" bIns="0" rtlCol="0" anchor="t"/>
          <a:lstStyle/>
          <a:p>
            <a:pPr indent="0" marL="0">
              <a:buNone/>
            </a:pPr>
            <a:r>
              <a:rPr lang="en-US" sz="1200" b="1" dirty="0">
                <a:solidFill>
                  <a:schemeClr val="accent2"/>
                </a:solidFill>
              </a:rPr>
              <a:t>20–35초</a:t>
            </a:r>
            <a:endParaRPr lang="en-US" sz="1200" dirty="0"/>
          </a:p>
        </p:txBody>
      </p:sp>
      <p:sp>
        <p:nvSpPr>
          <p:cNvPr id="19" name="Text 16"/>
          <p:cNvSpPr txBox="1"/>
          <p:nvPr/>
        </p:nvSpPr>
        <p:spPr>
          <a:xfrm>
            <a:off x="1371600" y="4325112"/>
            <a:ext cx="5486400" cy="384048"/>
          </a:xfrm>
          <a:prstGeom prst="rect">
            <a:avLst/>
          </a:prstGeom>
          <a:noFill/>
          <a:ln/>
        </p:spPr>
        <p:txBody>
          <a:bodyPr wrap="square" lIns="0" tIns="0" rIns="0" bIns="0" rtlCol="0" anchor="t"/>
          <a:lstStyle/>
          <a:p>
            <a:pPr indent="0" marL="0">
              <a:buNone/>
            </a:pPr>
            <a:r>
              <a:rPr lang="en-US" sz="2000" b="1" dirty="0">
                <a:solidFill>
                  <a:schemeClr val="tx1"/>
                </a:solidFill>
              </a:rPr>
              <a:t>과정별 진도 확인</a:t>
            </a:r>
            <a:endParaRPr lang="en-US" sz="2000" dirty="0"/>
          </a:p>
        </p:txBody>
      </p:sp>
      <p:sp>
        <p:nvSpPr>
          <p:cNvPr id="20" name="Text 17"/>
          <p:cNvSpPr txBox="1"/>
          <p:nvPr/>
        </p:nvSpPr>
        <p:spPr>
          <a:xfrm>
            <a:off x="1371600" y="4727448"/>
            <a:ext cx="5486400" cy="292608"/>
          </a:xfrm>
          <a:prstGeom prst="rect">
            <a:avLst/>
          </a:prstGeom>
          <a:noFill/>
          <a:ln/>
        </p:spPr>
        <p:txBody>
          <a:bodyPr wrap="square" lIns="0" tIns="0" rIns="0" bIns="0" rtlCol="0" anchor="t"/>
          <a:lstStyle/>
          <a:p>
            <a:pPr indent="0" marL="0">
              <a:buNone/>
            </a:pPr>
            <a:r>
              <a:rPr lang="en-US" sz="1400" dirty="0">
                <a:solidFill>
                  <a:schemeClr val="accent4"/>
                </a:solidFill>
              </a:rPr>
              <a:t>교육생의 개방수역·풀 요건을 체크합니다</a:t>
            </a:r>
            <a:endParaRPr lang="en-US" sz="1400" dirty="0"/>
          </a:p>
        </p:txBody>
      </p:sp>
      <p:sp>
        <p:nvSpPr>
          <p:cNvPr id="21" name="number 4"/>
          <p:cNvSpPr/>
          <p:nvPr/>
        </p:nvSpPr>
        <p:spPr>
          <a:xfrm>
            <a:off x="548640" y="5257800"/>
            <a:ext cx="548640" cy="548640"/>
          </a:xfrm>
          <a:prstGeom prst="ellipse">
            <a:avLst/>
          </a:prstGeom>
          <a:solidFill>
            <a:schemeClr val="accent3"/>
          </a:solidFill>
          <a:ln/>
        </p:spPr>
      </p:sp>
      <p:sp>
        <p:nvSpPr>
          <p:cNvPr id="22" name="Text 19"/>
          <p:cNvSpPr txBox="1"/>
          <p:nvPr/>
        </p:nvSpPr>
        <p:spPr>
          <a:xfrm>
            <a:off x="548640" y="525780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3" name="Text 20"/>
          <p:cNvSpPr txBox="1"/>
          <p:nvPr/>
        </p:nvSpPr>
        <p:spPr>
          <a:xfrm>
            <a:off x="1371600" y="5239512"/>
            <a:ext cx="1188720" cy="274320"/>
          </a:xfrm>
          <a:prstGeom prst="rect">
            <a:avLst/>
          </a:prstGeom>
          <a:noFill/>
          <a:ln/>
        </p:spPr>
        <p:txBody>
          <a:bodyPr wrap="square" lIns="0" tIns="0" rIns="0" bIns="0" rtlCol="0" anchor="t"/>
          <a:lstStyle/>
          <a:p>
            <a:pPr indent="0" marL="0">
              <a:buNone/>
            </a:pPr>
            <a:r>
              <a:rPr lang="en-US" sz="1200" b="1" dirty="0">
                <a:solidFill>
                  <a:schemeClr val="accent3"/>
                </a:solidFill>
              </a:rPr>
              <a:t>35–45초</a:t>
            </a:r>
            <a:endParaRPr lang="en-US" sz="1200" dirty="0"/>
          </a:p>
        </p:txBody>
      </p:sp>
      <p:sp>
        <p:nvSpPr>
          <p:cNvPr id="24" name="Text 21"/>
          <p:cNvSpPr txBox="1"/>
          <p:nvPr/>
        </p:nvSpPr>
        <p:spPr>
          <a:xfrm>
            <a:off x="1371600" y="5513832"/>
            <a:ext cx="5486400" cy="384048"/>
          </a:xfrm>
          <a:prstGeom prst="rect">
            <a:avLst/>
          </a:prstGeom>
          <a:noFill/>
          <a:ln/>
        </p:spPr>
        <p:txBody>
          <a:bodyPr wrap="square" lIns="0" tIns="0" rIns="0" bIns="0" rtlCol="0" anchor="t"/>
          <a:lstStyle/>
          <a:p>
            <a:pPr indent="0" marL="0">
              <a:buNone/>
            </a:pPr>
            <a:r>
              <a:rPr lang="en-US" sz="2000" b="1" dirty="0">
                <a:solidFill>
                  <a:schemeClr val="tx1"/>
                </a:solidFill>
              </a:rPr>
              <a:t>디브리핑 저장</a:t>
            </a:r>
            <a:endParaRPr lang="en-US" sz="2000" dirty="0"/>
          </a:p>
        </p:txBody>
      </p:sp>
      <p:sp>
        <p:nvSpPr>
          <p:cNvPr id="25" name="Text 22"/>
          <p:cNvSpPr txBox="1"/>
          <p:nvPr/>
        </p:nvSpPr>
        <p:spPr>
          <a:xfrm>
            <a:off x="1371600" y="5916168"/>
            <a:ext cx="5486400" cy="292608"/>
          </a:xfrm>
          <a:prstGeom prst="rect">
            <a:avLst/>
          </a:prstGeom>
          <a:noFill/>
          <a:ln/>
        </p:spPr>
        <p:txBody>
          <a:bodyPr wrap="square" lIns="0" tIns="0" rIns="0" bIns="0" rtlCol="0" anchor="t"/>
          <a:lstStyle/>
          <a:p>
            <a:pPr indent="0" marL="0">
              <a:buNone/>
            </a:pPr>
            <a:r>
              <a:rPr lang="en-US" sz="1400" dirty="0">
                <a:solidFill>
                  <a:schemeClr val="accent4"/>
                </a:solidFill>
              </a:rPr>
              <a:t>피드백을 남기고 다음 수업에 연결합니다</a:t>
            </a:r>
            <a:endParaRPr lang="en-US" sz="1400" dirty="0"/>
          </a:p>
        </p:txBody>
      </p:sp>
      <p:sp>
        <p:nvSpPr>
          <p:cNvPr id="26" name="demo stage"/>
          <p:cNvSpPr/>
          <p:nvPr/>
        </p:nvSpPr>
        <p:spPr>
          <a:xfrm>
            <a:off x="7315200" y="1600200"/>
            <a:ext cx="4325112" cy="4526280"/>
          </a:xfrm>
          <a:prstGeom prst="roundRect">
            <a:avLst>
              <a:gd name="adj" fmla="val 2960"/>
            </a:avLst>
          </a:prstGeom>
          <a:solidFill>
            <a:schemeClr val="tx2"/>
          </a:solidFill>
          <a:ln/>
          <a:effectLst>
            <a:outerShdw sx="100000" sy="100000" kx="0" ky="0" algn="bl" rotWithShape="0" blurRad="127000" dist="38100" dir="5400000">
              <a:srgbClr val="0A2540">
                <a:alpha val="14000"/>
              </a:srgbClr>
            </a:outerShdw>
          </a:effectLst>
        </p:spPr>
      </p:sp>
      <p:pic>
        <p:nvPicPr>
          <p:cNvPr id="27" name="phone 08_feature_6.png" descr="AllBlue 앱 화면">    </p:cNvPr>
          <p:cNvPicPr>
            <a:picLocks noChangeAspect="1"/>
          </p:cNvPicPr>
          <p:nvPr/>
        </p:nvPicPr>
        <p:blipFill>
          <a:blip r:embed="rId1"/>
          <a:stretch>
            <a:fillRect/>
          </a:stretch>
        </p:blipFill>
        <p:spPr>
          <a:xfrm>
            <a:off x="7635240" y="1874520"/>
            <a:ext cx="1893233" cy="3977640"/>
          </a:xfrm>
          <a:prstGeom prst="rect">
            <a:avLst/>
          </a:prstGeom>
        </p:spPr>
      </p:pic>
      <p:sp>
        <p:nvSpPr>
          <p:cNvPr id="28" name="live chip"/>
          <p:cNvSpPr/>
          <p:nvPr/>
        </p:nvSpPr>
        <p:spPr>
          <a:xfrm>
            <a:off x="9829800" y="2057400"/>
            <a:ext cx="1508760" cy="438912"/>
          </a:xfrm>
          <a:prstGeom prst="roundRect">
            <a:avLst>
              <a:gd name="adj" fmla="val 50000"/>
            </a:avLst>
          </a:prstGeom>
          <a:solidFill>
            <a:schemeClr val="accent3"/>
          </a:solidFill>
          <a:ln/>
        </p:spPr>
      </p:sp>
      <p:pic>
        <p:nvPicPr>
          <p:cNvPr id="29" name="live icon" descr="재생">    </p:cNvPr>
          <p:cNvPicPr>
            <a:picLocks noChangeAspect="1"/>
          </p:cNvPicPr>
          <p:nvPr/>
        </p:nvPicPr>
        <p:blipFill>
          <a:blip r:embed="rId2"/>
          <a:stretch>
            <a:fillRect/>
          </a:stretch>
        </p:blipFill>
        <p:spPr>
          <a:xfrm>
            <a:off x="9985248" y="2157984"/>
            <a:ext cx="237744" cy="237744"/>
          </a:xfrm>
          <a:prstGeom prst="rect">
            <a:avLst/>
          </a:prstGeom>
        </p:spPr>
      </p:pic>
      <p:sp>
        <p:nvSpPr>
          <p:cNvPr id="30" name="Text 25"/>
          <p:cNvSpPr txBox="1"/>
          <p:nvPr/>
        </p:nvSpPr>
        <p:spPr>
          <a:xfrm>
            <a:off x="10259568" y="2057400"/>
            <a:ext cx="1051560" cy="438912"/>
          </a:xfrm>
          <a:prstGeom prst="rect">
            <a:avLst/>
          </a:prstGeom>
          <a:noFill/>
          <a:ln/>
        </p:spPr>
        <p:txBody>
          <a:bodyPr wrap="square" lIns="0" tIns="0" rIns="0" bIns="0" rtlCol="0" anchor="ctr"/>
          <a:lstStyle/>
          <a:p>
            <a:pPr indent="0" marL="0">
              <a:buNone/>
            </a:pPr>
            <a:r>
              <a:rPr lang="en-US" sz="1200" b="1" dirty="0">
                <a:solidFill>
                  <a:schemeClr val="tx2"/>
                </a:solidFill>
              </a:rPr>
              <a:t>LIVE DEMO</a:t>
            </a:r>
            <a:endParaRPr lang="en-US" sz="1200" dirty="0"/>
          </a:p>
        </p:txBody>
      </p:sp>
      <p:sp>
        <p:nvSpPr>
          <p:cNvPr id="31" name="Text 26"/>
          <p:cNvSpPr txBox="1"/>
          <p:nvPr/>
        </p:nvSpPr>
        <p:spPr>
          <a:xfrm>
            <a:off x="9829800" y="2834640"/>
            <a:ext cx="1691640" cy="822960"/>
          </a:xfrm>
          <a:prstGeom prst="rect">
            <a:avLst/>
          </a:prstGeom>
          <a:noFill/>
          <a:ln/>
        </p:spPr>
        <p:txBody>
          <a:bodyPr wrap="square" lIns="0" tIns="0" rIns="0" bIns="0" rtlCol="0" anchor="t"/>
          <a:lstStyle/>
          <a:p>
            <a:pPr indent="0" marL="0">
              <a:buNone/>
            </a:pPr>
            <a:r>
              <a:rPr lang="en-US" sz="1600" b="1" dirty="0">
                <a:solidFill>
                  <a:schemeClr val="bg1"/>
                </a:solidFill>
              </a:rPr>
              <a:t>그날의 수업,</a:t>
            </a:r>
            <a:endParaRPr lang="en-US" sz="1600" dirty="0"/>
          </a:p>
          <a:p>
            <a:pPr indent="0" marL="0">
              <a:buNone/>
            </a:pPr>
            <a:r>
              <a:rPr lang="en-US" sz="1600" b="1" dirty="0">
                <a:solidFill>
                  <a:schemeClr val="bg1"/>
                </a:solidFill>
              </a:rPr>
              <a:t>타임라인으로</a:t>
            </a:r>
            <a:endParaRPr lang="en-US" sz="1600" dirty="0"/>
          </a:p>
        </p:txBody>
      </p:sp>
      <p:sp>
        <p:nvSpPr>
          <p:cNvPr id="32" name="Text 27"/>
          <p:cNvSpPr txBox="1"/>
          <p:nvPr/>
        </p:nvSpPr>
        <p:spPr>
          <a:xfrm>
            <a:off x="9829800" y="3703320"/>
            <a:ext cx="1645920" cy="822960"/>
          </a:xfrm>
          <a:prstGeom prst="rect">
            <a:avLst/>
          </a:prstGeom>
          <a:noFill/>
          <a:ln/>
        </p:spPr>
        <p:txBody>
          <a:bodyPr wrap="square" lIns="0" tIns="0" rIns="0" bIns="0" rtlCol="0" anchor="t"/>
          <a:lstStyle/>
          <a:p>
            <a:pPr indent="0" marL="0">
              <a:buNone/>
            </a:pPr>
            <a:r>
              <a:rPr lang="en-US" sz="1200" dirty="0">
                <a:solidFill>
                  <a:schemeClr val="accent5"/>
                </a:solidFill>
              </a:rPr>
              <a:t>장소·분류·교육생을</a:t>
            </a:r>
            <a:endParaRPr lang="en-US" sz="1200" dirty="0"/>
          </a:p>
          <a:p>
            <a:pPr indent="0" marL="0">
              <a:buNone/>
            </a:pPr>
            <a:r>
              <a:rPr lang="en-US" sz="1200" dirty="0">
                <a:solidFill>
                  <a:schemeClr val="accent5"/>
                </a:solidFill>
              </a:rPr>
              <a:t>시간 순으로 정리</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7315200" cy="292608"/>
          </a:xfrm>
          <a:prstGeom prst="rect">
            <a:avLst/>
          </a:prstGeom>
          <a:noFill/>
          <a:ln/>
        </p:spPr>
        <p:txBody>
          <a:bodyPr wrap="square" lIns="0" tIns="0" rIns="0" bIns="0" rtlCol="0"/>
          <a:lstStyle/>
          <a:p>
            <a:pPr indent="0" marL="0">
              <a:buNone/>
            </a:pPr>
            <a:r>
              <a:rPr lang="en-US" sz="1300" b="1" spc="100" kern="0" dirty="0">
                <a:solidFill>
                  <a:schemeClr val="accent2"/>
                </a:solidFill>
              </a:rPr>
              <a:t>05  차별점</a:t>
            </a:r>
            <a:endParaRPr lang="en-US" sz="1300" dirty="0"/>
          </a:p>
        </p:txBody>
      </p:sp>
      <p:sp>
        <p:nvSpPr>
          <p:cNvPr id="3" name="Text 1"/>
          <p:cNvSpPr/>
          <p:nvPr>
            <p:ph idx="102"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교육 콘텐츠가 아닌, 강사의 수업 운영에 집중</a:t>
            </a:r>
            <a:endParaRPr lang="en-US" sz="3200" dirty="0"/>
          </a:p>
        </p:txBody>
      </p:sp>
      <p:sp>
        <p:nvSpPr>
          <p:cNvPr id="5" name="compare 기존 방식"/>
          <p:cNvSpPr/>
          <p:nvPr/>
        </p:nvSpPr>
        <p:spPr>
          <a:xfrm>
            <a:off x="548640" y="1691640"/>
            <a:ext cx="3429000" cy="3566160"/>
          </a:xfrm>
          <a:prstGeom prst="roundRect">
            <a:avLst>
              <a:gd name="adj" fmla="val 3733"/>
            </a:avLst>
          </a:prstGeom>
          <a:solidFill>
            <a:schemeClr val="bg1"/>
          </a:solidFill>
          <a:ln/>
          <a:effectLst>
            <a:outerShdw sx="100000" sy="100000" kx="0" ky="0" algn="bl" rotWithShape="0" blurRad="127000" dist="38100" dir="5400000">
              <a:srgbClr val="0A2540">
                <a:alpha val="14000"/>
              </a:srgbClr>
            </a:outerShdw>
          </a:effectLst>
        </p:spPr>
      </p:sp>
      <p:sp>
        <p:nvSpPr>
          <p:cNvPr id="6" name="기존 방식 circle"/>
          <p:cNvSpPr/>
          <p:nvPr/>
        </p:nvSpPr>
        <p:spPr>
          <a:xfrm>
            <a:off x="868680" y="2011680"/>
            <a:ext cx="640080" cy="640080"/>
          </a:xfrm>
          <a:prstGeom prst="ellipse">
            <a:avLst/>
          </a:prstGeom>
          <a:solidFill>
            <a:schemeClr val="accent6"/>
          </a:solidFill>
          <a:ln/>
        </p:spPr>
      </p:sp>
      <p:pic>
        <p:nvPicPr>
          <p:cNvPr id="7" name="기존 방식 icon" descr="기존 방식">    </p:cNvPr>
          <p:cNvPicPr>
            <a:picLocks noChangeAspect="1"/>
          </p:cNvPicPr>
          <p:nvPr/>
        </p:nvPicPr>
        <p:blipFill>
          <a:blip r:embed="rId1"/>
          <a:stretch>
            <a:fillRect/>
          </a:stretch>
        </p:blipFill>
        <p:spPr>
          <a:xfrm>
            <a:off x="1041502" y="2184502"/>
            <a:ext cx="294437" cy="294437"/>
          </a:xfrm>
          <a:prstGeom prst="rect">
            <a:avLst/>
          </a:prstGeom>
        </p:spPr>
      </p:pic>
      <p:sp>
        <p:nvSpPr>
          <p:cNvPr id="8" name="Text 4"/>
          <p:cNvSpPr txBox="1"/>
          <p:nvPr/>
        </p:nvSpPr>
        <p:spPr>
          <a:xfrm>
            <a:off x="868680" y="2788920"/>
            <a:ext cx="2788920" cy="384048"/>
          </a:xfrm>
          <a:prstGeom prst="rect">
            <a:avLst/>
          </a:prstGeom>
          <a:noFill/>
          <a:ln/>
        </p:spPr>
        <p:txBody>
          <a:bodyPr wrap="square" lIns="0" tIns="0" rIns="0" bIns="0" rtlCol="0" anchor="t"/>
          <a:lstStyle/>
          <a:p>
            <a:pPr indent="0" marL="0">
              <a:buNone/>
            </a:pPr>
            <a:r>
              <a:rPr lang="en-US" sz="2000" b="1" dirty="0">
                <a:solidFill>
                  <a:schemeClr val="tx1"/>
                </a:solidFill>
              </a:rPr>
              <a:t>기존 방식</a:t>
            </a:r>
            <a:endParaRPr lang="en-US" sz="2000" dirty="0"/>
          </a:p>
        </p:txBody>
      </p:sp>
      <p:sp>
        <p:nvSpPr>
          <p:cNvPr id="9" name="Text 5"/>
          <p:cNvSpPr txBox="1"/>
          <p:nvPr/>
        </p:nvSpPr>
        <p:spPr>
          <a:xfrm>
            <a:off x="868680" y="3172968"/>
            <a:ext cx="2788920" cy="274320"/>
          </a:xfrm>
          <a:prstGeom prst="rect">
            <a:avLst/>
          </a:prstGeom>
          <a:noFill/>
          <a:ln/>
        </p:spPr>
        <p:txBody>
          <a:bodyPr wrap="square" lIns="0" tIns="0" rIns="0" bIns="0" rtlCol="0" anchor="t"/>
          <a:lstStyle/>
          <a:p>
            <a:pPr indent="0" marL="0">
              <a:buNone/>
            </a:pPr>
            <a:r>
              <a:rPr lang="en-US" sz="1200" dirty="0">
                <a:solidFill>
                  <a:schemeClr val="accent4"/>
                </a:solidFill>
              </a:rPr>
              <a:t>엑셀 · 메신저 · 별도 서류</a:t>
            </a:r>
            <a:endParaRPr lang="en-US" sz="1200" dirty="0"/>
          </a:p>
        </p:txBody>
      </p:sp>
      <p:sp>
        <p:nvSpPr>
          <p:cNvPr id="10" name="Text 6"/>
          <p:cNvSpPr txBox="1"/>
          <p:nvPr/>
        </p:nvSpPr>
        <p:spPr>
          <a:xfrm>
            <a:off x="868680" y="3703320"/>
            <a:ext cx="914400" cy="256032"/>
          </a:xfrm>
          <a:prstGeom prst="rect">
            <a:avLst/>
          </a:prstGeom>
          <a:noFill/>
          <a:ln/>
        </p:spPr>
        <p:txBody>
          <a:bodyPr wrap="square" lIns="0" tIns="0" rIns="0" bIns="0" rtlCol="0" anchor="t"/>
          <a:lstStyle/>
          <a:p>
            <a:pPr indent="0" marL="0">
              <a:buNone/>
            </a:pPr>
            <a:r>
              <a:rPr lang="en-US" sz="1100" b="1" dirty="0">
                <a:solidFill>
                  <a:schemeClr val="accent2"/>
                </a:solidFill>
              </a:rPr>
              <a:t>장점</a:t>
            </a:r>
            <a:endParaRPr lang="en-US" sz="1100" dirty="0"/>
          </a:p>
        </p:txBody>
      </p:sp>
      <p:sp>
        <p:nvSpPr>
          <p:cNvPr id="11" name="Text 7"/>
          <p:cNvSpPr txBox="1"/>
          <p:nvPr/>
        </p:nvSpPr>
        <p:spPr>
          <a:xfrm>
            <a:off x="868680" y="3959352"/>
            <a:ext cx="2880360" cy="411480"/>
          </a:xfrm>
          <a:prstGeom prst="rect">
            <a:avLst/>
          </a:prstGeom>
          <a:noFill/>
          <a:ln/>
        </p:spPr>
        <p:txBody>
          <a:bodyPr wrap="square" lIns="0" tIns="0" rIns="0" bIns="0" rtlCol="0" anchor="t"/>
          <a:lstStyle/>
          <a:p>
            <a:pPr indent="0" marL="0">
              <a:buNone/>
            </a:pPr>
            <a:r>
              <a:rPr lang="en-US" sz="1400" dirty="0">
                <a:solidFill>
                  <a:schemeClr val="tx1"/>
                </a:solidFill>
              </a:rPr>
              <a:t>자유롭고 익숙한 도구</a:t>
            </a:r>
            <a:endParaRPr lang="en-US" sz="1400" dirty="0"/>
          </a:p>
        </p:txBody>
      </p:sp>
      <p:sp>
        <p:nvSpPr>
          <p:cNvPr id="12" name="Text 8"/>
          <p:cNvSpPr txBox="1"/>
          <p:nvPr/>
        </p:nvSpPr>
        <p:spPr>
          <a:xfrm>
            <a:off x="868680" y="4434840"/>
            <a:ext cx="914400" cy="256032"/>
          </a:xfrm>
          <a:prstGeom prst="rect">
            <a:avLst/>
          </a:prstGeom>
          <a:noFill/>
          <a:ln/>
        </p:spPr>
        <p:txBody>
          <a:bodyPr wrap="square" lIns="0" tIns="0" rIns="0" bIns="0" rtlCol="0" anchor="t"/>
          <a:lstStyle/>
          <a:p>
            <a:pPr indent="0" marL="0">
              <a:buNone/>
            </a:pPr>
            <a:r>
              <a:rPr lang="en-US" sz="1100" b="1" dirty="0">
                <a:solidFill>
                  <a:schemeClr val="accent2"/>
                </a:solidFill>
              </a:rPr>
              <a:t>한계</a:t>
            </a:r>
            <a:endParaRPr lang="en-US" sz="1100" dirty="0"/>
          </a:p>
        </p:txBody>
      </p:sp>
      <p:sp>
        <p:nvSpPr>
          <p:cNvPr id="13" name="Text 9"/>
          <p:cNvSpPr txBox="1"/>
          <p:nvPr/>
        </p:nvSpPr>
        <p:spPr>
          <a:xfrm>
            <a:off x="868680" y="4690872"/>
            <a:ext cx="2880360" cy="411480"/>
          </a:xfrm>
          <a:prstGeom prst="rect">
            <a:avLst/>
          </a:prstGeom>
          <a:noFill/>
          <a:ln/>
        </p:spPr>
        <p:txBody>
          <a:bodyPr wrap="square" lIns="0" tIns="0" rIns="0" bIns="0" rtlCol="0" anchor="t"/>
          <a:lstStyle/>
          <a:p>
            <a:pPr indent="0" marL="0">
              <a:buNone/>
            </a:pPr>
            <a:r>
              <a:rPr lang="en-US" sz="1400" dirty="0">
                <a:solidFill>
                  <a:schemeClr val="tx1"/>
                </a:solidFill>
              </a:rPr>
              <a:t>한 교육생 정보가 여러 곳에 흩어짐</a:t>
            </a:r>
            <a:endParaRPr lang="en-US" sz="1400" dirty="0"/>
          </a:p>
        </p:txBody>
      </p:sp>
      <p:sp>
        <p:nvSpPr>
          <p:cNvPr id="14" name="compare 교육단체 앱"/>
          <p:cNvSpPr/>
          <p:nvPr/>
        </p:nvSpPr>
        <p:spPr>
          <a:xfrm>
            <a:off x="4251960" y="1691640"/>
            <a:ext cx="3429000" cy="3566160"/>
          </a:xfrm>
          <a:prstGeom prst="roundRect">
            <a:avLst>
              <a:gd name="adj" fmla="val 3733"/>
            </a:avLst>
          </a:prstGeom>
          <a:solidFill>
            <a:schemeClr val="bg1"/>
          </a:solidFill>
          <a:ln/>
          <a:effectLst>
            <a:outerShdw sx="100000" sy="100000" kx="0" ky="0" algn="bl" rotWithShape="0" blurRad="127000" dist="38100" dir="5400000">
              <a:srgbClr val="0A2540">
                <a:alpha val="14000"/>
              </a:srgbClr>
            </a:outerShdw>
          </a:effectLst>
        </p:spPr>
      </p:sp>
      <p:sp>
        <p:nvSpPr>
          <p:cNvPr id="15" name="교육단체 앱 circle"/>
          <p:cNvSpPr/>
          <p:nvPr/>
        </p:nvSpPr>
        <p:spPr>
          <a:xfrm>
            <a:off x="4572000" y="2011680"/>
            <a:ext cx="640080" cy="640080"/>
          </a:xfrm>
          <a:prstGeom prst="ellipse">
            <a:avLst/>
          </a:prstGeom>
          <a:solidFill>
            <a:schemeClr val="accent6"/>
          </a:solidFill>
          <a:ln/>
        </p:spPr>
      </p:sp>
      <p:pic>
        <p:nvPicPr>
          <p:cNvPr id="16" name="교육단체 앱 icon" descr="교육단체 앱">    </p:cNvPr>
          <p:cNvPicPr>
            <a:picLocks noChangeAspect="1"/>
          </p:cNvPicPr>
          <p:nvPr/>
        </p:nvPicPr>
        <p:blipFill>
          <a:blip r:embed="rId2"/>
          <a:stretch>
            <a:fillRect/>
          </a:stretch>
        </p:blipFill>
        <p:spPr>
          <a:xfrm>
            <a:off x="4744822" y="2184502"/>
            <a:ext cx="294437" cy="294437"/>
          </a:xfrm>
          <a:prstGeom prst="rect">
            <a:avLst/>
          </a:prstGeom>
        </p:spPr>
      </p:pic>
      <p:sp>
        <p:nvSpPr>
          <p:cNvPr id="17" name="Text 12"/>
          <p:cNvSpPr txBox="1"/>
          <p:nvPr/>
        </p:nvSpPr>
        <p:spPr>
          <a:xfrm>
            <a:off x="4572000" y="2788920"/>
            <a:ext cx="2788920" cy="384048"/>
          </a:xfrm>
          <a:prstGeom prst="rect">
            <a:avLst/>
          </a:prstGeom>
          <a:noFill/>
          <a:ln/>
        </p:spPr>
        <p:txBody>
          <a:bodyPr wrap="square" lIns="0" tIns="0" rIns="0" bIns="0" rtlCol="0" anchor="t"/>
          <a:lstStyle/>
          <a:p>
            <a:pPr indent="0" marL="0">
              <a:buNone/>
            </a:pPr>
            <a:r>
              <a:rPr lang="en-US" sz="2000" b="1" dirty="0">
                <a:solidFill>
                  <a:schemeClr val="tx1"/>
                </a:solidFill>
              </a:rPr>
              <a:t>교육단체 앱</a:t>
            </a:r>
            <a:endParaRPr lang="en-US" sz="2000" dirty="0"/>
          </a:p>
        </p:txBody>
      </p:sp>
      <p:sp>
        <p:nvSpPr>
          <p:cNvPr id="18" name="Text 13"/>
          <p:cNvSpPr txBox="1"/>
          <p:nvPr/>
        </p:nvSpPr>
        <p:spPr>
          <a:xfrm>
            <a:off x="4572000" y="3172968"/>
            <a:ext cx="2788920" cy="274320"/>
          </a:xfrm>
          <a:prstGeom prst="rect">
            <a:avLst/>
          </a:prstGeom>
          <a:noFill/>
          <a:ln/>
        </p:spPr>
        <p:txBody>
          <a:bodyPr wrap="square" lIns="0" tIns="0" rIns="0" bIns="0" rtlCol="0" anchor="t"/>
          <a:lstStyle/>
          <a:p>
            <a:pPr indent="0" marL="0">
              <a:buNone/>
            </a:pPr>
            <a:r>
              <a:rPr lang="en-US" sz="1200" dirty="0">
                <a:solidFill>
                  <a:schemeClr val="accent4"/>
                </a:solidFill>
              </a:rPr>
              <a:t>예: MySSI ¹</a:t>
            </a:r>
            <a:endParaRPr lang="en-US" sz="1200" dirty="0"/>
          </a:p>
        </p:txBody>
      </p:sp>
      <p:sp>
        <p:nvSpPr>
          <p:cNvPr id="19" name="Text 14"/>
          <p:cNvSpPr txBox="1"/>
          <p:nvPr/>
        </p:nvSpPr>
        <p:spPr>
          <a:xfrm>
            <a:off x="4572000" y="3703320"/>
            <a:ext cx="914400" cy="256032"/>
          </a:xfrm>
          <a:prstGeom prst="rect">
            <a:avLst/>
          </a:prstGeom>
          <a:noFill/>
          <a:ln/>
        </p:spPr>
        <p:txBody>
          <a:bodyPr wrap="square" lIns="0" tIns="0" rIns="0" bIns="0" rtlCol="0" anchor="t"/>
          <a:lstStyle/>
          <a:p>
            <a:pPr indent="0" marL="0">
              <a:buNone/>
            </a:pPr>
            <a:r>
              <a:rPr lang="en-US" sz="1100" b="1" dirty="0">
                <a:solidFill>
                  <a:schemeClr val="accent2"/>
                </a:solidFill>
              </a:rPr>
              <a:t>초점</a:t>
            </a:r>
            <a:endParaRPr lang="en-US" sz="1100" dirty="0"/>
          </a:p>
        </p:txBody>
      </p:sp>
      <p:sp>
        <p:nvSpPr>
          <p:cNvPr id="20" name="Text 15"/>
          <p:cNvSpPr txBox="1"/>
          <p:nvPr/>
        </p:nvSpPr>
        <p:spPr>
          <a:xfrm>
            <a:off x="4572000" y="3959352"/>
            <a:ext cx="2880360" cy="411480"/>
          </a:xfrm>
          <a:prstGeom prst="rect">
            <a:avLst/>
          </a:prstGeom>
          <a:noFill/>
          <a:ln/>
        </p:spPr>
        <p:txBody>
          <a:bodyPr wrap="square" lIns="0" tIns="0" rIns="0" bIns="0" rtlCol="0" anchor="t"/>
          <a:lstStyle/>
          <a:p>
            <a:pPr indent="0" marL="0">
              <a:buNone/>
            </a:pPr>
            <a:r>
              <a:rPr lang="en-US" sz="1400" dirty="0">
                <a:solidFill>
                  <a:schemeClr val="tx1"/>
                </a:solidFill>
              </a:rPr>
              <a:t>디지털 교육 · 자격증 · 로그북</a:t>
            </a:r>
            <a:endParaRPr lang="en-US" sz="1400" dirty="0"/>
          </a:p>
        </p:txBody>
      </p:sp>
      <p:sp>
        <p:nvSpPr>
          <p:cNvPr id="21" name="Text 16"/>
          <p:cNvSpPr txBox="1"/>
          <p:nvPr/>
        </p:nvSpPr>
        <p:spPr>
          <a:xfrm>
            <a:off x="4572000" y="4434840"/>
            <a:ext cx="914400" cy="256032"/>
          </a:xfrm>
          <a:prstGeom prst="rect">
            <a:avLst/>
          </a:prstGeom>
          <a:noFill/>
          <a:ln/>
        </p:spPr>
        <p:txBody>
          <a:bodyPr wrap="square" lIns="0" tIns="0" rIns="0" bIns="0" rtlCol="0" anchor="t"/>
          <a:lstStyle/>
          <a:p>
            <a:pPr indent="0" marL="0">
              <a:buNone/>
            </a:pPr>
            <a:r>
              <a:rPr lang="en-US" sz="1100" b="1" dirty="0">
                <a:solidFill>
                  <a:schemeClr val="accent2"/>
                </a:solidFill>
              </a:rPr>
              <a:t>대상</a:t>
            </a:r>
            <a:endParaRPr lang="en-US" sz="1100" dirty="0"/>
          </a:p>
        </p:txBody>
      </p:sp>
      <p:sp>
        <p:nvSpPr>
          <p:cNvPr id="22" name="Text 17"/>
          <p:cNvSpPr txBox="1"/>
          <p:nvPr/>
        </p:nvSpPr>
        <p:spPr>
          <a:xfrm>
            <a:off x="4572000" y="4690872"/>
            <a:ext cx="2880360" cy="411480"/>
          </a:xfrm>
          <a:prstGeom prst="rect">
            <a:avLst/>
          </a:prstGeom>
          <a:noFill/>
          <a:ln/>
        </p:spPr>
        <p:txBody>
          <a:bodyPr wrap="square" lIns="0" tIns="0" rIns="0" bIns="0" rtlCol="0" anchor="t"/>
          <a:lstStyle/>
          <a:p>
            <a:pPr indent="0" marL="0">
              <a:buNone/>
            </a:pPr>
            <a:r>
              <a:rPr lang="en-US" sz="1400" dirty="0">
                <a:solidFill>
                  <a:schemeClr val="tx1"/>
                </a:solidFill>
              </a:rPr>
              <a:t>교육 콘텐츠와 자격 이력 관리</a:t>
            </a:r>
            <a:endParaRPr lang="en-US" sz="1400" dirty="0"/>
          </a:p>
        </p:txBody>
      </p:sp>
      <p:sp>
        <p:nvSpPr>
          <p:cNvPr id="23" name="compare AllBlue"/>
          <p:cNvSpPr/>
          <p:nvPr/>
        </p:nvSpPr>
        <p:spPr>
          <a:xfrm>
            <a:off x="7955280" y="1554480"/>
            <a:ext cx="3687775" cy="3840480"/>
          </a:xfrm>
          <a:prstGeom prst="roundRect">
            <a:avLst>
              <a:gd name="adj" fmla="val 3471"/>
            </a:avLst>
          </a:prstGeom>
          <a:solidFill>
            <a:schemeClr val="tx2"/>
          </a:solidFill>
          <a:ln/>
          <a:effectLst>
            <a:outerShdw sx="100000" sy="100000" kx="0" ky="0" algn="bl" rotWithShape="0" blurRad="127000" dist="38100" dir="5400000">
              <a:srgbClr val="0A2540">
                <a:alpha val="14000"/>
              </a:srgbClr>
            </a:outerShdw>
          </a:effectLst>
        </p:spPr>
      </p:sp>
      <p:sp>
        <p:nvSpPr>
          <p:cNvPr id="24" name="AllBlue circle"/>
          <p:cNvSpPr/>
          <p:nvPr/>
        </p:nvSpPr>
        <p:spPr>
          <a:xfrm>
            <a:off x="8321040" y="1783080"/>
            <a:ext cx="594360" cy="594360"/>
          </a:xfrm>
          <a:prstGeom prst="ellipse">
            <a:avLst/>
          </a:prstGeom>
          <a:solidFill>
            <a:schemeClr val="accent1"/>
          </a:solidFill>
          <a:ln/>
        </p:spPr>
      </p:sp>
      <p:pic>
        <p:nvPicPr>
          <p:cNvPr id="25" name="AllBlue icon" descr="AllBlue">    </p:cNvPr>
          <p:cNvPicPr>
            <a:picLocks noChangeAspect="1"/>
          </p:cNvPicPr>
          <p:nvPr/>
        </p:nvPicPr>
        <p:blipFill>
          <a:blip r:embed="rId3"/>
          <a:stretch>
            <a:fillRect/>
          </a:stretch>
        </p:blipFill>
        <p:spPr>
          <a:xfrm>
            <a:off x="8481517" y="1943557"/>
            <a:ext cx="273406" cy="273406"/>
          </a:xfrm>
          <a:prstGeom prst="rect">
            <a:avLst/>
          </a:prstGeom>
        </p:spPr>
      </p:pic>
      <p:sp>
        <p:nvSpPr>
          <p:cNvPr id="26" name="Text 20"/>
          <p:cNvSpPr txBox="1"/>
          <p:nvPr/>
        </p:nvSpPr>
        <p:spPr>
          <a:xfrm>
            <a:off x="8321040" y="2496312"/>
            <a:ext cx="2743200" cy="457200"/>
          </a:xfrm>
          <a:prstGeom prst="rect">
            <a:avLst/>
          </a:prstGeom>
          <a:noFill/>
          <a:ln/>
        </p:spPr>
        <p:txBody>
          <a:bodyPr wrap="square" lIns="0" tIns="0" rIns="0" bIns="0" rtlCol="0" anchor="t"/>
          <a:lstStyle/>
          <a:p>
            <a:pPr indent="0" marL="0">
              <a:buNone/>
            </a:pPr>
            <a:r>
              <a:rPr lang="en-US" sz="2400" b="1" dirty="0">
                <a:solidFill>
                  <a:schemeClr val="bg1"/>
                </a:solidFill>
              </a:rPr>
              <a:t>AllBlue</a:t>
            </a:r>
            <a:endParaRPr lang="en-US" sz="2400" dirty="0"/>
          </a:p>
        </p:txBody>
      </p:sp>
      <p:sp>
        <p:nvSpPr>
          <p:cNvPr id="27" name="Text 21"/>
          <p:cNvSpPr txBox="1"/>
          <p:nvPr/>
        </p:nvSpPr>
        <p:spPr>
          <a:xfrm>
            <a:off x="8321040" y="2953512"/>
            <a:ext cx="2956255" cy="292608"/>
          </a:xfrm>
          <a:prstGeom prst="rect">
            <a:avLst/>
          </a:prstGeom>
          <a:noFill/>
          <a:ln/>
        </p:spPr>
        <p:txBody>
          <a:bodyPr wrap="square" lIns="0" tIns="0" rIns="0" bIns="0" rtlCol="0" anchor="t"/>
          <a:lstStyle/>
          <a:p>
            <a:pPr indent="0" marL="0">
              <a:buNone/>
            </a:pPr>
            <a:r>
              <a:rPr lang="en-US" sz="1300" b="1" dirty="0">
                <a:solidFill>
                  <a:schemeClr val="accent1"/>
                </a:solidFill>
              </a:rPr>
              <a:t>강사가 매번 반복하는 수업 운영</a:t>
            </a:r>
            <a:endParaRPr lang="en-US" sz="1300" dirty="0"/>
          </a:p>
        </p:txBody>
      </p:sp>
      <p:sp>
        <p:nvSpPr>
          <p:cNvPr id="28" name="allblue point 0"/>
          <p:cNvSpPr/>
          <p:nvPr/>
        </p:nvSpPr>
        <p:spPr>
          <a:xfrm>
            <a:off x="8339328" y="3593592"/>
            <a:ext cx="128016" cy="128016"/>
          </a:xfrm>
          <a:prstGeom prst="ellipse">
            <a:avLst/>
          </a:prstGeom>
          <a:solidFill>
            <a:schemeClr val="accent3"/>
          </a:solidFill>
          <a:ln/>
        </p:spPr>
      </p:sp>
      <p:sp>
        <p:nvSpPr>
          <p:cNvPr id="29" name="Text 23"/>
          <p:cNvSpPr txBox="1"/>
          <p:nvPr/>
        </p:nvSpPr>
        <p:spPr>
          <a:xfrm>
            <a:off x="8641080" y="3447288"/>
            <a:ext cx="2681935" cy="566928"/>
          </a:xfrm>
          <a:prstGeom prst="rect">
            <a:avLst/>
          </a:prstGeom>
          <a:noFill/>
          <a:ln/>
        </p:spPr>
        <p:txBody>
          <a:bodyPr wrap="square" lIns="0" tIns="0" rIns="0" bIns="0" rtlCol="0" anchor="t"/>
          <a:lstStyle/>
          <a:p>
            <a:pPr indent="0" marL="0">
              <a:buNone/>
            </a:pPr>
            <a:r>
              <a:rPr lang="en-US" sz="1400" dirty="0">
                <a:solidFill>
                  <a:schemeClr val="bg1"/>
                </a:solidFill>
              </a:rPr>
              <a:t>일정·서류·진도·디브리핑을</a:t>
            </a:r>
            <a:endParaRPr lang="en-US" sz="1400" dirty="0"/>
          </a:p>
          <a:p>
            <a:pPr indent="0" marL="0">
              <a:buNone/>
            </a:pPr>
            <a:r>
              <a:rPr lang="en-US" sz="1400" dirty="0">
                <a:solidFill>
                  <a:schemeClr val="bg1"/>
                </a:solidFill>
              </a:rPr>
              <a:t>수업 단위로 연결</a:t>
            </a:r>
            <a:endParaRPr lang="en-US" sz="1400" dirty="0"/>
          </a:p>
        </p:txBody>
      </p:sp>
      <p:sp>
        <p:nvSpPr>
          <p:cNvPr id="30" name="allblue point 1"/>
          <p:cNvSpPr/>
          <p:nvPr/>
        </p:nvSpPr>
        <p:spPr>
          <a:xfrm>
            <a:off x="8339328" y="4251960"/>
            <a:ext cx="128016" cy="128016"/>
          </a:xfrm>
          <a:prstGeom prst="ellipse">
            <a:avLst/>
          </a:prstGeom>
          <a:solidFill>
            <a:schemeClr val="accent3"/>
          </a:solidFill>
          <a:ln/>
        </p:spPr>
      </p:sp>
      <p:sp>
        <p:nvSpPr>
          <p:cNvPr id="31" name="Text 25"/>
          <p:cNvSpPr txBox="1"/>
          <p:nvPr/>
        </p:nvSpPr>
        <p:spPr>
          <a:xfrm>
            <a:off x="8641080" y="4105656"/>
            <a:ext cx="2681935" cy="566928"/>
          </a:xfrm>
          <a:prstGeom prst="rect">
            <a:avLst/>
          </a:prstGeom>
          <a:noFill/>
          <a:ln/>
        </p:spPr>
        <p:txBody>
          <a:bodyPr wrap="square" lIns="0" tIns="0" rIns="0" bIns="0" rtlCol="0" anchor="t"/>
          <a:lstStyle/>
          <a:p>
            <a:pPr indent="0" marL="0">
              <a:buNone/>
            </a:pPr>
            <a:r>
              <a:rPr lang="en-US" sz="1400" dirty="0">
                <a:solidFill>
                  <a:schemeClr val="bg1"/>
                </a:solidFill>
              </a:rPr>
              <a:t>수업 직후 휴대전화로</a:t>
            </a:r>
            <a:endParaRPr lang="en-US" sz="1400" dirty="0"/>
          </a:p>
          <a:p>
            <a:pPr indent="0" marL="0">
              <a:buNone/>
            </a:pPr>
            <a:r>
              <a:rPr lang="en-US" sz="1400" dirty="0">
                <a:solidFill>
                  <a:schemeClr val="bg1"/>
                </a:solidFill>
              </a:rPr>
              <a:t>바로 기록</a:t>
            </a:r>
            <a:endParaRPr lang="en-US" sz="1400" dirty="0"/>
          </a:p>
        </p:txBody>
      </p:sp>
      <p:sp>
        <p:nvSpPr>
          <p:cNvPr id="32" name="allblue point 2"/>
          <p:cNvSpPr/>
          <p:nvPr/>
        </p:nvSpPr>
        <p:spPr>
          <a:xfrm>
            <a:off x="8339328" y="4910328"/>
            <a:ext cx="128016" cy="128016"/>
          </a:xfrm>
          <a:prstGeom prst="ellipse">
            <a:avLst/>
          </a:prstGeom>
          <a:solidFill>
            <a:schemeClr val="accent3"/>
          </a:solidFill>
          <a:ln/>
        </p:spPr>
      </p:sp>
      <p:sp>
        <p:nvSpPr>
          <p:cNvPr id="33" name="Text 27"/>
          <p:cNvSpPr txBox="1"/>
          <p:nvPr/>
        </p:nvSpPr>
        <p:spPr>
          <a:xfrm>
            <a:off x="8641080" y="4764024"/>
            <a:ext cx="2681935" cy="566928"/>
          </a:xfrm>
          <a:prstGeom prst="rect">
            <a:avLst/>
          </a:prstGeom>
          <a:noFill/>
          <a:ln/>
        </p:spPr>
        <p:txBody>
          <a:bodyPr wrap="square" lIns="0" tIns="0" rIns="0" bIns="0" rtlCol="0" anchor="t"/>
          <a:lstStyle/>
          <a:p>
            <a:pPr indent="0" marL="0">
              <a:buNone/>
            </a:pPr>
            <a:r>
              <a:rPr lang="en-US" sz="1400" dirty="0">
                <a:solidFill>
                  <a:schemeClr val="bg1"/>
                </a:solidFill>
              </a:rPr>
              <a:t>강사 1인도 부담 없는</a:t>
            </a:r>
            <a:endParaRPr lang="en-US" sz="1400" dirty="0"/>
          </a:p>
          <a:p>
            <a:pPr indent="0" marL="0">
              <a:buNone/>
            </a:pPr>
            <a:r>
              <a:rPr lang="en-US" sz="1400" dirty="0">
                <a:solidFill>
                  <a:schemeClr val="bg1"/>
                </a:solidFill>
              </a:rPr>
              <a:t>월 3,900원 구독</a:t>
            </a:r>
            <a:endParaRPr lang="en-US" sz="1400" dirty="0"/>
          </a:p>
        </p:txBody>
      </p:sp>
      <p:sp>
        <p:nvSpPr>
          <p:cNvPr id="34" name="Text 28"/>
          <p:cNvSpPr txBox="1"/>
          <p:nvPr/>
        </p:nvSpPr>
        <p:spPr>
          <a:xfrm>
            <a:off x="548640" y="5596128"/>
            <a:ext cx="11094415" cy="292608"/>
          </a:xfrm>
          <a:prstGeom prst="rect">
            <a:avLst/>
          </a:prstGeom>
          <a:noFill/>
          <a:ln/>
        </p:spPr>
        <p:txBody>
          <a:bodyPr wrap="square" lIns="0" tIns="0" rIns="0" bIns="0" rtlCol="0" anchor="t"/>
          <a:lstStyle/>
          <a:p>
            <a:pPr indent="0" marL="0">
              <a:buNone/>
            </a:pPr>
            <a:r>
              <a:rPr lang="en-US" sz="1300" dirty="0">
                <a:solidFill>
                  <a:schemeClr val="tx1"/>
                </a:solidFill>
              </a:rPr>
              <a:t>출시 후 같은 수업을 기존 도구와 AllBlue로 준비해, 정보를 찾는 시간과 기록 작성의 편의성을 비교할 계획입니다.</a:t>
            </a:r>
            <a:endParaRPr lang="en-US" sz="1300" dirty="0"/>
          </a:p>
        </p:txBody>
      </p:sp>
      <p:sp>
        <p:nvSpPr>
          <p:cNvPr id="35" name="Text 29"/>
          <p:cNvSpPr txBox="1"/>
          <p:nvPr/>
        </p:nvSpPr>
        <p:spPr>
          <a:xfrm>
            <a:off x="548640" y="5943600"/>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¹ SSI, MySSI App. divessi.com (2026.10.7. 확인)</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7315200" cy="292608"/>
          </a:xfrm>
          <a:prstGeom prst="rect">
            <a:avLst/>
          </a:prstGeom>
          <a:noFill/>
          <a:ln/>
        </p:spPr>
        <p:txBody>
          <a:bodyPr wrap="square" lIns="0" tIns="0" rIns="0" bIns="0" rtlCol="0"/>
          <a:lstStyle/>
          <a:p>
            <a:pPr indent="0" marL="0">
              <a:buNone/>
            </a:pPr>
            <a:r>
              <a:rPr lang="en-US" sz="1300" b="1" spc="100" kern="0" dirty="0">
                <a:solidFill>
                  <a:schemeClr val="accent1"/>
                </a:solidFill>
              </a:rPr>
              <a:t>06  사업 모델</a:t>
            </a:r>
            <a:endParaRPr lang="en-US" sz="1300" dirty="0"/>
          </a:p>
        </p:txBody>
      </p:sp>
      <p:sp>
        <p:nvSpPr>
          <p:cNvPr id="3" name="Text 1"/>
          <p:cNvSpPr/>
          <p:nvPr>
            <p:ph idx="102"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200" b="1" dirty="0">
                <a:solidFill>
                  <a:schemeClr val="bg1"/>
                </a:solidFill>
              </a:rPr>
              <a:t>강사 구독 모델</a:t>
            </a:r>
            <a:endParaRPr lang="en-US" sz="3200" dirty="0"/>
          </a:p>
        </p:txBody>
      </p:sp>
      <p:sp>
        <p:nvSpPr>
          <p:cNvPr id="5" name="Text 2"/>
          <p:cNvSpPr txBox="1"/>
          <p:nvPr/>
        </p:nvSpPr>
        <p:spPr>
          <a:xfrm>
            <a:off x="548640" y="1737360"/>
            <a:ext cx="4572000" cy="320040"/>
          </a:xfrm>
          <a:prstGeom prst="rect">
            <a:avLst/>
          </a:prstGeom>
          <a:noFill/>
          <a:ln/>
        </p:spPr>
        <p:txBody>
          <a:bodyPr wrap="square" lIns="0" tIns="0" rIns="0" bIns="0" rtlCol="0" anchor="t"/>
          <a:lstStyle/>
          <a:p>
            <a:pPr indent="0" marL="0">
              <a:buNone/>
            </a:pPr>
            <a:r>
              <a:rPr lang="en-US" sz="1500" b="1" dirty="0">
                <a:solidFill>
                  <a:schemeClr val="accent1"/>
                </a:solidFill>
              </a:rPr>
              <a:t>강사 1인 기준</a:t>
            </a:r>
            <a:endParaRPr lang="en-US" sz="1500" dirty="0"/>
          </a:p>
        </p:txBody>
      </p:sp>
      <p:sp>
        <p:nvSpPr>
          <p:cNvPr id="6" name="Text 3"/>
          <p:cNvSpPr txBox="1"/>
          <p:nvPr/>
        </p:nvSpPr>
        <p:spPr>
          <a:xfrm>
            <a:off x="548640" y="2057400"/>
            <a:ext cx="5486400" cy="1371600"/>
          </a:xfrm>
          <a:prstGeom prst="rect">
            <a:avLst/>
          </a:prstGeom>
          <a:noFill/>
          <a:ln/>
        </p:spPr>
        <p:txBody>
          <a:bodyPr wrap="square" lIns="0" tIns="0" rIns="0" bIns="0" rtlCol="0" anchor="ctr"/>
          <a:lstStyle/>
          <a:p>
            <a:pPr indent="0" marL="0">
              <a:buNone/>
            </a:pPr>
            <a:r>
              <a:rPr lang="en-US" sz="3000" b="1" dirty="0">
                <a:solidFill>
                  <a:schemeClr val="accent5"/>
                </a:solidFill>
              </a:rPr>
              <a:t>월 </a:t>
            </a:r>
            <a:pPr indent="0" marL="0">
              <a:buNone/>
            </a:pPr>
            <a:r>
              <a:rPr lang="en-US" sz="8800" b="1" dirty="0">
                <a:solidFill>
                  <a:schemeClr val="bg1"/>
                </a:solidFill>
              </a:rPr>
              <a:t>3,900</a:t>
            </a:r>
            <a:pPr indent="0" marL="0">
              <a:buNone/>
            </a:pPr>
            <a:r>
              <a:rPr lang="en-US" sz="3000" b="1" dirty="0">
                <a:solidFill>
                  <a:schemeClr val="accent5"/>
                </a:solidFill>
              </a:rPr>
              <a:t>원</a:t>
            </a:r>
            <a:endParaRPr lang="en-US" sz="3000" dirty="0"/>
          </a:p>
        </p:txBody>
      </p:sp>
      <p:sp>
        <p:nvSpPr>
          <p:cNvPr id="7" name="최초 3개월 무료 circle"/>
          <p:cNvSpPr/>
          <p:nvPr/>
        </p:nvSpPr>
        <p:spPr>
          <a:xfrm>
            <a:off x="548640" y="3657600"/>
            <a:ext cx="566928" cy="566928"/>
          </a:xfrm>
          <a:prstGeom prst="ellipse">
            <a:avLst/>
          </a:prstGeom>
          <a:solidFill>
            <a:schemeClr val="accent3"/>
          </a:solidFill>
          <a:ln/>
        </p:spPr>
      </p:sp>
      <p:pic>
        <p:nvPicPr>
          <p:cNvPr id="8" name="최초 3개월 무료 icon" descr="최초 3개월 무료">    </p:cNvPr>
          <p:cNvPicPr>
            <a:picLocks noChangeAspect="1"/>
          </p:cNvPicPr>
          <p:nvPr/>
        </p:nvPicPr>
        <p:blipFill>
          <a:blip r:embed="rId1"/>
          <a:stretch>
            <a:fillRect/>
          </a:stretch>
        </p:blipFill>
        <p:spPr>
          <a:xfrm>
            <a:off x="701711" y="3810671"/>
            <a:ext cx="260787" cy="260787"/>
          </a:xfrm>
          <a:prstGeom prst="rect">
            <a:avLst/>
          </a:prstGeom>
        </p:spPr>
      </p:pic>
      <p:sp>
        <p:nvSpPr>
          <p:cNvPr id="9" name="Text 5"/>
          <p:cNvSpPr txBox="1"/>
          <p:nvPr/>
        </p:nvSpPr>
        <p:spPr>
          <a:xfrm>
            <a:off x="1325880" y="3657600"/>
            <a:ext cx="4206240" cy="310896"/>
          </a:xfrm>
          <a:prstGeom prst="rect">
            <a:avLst/>
          </a:prstGeom>
          <a:noFill/>
          <a:ln/>
        </p:spPr>
        <p:txBody>
          <a:bodyPr wrap="square" lIns="0" tIns="0" rIns="0" bIns="0" rtlCol="0" anchor="t"/>
          <a:lstStyle/>
          <a:p>
            <a:pPr indent="0" marL="0">
              <a:buNone/>
            </a:pPr>
            <a:r>
              <a:rPr lang="en-US" sz="1700" b="1" dirty="0">
                <a:solidFill>
                  <a:schemeClr val="bg1"/>
                </a:solidFill>
              </a:rPr>
              <a:t>최초 3개월 무료</a:t>
            </a:r>
            <a:endParaRPr lang="en-US" sz="1700" dirty="0"/>
          </a:p>
        </p:txBody>
      </p:sp>
      <p:sp>
        <p:nvSpPr>
          <p:cNvPr id="10" name="Text 6"/>
          <p:cNvSpPr txBox="1"/>
          <p:nvPr/>
        </p:nvSpPr>
        <p:spPr>
          <a:xfrm>
            <a:off x="1325880" y="3968496"/>
            <a:ext cx="4206240" cy="274320"/>
          </a:xfrm>
          <a:prstGeom prst="rect">
            <a:avLst/>
          </a:prstGeom>
          <a:noFill/>
          <a:ln/>
        </p:spPr>
        <p:txBody>
          <a:bodyPr wrap="square" lIns="0" tIns="0" rIns="0" bIns="0" rtlCol="0" anchor="t"/>
          <a:lstStyle/>
          <a:p>
            <a:pPr indent="0" marL="0">
              <a:buNone/>
            </a:pPr>
            <a:r>
              <a:rPr lang="en-US" sz="1200" dirty="0">
                <a:solidFill>
                  <a:schemeClr val="accent5"/>
                </a:solidFill>
              </a:rPr>
              <a:t>실제 수업에 적용해 볼 시간</a:t>
            </a:r>
            <a:endParaRPr lang="en-US" sz="1200" dirty="0"/>
          </a:p>
        </p:txBody>
      </p:sp>
      <p:sp>
        <p:nvSpPr>
          <p:cNvPr id="11" name="교육생은 무료 circle"/>
          <p:cNvSpPr/>
          <p:nvPr/>
        </p:nvSpPr>
        <p:spPr>
          <a:xfrm>
            <a:off x="548640" y="4462272"/>
            <a:ext cx="566928" cy="566928"/>
          </a:xfrm>
          <a:prstGeom prst="ellipse">
            <a:avLst/>
          </a:prstGeom>
          <a:solidFill>
            <a:schemeClr val="accent1"/>
          </a:solidFill>
          <a:ln/>
        </p:spPr>
      </p:sp>
      <p:pic>
        <p:nvPicPr>
          <p:cNvPr id="12" name="교육생은 무료 icon" descr="교육생은 무료">    </p:cNvPr>
          <p:cNvPicPr>
            <a:picLocks noChangeAspect="1"/>
          </p:cNvPicPr>
          <p:nvPr/>
        </p:nvPicPr>
        <p:blipFill>
          <a:blip r:embed="rId2"/>
          <a:stretch>
            <a:fillRect/>
          </a:stretch>
        </p:blipFill>
        <p:spPr>
          <a:xfrm>
            <a:off x="701711" y="4615343"/>
            <a:ext cx="260787" cy="260787"/>
          </a:xfrm>
          <a:prstGeom prst="rect">
            <a:avLst/>
          </a:prstGeom>
        </p:spPr>
      </p:pic>
      <p:sp>
        <p:nvSpPr>
          <p:cNvPr id="13" name="Text 8"/>
          <p:cNvSpPr txBox="1"/>
          <p:nvPr/>
        </p:nvSpPr>
        <p:spPr>
          <a:xfrm>
            <a:off x="1325880" y="4462272"/>
            <a:ext cx="4206240" cy="310896"/>
          </a:xfrm>
          <a:prstGeom prst="rect">
            <a:avLst/>
          </a:prstGeom>
          <a:noFill/>
          <a:ln/>
        </p:spPr>
        <p:txBody>
          <a:bodyPr wrap="square" lIns="0" tIns="0" rIns="0" bIns="0" rtlCol="0" anchor="t"/>
          <a:lstStyle/>
          <a:p>
            <a:pPr indent="0" marL="0">
              <a:buNone/>
            </a:pPr>
            <a:r>
              <a:rPr lang="en-US" sz="1700" b="1" dirty="0">
                <a:solidFill>
                  <a:schemeClr val="bg1"/>
                </a:solidFill>
              </a:rPr>
              <a:t>교육생은 무료</a:t>
            </a:r>
            <a:endParaRPr lang="en-US" sz="1700" dirty="0"/>
          </a:p>
        </p:txBody>
      </p:sp>
      <p:sp>
        <p:nvSpPr>
          <p:cNvPr id="14" name="Text 9"/>
          <p:cNvSpPr txBox="1"/>
          <p:nvPr/>
        </p:nvSpPr>
        <p:spPr>
          <a:xfrm>
            <a:off x="1325880" y="4773168"/>
            <a:ext cx="4206240" cy="274320"/>
          </a:xfrm>
          <a:prstGeom prst="rect">
            <a:avLst/>
          </a:prstGeom>
          <a:noFill/>
          <a:ln/>
        </p:spPr>
        <p:txBody>
          <a:bodyPr wrap="square" lIns="0" tIns="0" rIns="0" bIns="0" rtlCol="0" anchor="t"/>
          <a:lstStyle/>
          <a:p>
            <a:pPr indent="0" marL="0">
              <a:buNone/>
            </a:pPr>
            <a:r>
              <a:rPr lang="en-US" sz="1200" dirty="0">
                <a:solidFill>
                  <a:schemeClr val="accent5"/>
                </a:solidFill>
              </a:rPr>
              <a:t>강사가 초대한 교육생은 함께 사용</a:t>
            </a:r>
            <a:endParaRPr lang="en-US" sz="1200" dirty="0"/>
          </a:p>
        </p:txBody>
      </p:sp>
      <p:sp>
        <p:nvSpPr>
          <p:cNvPr id="15" name="협업 채널 홍보 circle"/>
          <p:cNvSpPr/>
          <p:nvPr/>
        </p:nvSpPr>
        <p:spPr>
          <a:xfrm>
            <a:off x="548640" y="5266944"/>
            <a:ext cx="566928" cy="566928"/>
          </a:xfrm>
          <a:prstGeom prst="ellipse">
            <a:avLst/>
          </a:prstGeom>
          <a:solidFill>
            <a:schemeClr val="accent1"/>
          </a:solidFill>
          <a:ln/>
        </p:spPr>
      </p:sp>
      <p:pic>
        <p:nvPicPr>
          <p:cNvPr id="16" name="협업 채널 홍보 icon" descr="협업 채널 홍보">    </p:cNvPr>
          <p:cNvPicPr>
            <a:picLocks noChangeAspect="1"/>
          </p:cNvPicPr>
          <p:nvPr/>
        </p:nvPicPr>
        <p:blipFill>
          <a:blip r:embed="rId3"/>
          <a:stretch>
            <a:fillRect/>
          </a:stretch>
        </p:blipFill>
        <p:spPr>
          <a:xfrm>
            <a:off x="701711" y="5420015"/>
            <a:ext cx="260787" cy="260787"/>
          </a:xfrm>
          <a:prstGeom prst="rect">
            <a:avLst/>
          </a:prstGeom>
        </p:spPr>
      </p:pic>
      <p:sp>
        <p:nvSpPr>
          <p:cNvPr id="17" name="Text 11"/>
          <p:cNvSpPr txBox="1"/>
          <p:nvPr/>
        </p:nvSpPr>
        <p:spPr>
          <a:xfrm>
            <a:off x="1325880" y="5266944"/>
            <a:ext cx="4206240" cy="310896"/>
          </a:xfrm>
          <a:prstGeom prst="rect">
            <a:avLst/>
          </a:prstGeom>
          <a:noFill/>
          <a:ln/>
        </p:spPr>
        <p:txBody>
          <a:bodyPr wrap="square" lIns="0" tIns="0" rIns="0" bIns="0" rtlCol="0" anchor="t"/>
          <a:lstStyle/>
          <a:p>
            <a:pPr indent="0" marL="0">
              <a:buNone/>
            </a:pPr>
            <a:r>
              <a:rPr lang="en-US" sz="1700" b="1" dirty="0">
                <a:solidFill>
                  <a:schemeClr val="bg1"/>
                </a:solidFill>
              </a:rPr>
              <a:t>협업 채널 홍보</a:t>
            </a:r>
            <a:endParaRPr lang="en-US" sz="1700" dirty="0"/>
          </a:p>
        </p:txBody>
      </p:sp>
      <p:sp>
        <p:nvSpPr>
          <p:cNvPr id="18" name="Text 12"/>
          <p:cNvSpPr txBox="1"/>
          <p:nvPr/>
        </p:nvSpPr>
        <p:spPr>
          <a:xfrm>
            <a:off x="1325880" y="5577840"/>
            <a:ext cx="4206240" cy="274320"/>
          </a:xfrm>
          <a:prstGeom prst="rect">
            <a:avLst/>
          </a:prstGeom>
          <a:noFill/>
          <a:ln/>
        </p:spPr>
        <p:txBody>
          <a:bodyPr wrap="square" lIns="0" tIns="0" rIns="0" bIns="0" rtlCol="0" anchor="t"/>
          <a:lstStyle/>
          <a:p>
            <a:pPr indent="0" marL="0">
              <a:buNone/>
            </a:pPr>
            <a:r>
              <a:rPr lang="en-US" sz="1200" dirty="0">
                <a:solidFill>
                  <a:schemeClr val="accent5"/>
                </a:solidFill>
              </a:rPr>
              <a:t>유튜브 ‘먹보야 놀자’와 협업</a:t>
            </a:r>
            <a:endParaRPr lang="en-US" sz="1200" dirty="0"/>
          </a:p>
        </p:txBody>
      </p:sp>
      <p:sp>
        <p:nvSpPr>
          <p:cNvPr id="19" name="chart panel"/>
          <p:cNvSpPr/>
          <p:nvPr/>
        </p:nvSpPr>
        <p:spPr>
          <a:xfrm>
            <a:off x="6126480" y="1691640"/>
            <a:ext cx="5513832" cy="4434840"/>
          </a:xfrm>
          <a:prstGeom prst="roundRect">
            <a:avLst>
              <a:gd name="adj" fmla="val 2887"/>
            </a:avLst>
          </a:prstGeom>
          <a:solidFill>
            <a:schemeClr val="bg1">
              <a:alpha val="8000"/>
            </a:schemeClr>
          </a:solidFill>
          <a:ln w="9525">
            <a:solidFill>
              <a:schemeClr val="accent5">
                <a:alpha val="40000"/>
              </a:schemeClr>
            </a:solidFill>
            <a:prstDash val="solid"/>
          </a:ln>
        </p:spPr>
      </p:sp>
      <p:sp>
        <p:nvSpPr>
          <p:cNvPr id="20" name="Text 14"/>
          <p:cNvSpPr txBox="1"/>
          <p:nvPr/>
        </p:nvSpPr>
        <p:spPr>
          <a:xfrm>
            <a:off x="6400800" y="1874520"/>
            <a:ext cx="5029200" cy="320040"/>
          </a:xfrm>
          <a:prstGeom prst="rect">
            <a:avLst/>
          </a:prstGeom>
          <a:noFill/>
          <a:ln/>
        </p:spPr>
        <p:txBody>
          <a:bodyPr wrap="square" lIns="0" tIns="0" rIns="0" bIns="0" rtlCol="0" anchor="t"/>
          <a:lstStyle/>
          <a:p>
            <a:pPr indent="0" marL="0">
              <a:buNone/>
            </a:pPr>
            <a:r>
              <a:rPr lang="en-US" sz="1500" b="1" dirty="0">
                <a:solidFill>
                  <a:schemeClr val="bg1"/>
                </a:solidFill>
              </a:rPr>
              <a:t>가격 계산 예시 · 유료 강사 수별 12개월 결제액</a:t>
            </a:r>
            <a:endParaRPr lang="en-US" sz="1500" dirty="0"/>
          </a:p>
        </p:txBody>
      </p:sp>
      <p:graphicFrame>
        <p:nvGraphicFramePr>
          <p:cNvPr id="21" name="pricing example chart" descr="유료 강사 100명 351만원, 300명 1,053만원, 1,000명 3,510만원"/>
          <p:cNvGraphicFramePr/>
          <p:nvPr/>
        </p:nvGraphicFramePr>
        <p:xfrm>
          <a:off x="6400800" y="2286000"/>
          <a:ext cx="4983480" cy="3063240"/>
        </p:xfrm>
        <a:graphic xmlns:a="http://schemas.openxmlformats.org/drawingml/2006/main">
          <a:graphicData uri="http://schemas.openxmlformats.org/drawingml/2006/chart">
            <c:chart xmlns:c="http://schemas.openxmlformats.org/drawingml/2006/chart" r:id="rId4"/>
          </a:graphicData>
        </a:graphic>
      </p:graphicFrame>
      <p:sp>
        <p:nvSpPr>
          <p:cNvPr id="22" name="Text 15"/>
          <p:cNvSpPr txBox="1"/>
          <p:nvPr/>
        </p:nvSpPr>
        <p:spPr>
          <a:xfrm>
            <a:off x="6400800" y="5440680"/>
            <a:ext cx="5029200" cy="548640"/>
          </a:xfrm>
          <a:prstGeom prst="rect">
            <a:avLst/>
          </a:prstGeom>
          <a:noFill/>
          <a:ln/>
        </p:spPr>
        <p:txBody>
          <a:bodyPr wrap="square" lIns="0" tIns="0" rIns="0" bIns="0" rtlCol="0" anchor="t"/>
          <a:lstStyle/>
          <a:p>
            <a:pPr indent="0" marL="0">
              <a:buNone/>
            </a:pPr>
            <a:r>
              <a:rPr lang="en-US" sz="1000" dirty="0">
                <a:solidFill>
                  <a:schemeClr val="accent5"/>
                </a:solidFill>
              </a:rPr>
              <a:t>목표가 아닌 계산 예시 · 3개월 무료 후 9개월 유지 가정</a:t>
            </a:r>
            <a:endParaRPr lang="en-US" sz="1000" dirty="0"/>
          </a:p>
          <a:p>
            <a:pPr indent="0" marL="0">
              <a:buNone/>
            </a:pPr>
            <a:r>
              <a:rPr lang="en-US" sz="1000" dirty="0">
                <a:solidFill>
                  <a:schemeClr val="accent5"/>
                </a:solidFill>
              </a:rPr>
              <a:t>세금·수수료·운영비 차감 전, 광고 수입 제외</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7315200" cy="292608"/>
          </a:xfrm>
          <a:prstGeom prst="rect">
            <a:avLst/>
          </a:prstGeom>
          <a:noFill/>
          <a:ln/>
        </p:spPr>
        <p:txBody>
          <a:bodyPr wrap="square" lIns="0" tIns="0" rIns="0" bIns="0" rtlCol="0"/>
          <a:lstStyle/>
          <a:p>
            <a:pPr indent="0" marL="0">
              <a:buNone/>
            </a:pPr>
            <a:r>
              <a:rPr lang="en-US" sz="1300" b="1" spc="100" kern="0" dirty="0">
                <a:solidFill>
                  <a:schemeClr val="accent2"/>
                </a:solidFill>
              </a:rPr>
              <a:t>07  추진 계획</a:t>
            </a:r>
            <a:endParaRPr lang="en-US" sz="1300" dirty="0"/>
          </a:p>
        </p:txBody>
      </p:sp>
      <p:sp>
        <p:nvSpPr>
          <p:cNvPr id="3" name="Text 1"/>
          <p:cNvSpPr/>
          <p:nvPr>
            <p:ph idx="102"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출시 후 현장 검증, 그리고 확장</a:t>
            </a:r>
            <a:endParaRPr lang="en-US" sz="3200" dirty="0"/>
          </a:p>
        </p:txBody>
      </p:sp>
      <p:sp>
        <p:nvSpPr>
          <p:cNvPr id="5" name="roadmap line"/>
          <p:cNvSpPr/>
          <p:nvPr/>
        </p:nvSpPr>
        <p:spPr>
          <a:xfrm>
            <a:off x="822960" y="1938528"/>
            <a:ext cx="8320811" cy="0"/>
          </a:xfrm>
          <a:prstGeom prst="line">
            <a:avLst/>
          </a:prstGeom>
          <a:noFill/>
          <a:ln w="25400">
            <a:solidFill>
              <a:schemeClr val="accent5"/>
            </a:solidFill>
            <a:prstDash val="solid"/>
          </a:ln>
        </p:spPr>
      </p:sp>
      <p:sp>
        <p:nvSpPr>
          <p:cNvPr id="6" name="roadmap node 0"/>
          <p:cNvSpPr/>
          <p:nvPr/>
        </p:nvSpPr>
        <p:spPr>
          <a:xfrm>
            <a:off x="658368" y="1773936"/>
            <a:ext cx="329184" cy="329184"/>
          </a:xfrm>
          <a:prstGeom prst="ellipse">
            <a:avLst/>
          </a:prstGeom>
          <a:solidFill>
            <a:schemeClr val="accent3"/>
          </a:solidFill>
          <a:ln w="38100">
            <a:solidFill>
              <a:schemeClr val="bg1"/>
            </a:solidFill>
            <a:prstDash val="solid"/>
          </a:ln>
        </p:spPr>
      </p:sp>
      <p:sp>
        <p:nvSpPr>
          <p:cNvPr id="7" name="Text 4"/>
          <p:cNvSpPr txBox="1"/>
          <p:nvPr/>
        </p:nvSpPr>
        <p:spPr>
          <a:xfrm>
            <a:off x="548640" y="2267712"/>
            <a:ext cx="2499284" cy="274320"/>
          </a:xfrm>
          <a:prstGeom prst="rect">
            <a:avLst/>
          </a:prstGeom>
          <a:noFill/>
          <a:ln/>
        </p:spPr>
        <p:txBody>
          <a:bodyPr wrap="square" lIns="0" tIns="0" rIns="0" bIns="0" rtlCol="0" anchor="t"/>
          <a:lstStyle/>
          <a:p>
            <a:pPr indent="0" marL="0">
              <a:buNone/>
            </a:pPr>
            <a:r>
              <a:rPr lang="en-US" sz="1200" b="1" dirty="0">
                <a:solidFill>
                  <a:schemeClr val="accent3"/>
                </a:solidFill>
              </a:rPr>
              <a:t>2026.10</a:t>
            </a:r>
            <a:endParaRPr lang="en-US" sz="1200" dirty="0"/>
          </a:p>
        </p:txBody>
      </p:sp>
      <p:sp>
        <p:nvSpPr>
          <p:cNvPr id="8" name="Text 5"/>
          <p:cNvSpPr txBox="1"/>
          <p:nvPr/>
        </p:nvSpPr>
        <p:spPr>
          <a:xfrm>
            <a:off x="548640" y="2560320"/>
            <a:ext cx="2499284" cy="384048"/>
          </a:xfrm>
          <a:prstGeom prst="rect">
            <a:avLst/>
          </a:prstGeom>
          <a:noFill/>
          <a:ln/>
        </p:spPr>
        <p:txBody>
          <a:bodyPr wrap="square" lIns="0" tIns="0" rIns="0" bIns="0" rtlCol="0" anchor="t"/>
          <a:lstStyle/>
          <a:p>
            <a:pPr indent="0" marL="0">
              <a:buNone/>
            </a:pPr>
            <a:r>
              <a:rPr lang="en-US" sz="1900" b="1" dirty="0">
                <a:solidFill>
                  <a:schemeClr val="tx1"/>
                </a:solidFill>
              </a:rPr>
              <a:t>정식 출시</a:t>
            </a:r>
            <a:endParaRPr lang="en-US" sz="1900" dirty="0"/>
          </a:p>
        </p:txBody>
      </p:sp>
      <p:sp>
        <p:nvSpPr>
          <p:cNvPr id="9" name="Text 6"/>
          <p:cNvSpPr txBox="1"/>
          <p:nvPr/>
        </p:nvSpPr>
        <p:spPr>
          <a:xfrm>
            <a:off x="548640" y="2971800"/>
            <a:ext cx="2453564" cy="548640"/>
          </a:xfrm>
          <a:prstGeom prst="rect">
            <a:avLst/>
          </a:prstGeom>
          <a:noFill/>
          <a:ln/>
        </p:spPr>
        <p:txBody>
          <a:bodyPr wrap="square" lIns="0" tIns="0" rIns="0" bIns="0" rtlCol="0" anchor="t"/>
          <a:lstStyle/>
          <a:p>
            <a:pPr indent="0" marL="0">
              <a:buNone/>
            </a:pPr>
            <a:r>
              <a:rPr lang="en-US" sz="1300" dirty="0">
                <a:solidFill>
                  <a:schemeClr val="accent4"/>
                </a:solidFill>
              </a:rPr>
              <a:t>앱 마켓 공개, 운영 환경 점검</a:t>
            </a:r>
            <a:endParaRPr lang="en-US" sz="1300" dirty="0"/>
          </a:p>
        </p:txBody>
      </p:sp>
      <p:sp>
        <p:nvSpPr>
          <p:cNvPr id="10" name="roadmap node 1"/>
          <p:cNvSpPr/>
          <p:nvPr/>
        </p:nvSpPr>
        <p:spPr>
          <a:xfrm>
            <a:off x="3431972" y="1773936"/>
            <a:ext cx="329184" cy="329184"/>
          </a:xfrm>
          <a:prstGeom prst="ellipse">
            <a:avLst/>
          </a:prstGeom>
          <a:solidFill>
            <a:schemeClr val="accent2"/>
          </a:solidFill>
          <a:ln w="38100">
            <a:solidFill>
              <a:schemeClr val="bg1"/>
            </a:solidFill>
            <a:prstDash val="solid"/>
          </a:ln>
        </p:spPr>
      </p:sp>
      <p:sp>
        <p:nvSpPr>
          <p:cNvPr id="11" name="Text 8"/>
          <p:cNvSpPr txBox="1"/>
          <p:nvPr/>
        </p:nvSpPr>
        <p:spPr>
          <a:xfrm>
            <a:off x="3322244" y="2267712"/>
            <a:ext cx="2499284" cy="274320"/>
          </a:xfrm>
          <a:prstGeom prst="rect">
            <a:avLst/>
          </a:prstGeom>
          <a:noFill/>
          <a:ln/>
        </p:spPr>
        <p:txBody>
          <a:bodyPr wrap="square" lIns="0" tIns="0" rIns="0" bIns="0" rtlCol="0" anchor="t"/>
          <a:lstStyle/>
          <a:p>
            <a:pPr indent="0" marL="0">
              <a:buNone/>
            </a:pPr>
            <a:r>
              <a:rPr lang="en-US" sz="1200" b="1" dirty="0">
                <a:solidFill>
                  <a:schemeClr val="accent2"/>
                </a:solidFill>
              </a:rPr>
              <a:t>출시 초기</a:t>
            </a:r>
            <a:endParaRPr lang="en-US" sz="1200" dirty="0"/>
          </a:p>
        </p:txBody>
      </p:sp>
      <p:sp>
        <p:nvSpPr>
          <p:cNvPr id="12" name="Text 9"/>
          <p:cNvSpPr txBox="1"/>
          <p:nvPr/>
        </p:nvSpPr>
        <p:spPr>
          <a:xfrm>
            <a:off x="3322244" y="2560320"/>
            <a:ext cx="2499284" cy="384048"/>
          </a:xfrm>
          <a:prstGeom prst="rect">
            <a:avLst/>
          </a:prstGeom>
          <a:noFill/>
          <a:ln/>
        </p:spPr>
        <p:txBody>
          <a:bodyPr wrap="square" lIns="0" tIns="0" rIns="0" bIns="0" rtlCol="0" anchor="t"/>
          <a:lstStyle/>
          <a:p>
            <a:pPr indent="0" marL="0">
              <a:buNone/>
            </a:pPr>
            <a:r>
              <a:rPr lang="en-US" sz="1900" b="1" dirty="0">
                <a:solidFill>
                  <a:schemeClr val="tx1"/>
                </a:solidFill>
              </a:rPr>
              <a:t>협업 채널 홍보</a:t>
            </a:r>
            <a:endParaRPr lang="en-US" sz="1900" dirty="0"/>
          </a:p>
        </p:txBody>
      </p:sp>
      <p:sp>
        <p:nvSpPr>
          <p:cNvPr id="13" name="Text 10"/>
          <p:cNvSpPr txBox="1"/>
          <p:nvPr/>
        </p:nvSpPr>
        <p:spPr>
          <a:xfrm>
            <a:off x="3322244" y="2971800"/>
            <a:ext cx="2453564" cy="548640"/>
          </a:xfrm>
          <a:prstGeom prst="rect">
            <a:avLst/>
          </a:prstGeom>
          <a:noFill/>
          <a:ln/>
        </p:spPr>
        <p:txBody>
          <a:bodyPr wrap="square" lIns="0" tIns="0" rIns="0" bIns="0" rtlCol="0" anchor="t"/>
          <a:lstStyle/>
          <a:p>
            <a:pPr indent="0" marL="0">
              <a:buNone/>
            </a:pPr>
            <a:r>
              <a:rPr lang="en-US" sz="1300" dirty="0">
                <a:solidFill>
                  <a:schemeClr val="accent4"/>
                </a:solidFill>
              </a:rPr>
              <a:t>가입부터 첫 수업까지</a:t>
            </a:r>
            <a:endParaRPr lang="en-US" sz="1300" dirty="0"/>
          </a:p>
          <a:p>
            <a:pPr indent="0" marL="0">
              <a:buNone/>
            </a:pPr>
            <a:r>
              <a:rPr lang="en-US" sz="1300" dirty="0">
                <a:solidFill>
                  <a:schemeClr val="accent4"/>
                </a:solidFill>
              </a:rPr>
              <a:t>흐름 확인</a:t>
            </a:r>
            <a:endParaRPr lang="en-US" sz="1300" dirty="0"/>
          </a:p>
        </p:txBody>
      </p:sp>
      <p:sp>
        <p:nvSpPr>
          <p:cNvPr id="14" name="roadmap node 2"/>
          <p:cNvSpPr/>
          <p:nvPr/>
        </p:nvSpPr>
        <p:spPr>
          <a:xfrm>
            <a:off x="6205576" y="1773936"/>
            <a:ext cx="329184" cy="329184"/>
          </a:xfrm>
          <a:prstGeom prst="ellipse">
            <a:avLst/>
          </a:prstGeom>
          <a:solidFill>
            <a:schemeClr val="accent2"/>
          </a:solidFill>
          <a:ln w="38100">
            <a:solidFill>
              <a:schemeClr val="bg1"/>
            </a:solidFill>
            <a:prstDash val="solid"/>
          </a:ln>
        </p:spPr>
      </p:sp>
      <p:sp>
        <p:nvSpPr>
          <p:cNvPr id="15" name="Text 12"/>
          <p:cNvSpPr txBox="1"/>
          <p:nvPr/>
        </p:nvSpPr>
        <p:spPr>
          <a:xfrm>
            <a:off x="6095848" y="2267712"/>
            <a:ext cx="2499284" cy="274320"/>
          </a:xfrm>
          <a:prstGeom prst="rect">
            <a:avLst/>
          </a:prstGeom>
          <a:noFill/>
          <a:ln/>
        </p:spPr>
        <p:txBody>
          <a:bodyPr wrap="square" lIns="0" tIns="0" rIns="0" bIns="0" rtlCol="0" anchor="t"/>
          <a:lstStyle/>
          <a:p>
            <a:pPr indent="0" marL="0">
              <a:buNone/>
            </a:pPr>
            <a:r>
              <a:rPr lang="en-US" sz="1200" b="1" dirty="0">
                <a:solidFill>
                  <a:schemeClr val="accent2"/>
                </a:solidFill>
              </a:rPr>
              <a:t>무료 3개월</a:t>
            </a:r>
            <a:endParaRPr lang="en-US" sz="1200" dirty="0"/>
          </a:p>
        </p:txBody>
      </p:sp>
      <p:sp>
        <p:nvSpPr>
          <p:cNvPr id="16" name="Text 13"/>
          <p:cNvSpPr txBox="1"/>
          <p:nvPr/>
        </p:nvSpPr>
        <p:spPr>
          <a:xfrm>
            <a:off x="6095848" y="2560320"/>
            <a:ext cx="2499284" cy="384048"/>
          </a:xfrm>
          <a:prstGeom prst="rect">
            <a:avLst/>
          </a:prstGeom>
          <a:noFill/>
          <a:ln/>
        </p:spPr>
        <p:txBody>
          <a:bodyPr wrap="square" lIns="0" tIns="0" rIns="0" bIns="0" rtlCol="0" anchor="t"/>
          <a:lstStyle/>
          <a:p>
            <a:pPr indent="0" marL="0">
              <a:buNone/>
            </a:pPr>
            <a:r>
              <a:rPr lang="en-US" sz="1900" b="1" dirty="0">
                <a:solidFill>
                  <a:schemeClr val="tx1"/>
                </a:solidFill>
              </a:rPr>
              <a:t>현장 적용</a:t>
            </a:r>
            <a:endParaRPr lang="en-US" sz="1900" dirty="0"/>
          </a:p>
        </p:txBody>
      </p:sp>
      <p:sp>
        <p:nvSpPr>
          <p:cNvPr id="17" name="Text 14"/>
          <p:cNvSpPr txBox="1"/>
          <p:nvPr/>
        </p:nvSpPr>
        <p:spPr>
          <a:xfrm>
            <a:off x="6095848" y="2971800"/>
            <a:ext cx="2453564" cy="548640"/>
          </a:xfrm>
          <a:prstGeom prst="rect">
            <a:avLst/>
          </a:prstGeom>
          <a:noFill/>
          <a:ln/>
        </p:spPr>
        <p:txBody>
          <a:bodyPr wrap="square" lIns="0" tIns="0" rIns="0" bIns="0" rtlCol="0" anchor="t"/>
          <a:lstStyle/>
          <a:p>
            <a:pPr indent="0" marL="0">
              <a:buNone/>
            </a:pPr>
            <a:r>
              <a:rPr lang="en-US" sz="1300" dirty="0">
                <a:solidFill>
                  <a:schemeClr val="accent4"/>
                </a:solidFill>
              </a:rPr>
              <a:t>실제 교육과정에 쓰며 의견 수집</a:t>
            </a:r>
            <a:endParaRPr lang="en-US" sz="1300" dirty="0"/>
          </a:p>
        </p:txBody>
      </p:sp>
      <p:sp>
        <p:nvSpPr>
          <p:cNvPr id="18" name="roadmap node 3"/>
          <p:cNvSpPr/>
          <p:nvPr/>
        </p:nvSpPr>
        <p:spPr>
          <a:xfrm>
            <a:off x="8979179" y="1773936"/>
            <a:ext cx="329184" cy="329184"/>
          </a:xfrm>
          <a:prstGeom prst="ellipse">
            <a:avLst/>
          </a:prstGeom>
          <a:solidFill>
            <a:schemeClr val="accent2"/>
          </a:solidFill>
          <a:ln w="38100">
            <a:solidFill>
              <a:schemeClr val="bg1"/>
            </a:solidFill>
            <a:prstDash val="solid"/>
          </a:ln>
        </p:spPr>
      </p:sp>
      <p:sp>
        <p:nvSpPr>
          <p:cNvPr id="19" name="Text 16"/>
          <p:cNvSpPr txBox="1"/>
          <p:nvPr/>
        </p:nvSpPr>
        <p:spPr>
          <a:xfrm>
            <a:off x="8869451" y="2267712"/>
            <a:ext cx="2499284" cy="274320"/>
          </a:xfrm>
          <a:prstGeom prst="rect">
            <a:avLst/>
          </a:prstGeom>
          <a:noFill/>
          <a:ln/>
        </p:spPr>
        <p:txBody>
          <a:bodyPr wrap="square" lIns="0" tIns="0" rIns="0" bIns="0" rtlCol="0" anchor="t"/>
          <a:lstStyle/>
          <a:p>
            <a:pPr indent="0" marL="0">
              <a:buNone/>
            </a:pPr>
            <a:r>
              <a:rPr lang="en-US" sz="1200" b="1" dirty="0">
                <a:solidFill>
                  <a:schemeClr val="accent2"/>
                </a:solidFill>
              </a:rPr>
              <a:t>체험 종료 후</a:t>
            </a:r>
            <a:endParaRPr lang="en-US" sz="1200" dirty="0"/>
          </a:p>
        </p:txBody>
      </p:sp>
      <p:sp>
        <p:nvSpPr>
          <p:cNvPr id="20" name="Text 17"/>
          <p:cNvSpPr txBox="1"/>
          <p:nvPr/>
        </p:nvSpPr>
        <p:spPr>
          <a:xfrm>
            <a:off x="8869451" y="2560320"/>
            <a:ext cx="2499284" cy="384048"/>
          </a:xfrm>
          <a:prstGeom prst="rect">
            <a:avLst/>
          </a:prstGeom>
          <a:noFill/>
          <a:ln/>
        </p:spPr>
        <p:txBody>
          <a:bodyPr wrap="square" lIns="0" tIns="0" rIns="0" bIns="0" rtlCol="0" anchor="t"/>
          <a:lstStyle/>
          <a:p>
            <a:pPr indent="0" marL="0">
              <a:buNone/>
            </a:pPr>
            <a:r>
              <a:rPr lang="en-US" sz="1900" b="1" dirty="0">
                <a:solidFill>
                  <a:schemeClr val="tx1"/>
                </a:solidFill>
              </a:rPr>
              <a:t>유료 전환 확인</a:t>
            </a:r>
            <a:endParaRPr lang="en-US" sz="1900" dirty="0"/>
          </a:p>
        </p:txBody>
      </p:sp>
      <p:sp>
        <p:nvSpPr>
          <p:cNvPr id="21" name="Text 18"/>
          <p:cNvSpPr txBox="1"/>
          <p:nvPr/>
        </p:nvSpPr>
        <p:spPr>
          <a:xfrm>
            <a:off x="8869451" y="2971800"/>
            <a:ext cx="2453564" cy="548640"/>
          </a:xfrm>
          <a:prstGeom prst="rect">
            <a:avLst/>
          </a:prstGeom>
          <a:noFill/>
          <a:ln/>
        </p:spPr>
        <p:txBody>
          <a:bodyPr wrap="square" lIns="0" tIns="0" rIns="0" bIns="0" rtlCol="0" anchor="t"/>
          <a:lstStyle/>
          <a:p>
            <a:pPr indent="0" marL="0">
              <a:buNone/>
            </a:pPr>
            <a:r>
              <a:rPr lang="en-US" sz="1300" dirty="0">
                <a:solidFill>
                  <a:schemeClr val="accent4"/>
                </a:solidFill>
              </a:rPr>
              <a:t>결제·해지 사유, 지원 비용 확인</a:t>
            </a:r>
            <a:endParaRPr lang="en-US" sz="1300" dirty="0"/>
          </a:p>
        </p:txBody>
      </p:sp>
      <p:sp>
        <p:nvSpPr>
          <p:cNvPr id="22" name="roadmap box 1"/>
          <p:cNvSpPr/>
          <p:nvPr/>
        </p:nvSpPr>
        <p:spPr>
          <a:xfrm>
            <a:off x="548640" y="3794760"/>
            <a:ext cx="5410048" cy="2331720"/>
          </a:xfrm>
          <a:prstGeom prst="roundRect">
            <a:avLst>
              <a:gd name="adj" fmla="val 5490"/>
            </a:avLst>
          </a:prstGeom>
          <a:solidFill>
            <a:schemeClr val="bg1"/>
          </a:solidFill>
          <a:ln/>
          <a:effectLst>
            <a:outerShdw sx="100000" sy="100000" kx="0" ky="0" algn="bl" rotWithShape="0" blurRad="127000" dist="38100" dir="5400000">
              <a:srgbClr val="0A2540">
                <a:alpha val="14000"/>
              </a:srgbClr>
            </a:outerShdw>
          </a:effectLst>
        </p:spPr>
      </p:sp>
      <p:sp>
        <p:nvSpPr>
          <p:cNvPr id="23" name="출시 후 확인할 지표 circle"/>
          <p:cNvSpPr/>
          <p:nvPr/>
        </p:nvSpPr>
        <p:spPr>
          <a:xfrm>
            <a:off x="822960" y="4050792"/>
            <a:ext cx="548640" cy="548640"/>
          </a:xfrm>
          <a:prstGeom prst="ellipse">
            <a:avLst/>
          </a:prstGeom>
          <a:solidFill>
            <a:schemeClr val="accent6"/>
          </a:solidFill>
          <a:ln/>
        </p:spPr>
      </p:sp>
      <p:pic>
        <p:nvPicPr>
          <p:cNvPr id="24" name="출시 후 확인할 지표 icon" descr="출시 후 확인할 지표">    </p:cNvPr>
          <p:cNvPicPr>
            <a:picLocks noChangeAspect="1"/>
          </p:cNvPicPr>
          <p:nvPr/>
        </p:nvPicPr>
        <p:blipFill>
          <a:blip r:embed="rId1"/>
          <a:stretch>
            <a:fillRect/>
          </a:stretch>
        </p:blipFill>
        <p:spPr>
          <a:xfrm>
            <a:off x="971093" y="4198925"/>
            <a:ext cx="252374" cy="252374"/>
          </a:xfrm>
          <a:prstGeom prst="rect">
            <a:avLst/>
          </a:prstGeom>
        </p:spPr>
      </p:pic>
      <p:sp>
        <p:nvSpPr>
          <p:cNvPr id="25" name="Text 21"/>
          <p:cNvSpPr txBox="1"/>
          <p:nvPr/>
        </p:nvSpPr>
        <p:spPr>
          <a:xfrm>
            <a:off x="1508760" y="4105656"/>
            <a:ext cx="4221328" cy="411480"/>
          </a:xfrm>
          <a:prstGeom prst="rect">
            <a:avLst/>
          </a:prstGeom>
          <a:noFill/>
          <a:ln/>
        </p:spPr>
        <p:txBody>
          <a:bodyPr wrap="square" lIns="0" tIns="0" rIns="0" bIns="0" rtlCol="0" anchor="ctr"/>
          <a:lstStyle/>
          <a:p>
            <a:pPr indent="0" marL="0">
              <a:buNone/>
            </a:pPr>
            <a:r>
              <a:rPr lang="en-US" sz="1700" b="1" dirty="0">
                <a:solidFill>
                  <a:schemeClr val="tx1"/>
                </a:solidFill>
              </a:rPr>
              <a:t>출시 후 확인할 지표</a:t>
            </a:r>
            <a:endParaRPr lang="en-US" sz="1700" dirty="0"/>
          </a:p>
        </p:txBody>
      </p:sp>
      <p:sp>
        <p:nvSpPr>
          <p:cNvPr id="26" name="Text 22"/>
          <p:cNvSpPr txBox="1"/>
          <p:nvPr/>
        </p:nvSpPr>
        <p:spPr>
          <a:xfrm>
            <a:off x="822960" y="4709160"/>
            <a:ext cx="4907128" cy="96012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활성 강사 수 — 기간 내 수업을 운영한 강사</a:t>
            </a:r>
            <a:endParaRPr lang="en-US" sz="1400" dirty="0"/>
          </a:p>
          <a:p>
            <a:pPr marL="177800" indent="-177800">
              <a:spcAft>
                <a:spcPts val="300"/>
              </a:spcAft>
              <a:buSzPct val="100000"/>
              <a:buChar char="•"/>
            </a:pPr>
            <a:r>
              <a:rPr lang="en-US" sz="1400" dirty="0">
                <a:solidFill>
                  <a:schemeClr val="tx1"/>
                </a:solidFill>
              </a:rPr>
              <a:t>디브리핑 작성 비율 — 완료 수업 대비</a:t>
            </a:r>
            <a:endParaRPr lang="en-US" sz="1400" dirty="0"/>
          </a:p>
          <a:p>
            <a:pPr marL="177800" indent="-177800">
              <a:spcAft>
                <a:spcPts val="300"/>
              </a:spcAft>
              <a:buSzPct val="100000"/>
              <a:buChar char="•"/>
            </a:pPr>
            <a:r>
              <a:rPr lang="en-US" sz="1400" dirty="0">
                <a:solidFill>
                  <a:schemeClr val="tx1"/>
                </a:solidFill>
              </a:rPr>
              <a:t>재사용 비율 — 첫 수업 이후 다시 사용</a:t>
            </a:r>
            <a:endParaRPr lang="en-US" sz="1400" dirty="0"/>
          </a:p>
        </p:txBody>
      </p:sp>
      <p:sp>
        <p:nvSpPr>
          <p:cNvPr id="27" name="Text 23"/>
          <p:cNvSpPr txBox="1"/>
          <p:nvPr/>
        </p:nvSpPr>
        <p:spPr>
          <a:xfrm>
            <a:off x="822960" y="5715000"/>
            <a:ext cx="4907128" cy="274320"/>
          </a:xfrm>
          <a:prstGeom prst="rect">
            <a:avLst/>
          </a:prstGeom>
          <a:noFill/>
          <a:ln/>
        </p:spPr>
        <p:txBody>
          <a:bodyPr wrap="square" lIns="0" tIns="0" rIns="0" bIns="0" rtlCol="0" anchor="t"/>
          <a:lstStyle/>
          <a:p>
            <a:pPr indent="0" marL="0">
              <a:buNone/>
            </a:pPr>
            <a:r>
              <a:rPr lang="en-US" sz="1000" dirty="0">
                <a:solidFill>
                  <a:schemeClr val="accent4"/>
                </a:solidFill>
              </a:rPr>
              <a:t>측정 결과는 아직 없으며, 초기 사용부터 기록합니다.</a:t>
            </a:r>
            <a:endParaRPr lang="en-US" sz="1000" dirty="0"/>
          </a:p>
        </p:txBody>
      </p:sp>
      <p:sp>
        <p:nvSpPr>
          <p:cNvPr id="28" name="roadmap box 2"/>
          <p:cNvSpPr/>
          <p:nvPr/>
        </p:nvSpPr>
        <p:spPr>
          <a:xfrm>
            <a:off x="6233008" y="3794760"/>
            <a:ext cx="5410048" cy="2331720"/>
          </a:xfrm>
          <a:prstGeom prst="roundRect">
            <a:avLst>
              <a:gd name="adj" fmla="val 5490"/>
            </a:avLst>
          </a:prstGeom>
          <a:solidFill>
            <a:schemeClr val="bg1"/>
          </a:solidFill>
          <a:ln/>
          <a:effectLst>
            <a:outerShdw sx="100000" sy="100000" kx="0" ky="0" algn="bl" rotWithShape="0" blurRad="127000" dist="38100" dir="5400000">
              <a:srgbClr val="0A2540">
                <a:alpha val="14000"/>
              </a:srgbClr>
            </a:outerShdw>
          </a:effectLst>
        </p:spPr>
      </p:sp>
      <p:sp>
        <p:nvSpPr>
          <p:cNvPr id="29" name="스포츠 교육·대회 운영으로 확장 제안 circle"/>
          <p:cNvSpPr/>
          <p:nvPr/>
        </p:nvSpPr>
        <p:spPr>
          <a:xfrm>
            <a:off x="6507328" y="4050792"/>
            <a:ext cx="548640" cy="548640"/>
          </a:xfrm>
          <a:prstGeom prst="ellipse">
            <a:avLst/>
          </a:prstGeom>
          <a:solidFill>
            <a:schemeClr val="accent2"/>
          </a:solidFill>
          <a:ln/>
        </p:spPr>
      </p:sp>
      <p:pic>
        <p:nvPicPr>
          <p:cNvPr id="30" name="스포츠 교육·대회 운영으로 확장 제안 icon" descr="스포츠 교육·대회 운영으로 확장 제안">    </p:cNvPr>
          <p:cNvPicPr>
            <a:picLocks noChangeAspect="1"/>
          </p:cNvPicPr>
          <p:nvPr/>
        </p:nvPicPr>
        <p:blipFill>
          <a:blip r:embed="rId2"/>
          <a:stretch>
            <a:fillRect/>
          </a:stretch>
        </p:blipFill>
        <p:spPr>
          <a:xfrm>
            <a:off x="6655460" y="4198925"/>
            <a:ext cx="252374" cy="252374"/>
          </a:xfrm>
          <a:prstGeom prst="rect">
            <a:avLst/>
          </a:prstGeom>
        </p:spPr>
      </p:pic>
      <p:sp>
        <p:nvSpPr>
          <p:cNvPr id="31" name="Text 26"/>
          <p:cNvSpPr txBox="1"/>
          <p:nvPr/>
        </p:nvSpPr>
        <p:spPr>
          <a:xfrm>
            <a:off x="7193128" y="4105656"/>
            <a:ext cx="4221328" cy="411480"/>
          </a:xfrm>
          <a:prstGeom prst="rect">
            <a:avLst/>
          </a:prstGeom>
          <a:noFill/>
          <a:ln/>
        </p:spPr>
        <p:txBody>
          <a:bodyPr wrap="square" lIns="0" tIns="0" rIns="0" bIns="0" rtlCol="0" anchor="ctr"/>
          <a:lstStyle/>
          <a:p>
            <a:pPr indent="0" marL="0">
              <a:buNone/>
            </a:pPr>
            <a:r>
              <a:rPr lang="en-US" sz="1700" b="1" dirty="0">
                <a:solidFill>
                  <a:schemeClr val="tx1"/>
                </a:solidFill>
              </a:rPr>
              <a:t>스포츠 교육·대회 운영으로 확장 제안</a:t>
            </a:r>
            <a:endParaRPr lang="en-US" sz="1700" dirty="0"/>
          </a:p>
        </p:txBody>
      </p:sp>
      <p:sp>
        <p:nvSpPr>
          <p:cNvPr id="32" name="Text 27"/>
          <p:cNvSpPr txBox="1"/>
          <p:nvPr/>
        </p:nvSpPr>
        <p:spPr>
          <a:xfrm>
            <a:off x="6507328" y="4709160"/>
            <a:ext cx="4907128" cy="96012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여러 강사가 함께 운영하는 소규모 교육업체</a:t>
            </a:r>
            <a:endParaRPr lang="en-US" sz="1400" dirty="0"/>
          </a:p>
          <a:p>
            <a:pPr marL="177800" indent="-177800">
              <a:spcAft>
                <a:spcPts val="300"/>
              </a:spcAft>
              <a:buSzPct val="100000"/>
              <a:buChar char="•"/>
            </a:pPr>
            <a:r>
              <a:rPr lang="en-US" sz="1400" dirty="0">
                <a:solidFill>
                  <a:schemeClr val="tx1"/>
                </a:solidFill>
              </a:rPr>
              <a:t>다른 종목의 교육·훈련 진도 관리</a:t>
            </a:r>
            <a:endParaRPr lang="en-US" sz="1400" dirty="0"/>
          </a:p>
          <a:p>
            <a:pPr marL="177800" indent="-177800">
              <a:spcAft>
                <a:spcPts val="300"/>
              </a:spcAft>
              <a:buSzPct val="100000"/>
              <a:buChar char="•"/>
            </a:pPr>
            <a:r>
              <a:rPr lang="en-US" sz="1400" dirty="0">
                <a:solidFill>
                  <a:schemeClr val="tx1"/>
                </a:solidFill>
              </a:rPr>
              <a:t>대회 참가자의 훈련·사전교육 기록 관리</a:t>
            </a:r>
            <a:endParaRPr lang="en-US" sz="1400" dirty="0"/>
          </a:p>
        </p:txBody>
      </p:sp>
      <p:sp>
        <p:nvSpPr>
          <p:cNvPr id="33" name="Text 28"/>
          <p:cNvSpPr txBox="1"/>
          <p:nvPr/>
        </p:nvSpPr>
        <p:spPr>
          <a:xfrm>
            <a:off x="6507328" y="5715000"/>
            <a:ext cx="4907128" cy="274320"/>
          </a:xfrm>
          <a:prstGeom prst="rect">
            <a:avLst/>
          </a:prstGeom>
          <a:noFill/>
          <a:ln/>
        </p:spPr>
        <p:txBody>
          <a:bodyPr wrap="square" lIns="0" tIns="0" rIns="0" bIns="0" rtlCol="0" anchor="t"/>
          <a:lstStyle/>
          <a:p>
            <a:pPr indent="0" marL="0">
              <a:buNone/>
            </a:pPr>
            <a:r>
              <a:rPr lang="en-US" sz="1000" dirty="0">
                <a:solidFill>
                  <a:schemeClr val="accent4"/>
                </a:solidFill>
              </a:rPr>
              <a:t>공모전 연계 실증 제안이며, 협약·구현 전 단계입니다.</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7315200" cy="292608"/>
          </a:xfrm>
          <a:prstGeom prst="rect">
            <a:avLst/>
          </a:prstGeom>
          <a:noFill/>
          <a:ln/>
        </p:spPr>
        <p:txBody>
          <a:bodyPr wrap="square" lIns="0" tIns="0" rIns="0" bIns="0" rtlCol="0"/>
          <a:lstStyle/>
          <a:p>
            <a:pPr indent="0" marL="0">
              <a:buNone/>
            </a:pPr>
            <a:r>
              <a:rPr lang="en-US" sz="1300" b="1" spc="100" kern="0" dirty="0">
                <a:solidFill>
                  <a:schemeClr val="accent1"/>
                </a:solidFill>
              </a:rPr>
              <a:t>08  팀</a:t>
            </a:r>
            <a:endParaRPr lang="en-US" sz="1300" dirty="0"/>
          </a:p>
        </p:txBody>
      </p:sp>
      <p:sp>
        <p:nvSpPr>
          <p:cNvPr id="3" name="Text 1"/>
          <p:cNvSpPr/>
          <p:nvPr>
            <p:ph idx="102"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200" b="1" dirty="0">
                <a:solidFill>
                  <a:schemeClr val="bg1"/>
                </a:solidFill>
              </a:rPr>
              <a:t>직접 다이빙하는 개발자가 만듭니다</a:t>
            </a:r>
            <a:endParaRPr lang="en-US" sz="3200" dirty="0"/>
          </a:p>
        </p:txBody>
      </p:sp>
      <p:sp>
        <p:nvSpPr>
          <p:cNvPr id="5" name="Text 2"/>
          <p:cNvSpPr txBox="1"/>
          <p:nvPr/>
        </p:nvSpPr>
        <p:spPr>
          <a:xfrm>
            <a:off x="548640" y="1691640"/>
            <a:ext cx="2743200" cy="1463040"/>
          </a:xfrm>
          <a:prstGeom prst="rect">
            <a:avLst/>
          </a:prstGeom>
          <a:noFill/>
          <a:ln/>
        </p:spPr>
        <p:txBody>
          <a:bodyPr wrap="square" lIns="0" tIns="0" rIns="0" bIns="0" rtlCol="0" anchor="b"/>
          <a:lstStyle/>
          <a:p>
            <a:pPr indent="0" marL="0">
              <a:buNone/>
            </a:pPr>
            <a:r>
              <a:rPr lang="en-US" sz="8800" b="1" dirty="0">
                <a:solidFill>
                  <a:schemeClr val="accent1"/>
                </a:solidFill>
              </a:rPr>
              <a:t>14</a:t>
            </a:r>
            <a:pPr indent="0" marL="0">
              <a:buNone/>
            </a:pPr>
            <a:r>
              <a:rPr lang="en-US" sz="2400" b="1" dirty="0">
                <a:solidFill>
                  <a:schemeClr val="bg1"/>
                </a:solidFill>
              </a:rPr>
              <a:t> 년차</a:t>
            </a:r>
            <a:endParaRPr lang="en-US" sz="8800" dirty="0"/>
          </a:p>
        </p:txBody>
      </p:sp>
      <p:sp>
        <p:nvSpPr>
          <p:cNvPr id="6" name="Text 3"/>
          <p:cNvSpPr txBox="1"/>
          <p:nvPr/>
        </p:nvSpPr>
        <p:spPr>
          <a:xfrm>
            <a:off x="548640" y="3246120"/>
            <a:ext cx="2651760" cy="411480"/>
          </a:xfrm>
          <a:prstGeom prst="rect">
            <a:avLst/>
          </a:prstGeom>
          <a:noFill/>
          <a:ln/>
        </p:spPr>
        <p:txBody>
          <a:bodyPr wrap="square" lIns="0" tIns="0" rIns="0" bIns="0" rtlCol="0" anchor="t"/>
          <a:lstStyle/>
          <a:p>
            <a:pPr indent="0" marL="0">
              <a:buNone/>
            </a:pPr>
            <a:r>
              <a:rPr lang="en-US" sz="2200" b="1" dirty="0">
                <a:solidFill>
                  <a:schemeClr val="bg1"/>
                </a:solidFill>
              </a:rPr>
              <a:t>개발자</a:t>
            </a:r>
            <a:endParaRPr lang="en-US" sz="2200" dirty="0"/>
          </a:p>
        </p:txBody>
      </p:sp>
      <p:sp>
        <p:nvSpPr>
          <p:cNvPr id="7" name="Text 4"/>
          <p:cNvSpPr txBox="1"/>
          <p:nvPr/>
        </p:nvSpPr>
        <p:spPr>
          <a:xfrm>
            <a:off x="548640" y="3703320"/>
            <a:ext cx="2651760" cy="548640"/>
          </a:xfrm>
          <a:prstGeom prst="rect">
            <a:avLst/>
          </a:prstGeom>
          <a:noFill/>
          <a:ln/>
        </p:spPr>
        <p:txBody>
          <a:bodyPr wrap="square" lIns="0" tIns="0" rIns="0" bIns="0" rtlCol="0" anchor="t"/>
          <a:lstStyle/>
          <a:p>
            <a:pPr indent="0" marL="0">
              <a:buNone/>
            </a:pPr>
            <a:r>
              <a:rPr lang="en-US" sz="1400" dirty="0">
                <a:solidFill>
                  <a:schemeClr val="accent5"/>
                </a:solidFill>
              </a:rPr>
              <a:t>기획·개발·운영을 직접 수행</a:t>
            </a:r>
            <a:endParaRPr lang="en-US" sz="1400" dirty="0"/>
          </a:p>
        </p:txBody>
      </p:sp>
      <p:sp>
        <p:nvSpPr>
          <p:cNvPr id="8" name="Text 5"/>
          <p:cNvSpPr txBox="1"/>
          <p:nvPr/>
        </p:nvSpPr>
        <p:spPr>
          <a:xfrm>
            <a:off x="3383280" y="1691640"/>
            <a:ext cx="2743200" cy="1463040"/>
          </a:xfrm>
          <a:prstGeom prst="rect">
            <a:avLst/>
          </a:prstGeom>
          <a:noFill/>
          <a:ln/>
        </p:spPr>
        <p:txBody>
          <a:bodyPr wrap="square" lIns="0" tIns="0" rIns="0" bIns="0" rtlCol="0" anchor="b"/>
          <a:lstStyle/>
          <a:p>
            <a:pPr indent="0" marL="0">
              <a:buNone/>
            </a:pPr>
            <a:r>
              <a:rPr lang="en-US" sz="8800" b="1" dirty="0">
                <a:solidFill>
                  <a:schemeClr val="accent1"/>
                </a:solidFill>
              </a:rPr>
              <a:t>3</a:t>
            </a:r>
            <a:pPr indent="0" marL="0">
              <a:buNone/>
            </a:pPr>
            <a:r>
              <a:rPr lang="en-US" sz="2400" b="1" dirty="0">
                <a:solidFill>
                  <a:schemeClr val="bg1"/>
                </a:solidFill>
              </a:rPr>
              <a:t> 년차</a:t>
            </a:r>
            <a:endParaRPr lang="en-US" sz="8800" dirty="0"/>
          </a:p>
        </p:txBody>
      </p:sp>
      <p:sp>
        <p:nvSpPr>
          <p:cNvPr id="9" name="Text 6"/>
          <p:cNvSpPr txBox="1"/>
          <p:nvPr/>
        </p:nvSpPr>
        <p:spPr>
          <a:xfrm>
            <a:off x="3383280" y="3246120"/>
            <a:ext cx="2651760" cy="411480"/>
          </a:xfrm>
          <a:prstGeom prst="rect">
            <a:avLst/>
          </a:prstGeom>
          <a:noFill/>
          <a:ln/>
        </p:spPr>
        <p:txBody>
          <a:bodyPr wrap="square" lIns="0" tIns="0" rIns="0" bIns="0" rtlCol="0" anchor="t"/>
          <a:lstStyle/>
          <a:p>
            <a:pPr indent="0" marL="0">
              <a:buNone/>
            </a:pPr>
            <a:r>
              <a:rPr lang="en-US" sz="2200" b="1" dirty="0">
                <a:solidFill>
                  <a:schemeClr val="bg1"/>
                </a:solidFill>
              </a:rPr>
              <a:t>프리다이버</a:t>
            </a:r>
            <a:endParaRPr lang="en-US" sz="2200" dirty="0"/>
          </a:p>
        </p:txBody>
      </p:sp>
      <p:sp>
        <p:nvSpPr>
          <p:cNvPr id="10" name="Text 7"/>
          <p:cNvSpPr txBox="1"/>
          <p:nvPr/>
        </p:nvSpPr>
        <p:spPr>
          <a:xfrm>
            <a:off x="3383280" y="3703320"/>
            <a:ext cx="2651760" cy="548640"/>
          </a:xfrm>
          <a:prstGeom prst="rect">
            <a:avLst/>
          </a:prstGeom>
          <a:noFill/>
          <a:ln/>
        </p:spPr>
        <p:txBody>
          <a:bodyPr wrap="square" lIns="0" tIns="0" rIns="0" bIns="0" rtlCol="0" anchor="t"/>
          <a:lstStyle/>
          <a:p>
            <a:pPr indent="0" marL="0">
              <a:buNone/>
            </a:pPr>
            <a:r>
              <a:rPr lang="en-US" sz="1400" dirty="0">
                <a:solidFill>
                  <a:schemeClr val="accent5"/>
                </a:solidFill>
              </a:rPr>
              <a:t>AIDA Level 2 자격 보유</a:t>
            </a:r>
            <a:endParaRPr lang="en-US" sz="1400" dirty="0"/>
          </a:p>
        </p:txBody>
      </p:sp>
      <p:sp>
        <p:nvSpPr>
          <p:cNvPr id="11" name="Text 8"/>
          <p:cNvSpPr txBox="1"/>
          <p:nvPr/>
        </p:nvSpPr>
        <p:spPr>
          <a:xfrm>
            <a:off x="548640" y="4892040"/>
            <a:ext cx="5303520" cy="365760"/>
          </a:xfrm>
          <a:prstGeom prst="rect">
            <a:avLst/>
          </a:prstGeom>
          <a:noFill/>
          <a:ln/>
        </p:spPr>
        <p:txBody>
          <a:bodyPr wrap="square" lIns="0" tIns="0" rIns="0" bIns="0" rtlCol="0" anchor="t"/>
          <a:lstStyle/>
          <a:p>
            <a:pPr indent="0" marL="0">
              <a:buNone/>
            </a:pPr>
            <a:r>
              <a:rPr lang="en-US" sz="1800" b="1" dirty="0">
                <a:solidFill>
                  <a:schemeClr val="bg1"/>
                </a:solidFill>
              </a:rPr>
              <a:t>남상현  ·  럼바우 대표</a:t>
            </a:r>
            <a:endParaRPr lang="en-US" sz="1800" dirty="0"/>
          </a:p>
        </p:txBody>
      </p:sp>
      <p:sp>
        <p:nvSpPr>
          <p:cNvPr id="12" name="Text 9"/>
          <p:cNvSpPr txBox="1"/>
          <p:nvPr/>
        </p:nvSpPr>
        <p:spPr>
          <a:xfrm>
            <a:off x="548640" y="5303520"/>
            <a:ext cx="5394960" cy="548640"/>
          </a:xfrm>
          <a:prstGeom prst="rect">
            <a:avLst/>
          </a:prstGeom>
          <a:noFill/>
          <a:ln/>
        </p:spPr>
        <p:txBody>
          <a:bodyPr wrap="square" lIns="0" tIns="0" rIns="0" bIns="0" rtlCol="0" anchor="t"/>
          <a:lstStyle/>
          <a:p>
            <a:pPr indent="0" marL="0">
              <a:buNone/>
            </a:pPr>
            <a:r>
              <a:rPr lang="en-US" sz="1200" dirty="0">
                <a:solidFill>
                  <a:schemeClr val="accent5"/>
                </a:solidFill>
              </a:rPr>
              <a:t>개인사업자 · 2025년 4월 개업 · 정보통신업(컴퓨터 프로그래밍 서비스업)</a:t>
            </a:r>
            <a:endParaRPr lang="en-US" sz="1200" dirty="0"/>
          </a:p>
        </p:txBody>
      </p:sp>
      <p:sp>
        <p:nvSpPr>
          <p:cNvPr id="13" name="team card 1"/>
          <p:cNvSpPr/>
          <p:nvPr/>
        </p:nvSpPr>
        <p:spPr>
          <a:xfrm>
            <a:off x="6309360" y="1737360"/>
            <a:ext cx="5330952" cy="1234440"/>
          </a:xfrm>
          <a:prstGeom prst="roundRect">
            <a:avLst>
              <a:gd name="adj" fmla="val 10370"/>
            </a:avLst>
          </a:prstGeom>
          <a:solidFill>
            <a:schemeClr val="bg1">
              <a:alpha val="10000"/>
            </a:schemeClr>
          </a:solidFill>
          <a:ln w="9525">
            <a:solidFill>
              <a:schemeClr val="accent5">
                <a:alpha val="40000"/>
              </a:schemeClr>
            </a:solidFill>
            <a:prstDash val="solid"/>
          </a:ln>
        </p:spPr>
      </p:sp>
      <p:sp>
        <p:nvSpPr>
          <p:cNvPr id="14" name="대표 · 개발 및 운영 circle"/>
          <p:cNvSpPr/>
          <p:nvPr/>
        </p:nvSpPr>
        <p:spPr>
          <a:xfrm>
            <a:off x="6537960" y="2011680"/>
            <a:ext cx="685800" cy="685800"/>
          </a:xfrm>
          <a:prstGeom prst="ellipse">
            <a:avLst/>
          </a:prstGeom>
          <a:solidFill>
            <a:schemeClr val="accent3"/>
          </a:solidFill>
          <a:ln/>
        </p:spPr>
      </p:sp>
      <p:pic>
        <p:nvPicPr>
          <p:cNvPr id="15" name="대표 · 개발 및 운영 icon" descr="대표 · 개발 및 운영">    </p:cNvPr>
          <p:cNvPicPr>
            <a:picLocks noChangeAspect="1"/>
          </p:cNvPicPr>
          <p:nvPr/>
        </p:nvPicPr>
        <p:blipFill>
          <a:blip r:embed="rId1"/>
          <a:stretch>
            <a:fillRect/>
          </a:stretch>
        </p:blipFill>
        <p:spPr>
          <a:xfrm>
            <a:off x="6723126" y="2196846"/>
            <a:ext cx="315468" cy="315468"/>
          </a:xfrm>
          <a:prstGeom prst="rect">
            <a:avLst/>
          </a:prstGeom>
        </p:spPr>
      </p:pic>
      <p:sp>
        <p:nvSpPr>
          <p:cNvPr id="16" name="Text 12"/>
          <p:cNvSpPr txBox="1"/>
          <p:nvPr/>
        </p:nvSpPr>
        <p:spPr>
          <a:xfrm>
            <a:off x="7452360" y="1901952"/>
            <a:ext cx="4023360" cy="256032"/>
          </a:xfrm>
          <a:prstGeom prst="rect">
            <a:avLst/>
          </a:prstGeom>
          <a:noFill/>
          <a:ln/>
        </p:spPr>
        <p:txBody>
          <a:bodyPr wrap="square" lIns="0" tIns="0" rIns="0" bIns="0" rtlCol="0" anchor="t"/>
          <a:lstStyle/>
          <a:p>
            <a:pPr indent="0" marL="0">
              <a:buNone/>
            </a:pPr>
            <a:r>
              <a:rPr lang="en-US" sz="1100" b="1" dirty="0">
                <a:solidFill>
                  <a:schemeClr val="accent1"/>
                </a:solidFill>
              </a:rPr>
              <a:t>대표 · 개발 및 운영</a:t>
            </a:r>
            <a:endParaRPr lang="en-US" sz="1100" dirty="0"/>
          </a:p>
        </p:txBody>
      </p:sp>
      <p:sp>
        <p:nvSpPr>
          <p:cNvPr id="17" name="Text 13"/>
          <p:cNvSpPr txBox="1"/>
          <p:nvPr/>
        </p:nvSpPr>
        <p:spPr>
          <a:xfrm>
            <a:off x="7452360" y="2148840"/>
            <a:ext cx="4023360" cy="365760"/>
          </a:xfrm>
          <a:prstGeom prst="rect">
            <a:avLst/>
          </a:prstGeom>
          <a:noFill/>
          <a:ln/>
        </p:spPr>
        <p:txBody>
          <a:bodyPr wrap="square" lIns="0" tIns="0" rIns="0" bIns="0" rtlCol="0" anchor="t"/>
          <a:lstStyle/>
          <a:p>
            <a:pPr indent="0" marL="0">
              <a:buNone/>
            </a:pPr>
            <a:r>
              <a:rPr lang="en-US" sz="1800" b="1" dirty="0">
                <a:solidFill>
                  <a:schemeClr val="bg1"/>
                </a:solidFill>
              </a:rPr>
              <a:t>남상현 (1인)</a:t>
            </a:r>
            <a:endParaRPr lang="en-US" sz="1800" dirty="0"/>
          </a:p>
        </p:txBody>
      </p:sp>
      <p:sp>
        <p:nvSpPr>
          <p:cNvPr id="18" name="Text 14"/>
          <p:cNvSpPr txBox="1"/>
          <p:nvPr/>
        </p:nvSpPr>
        <p:spPr>
          <a:xfrm>
            <a:off x="7452360" y="2542032"/>
            <a:ext cx="4023360" cy="274320"/>
          </a:xfrm>
          <a:prstGeom prst="rect">
            <a:avLst/>
          </a:prstGeom>
          <a:noFill/>
          <a:ln/>
        </p:spPr>
        <p:txBody>
          <a:bodyPr wrap="square" lIns="0" tIns="0" rIns="0" bIns="0" rtlCol="0" anchor="t"/>
          <a:lstStyle/>
          <a:p>
            <a:pPr indent="0" marL="0">
              <a:buNone/>
            </a:pPr>
            <a:r>
              <a:rPr lang="en-US" sz="1300" dirty="0">
                <a:solidFill>
                  <a:schemeClr val="accent6"/>
                </a:solidFill>
              </a:rPr>
              <a:t>앱 개발, 서버 운영, 고객 대응</a:t>
            </a:r>
            <a:endParaRPr lang="en-US" sz="1300" dirty="0"/>
          </a:p>
        </p:txBody>
      </p:sp>
      <p:sp>
        <p:nvSpPr>
          <p:cNvPr id="19" name="team card 2"/>
          <p:cNvSpPr/>
          <p:nvPr/>
        </p:nvSpPr>
        <p:spPr>
          <a:xfrm>
            <a:off x="6309360" y="3200400"/>
            <a:ext cx="5330952" cy="1234440"/>
          </a:xfrm>
          <a:prstGeom prst="roundRect">
            <a:avLst>
              <a:gd name="adj" fmla="val 10370"/>
            </a:avLst>
          </a:prstGeom>
          <a:solidFill>
            <a:schemeClr val="bg1">
              <a:alpha val="10000"/>
            </a:schemeClr>
          </a:solidFill>
          <a:ln w="9525">
            <a:solidFill>
              <a:schemeClr val="accent5">
                <a:alpha val="40000"/>
              </a:schemeClr>
            </a:solidFill>
            <a:prstDash val="solid"/>
          </a:ln>
        </p:spPr>
      </p:sp>
      <p:sp>
        <p:nvSpPr>
          <p:cNvPr id="20" name="현장 자문 circle"/>
          <p:cNvSpPr/>
          <p:nvPr/>
        </p:nvSpPr>
        <p:spPr>
          <a:xfrm>
            <a:off x="6537960" y="3474720"/>
            <a:ext cx="685800" cy="685800"/>
          </a:xfrm>
          <a:prstGeom prst="ellipse">
            <a:avLst/>
          </a:prstGeom>
          <a:solidFill>
            <a:schemeClr val="accent1"/>
          </a:solidFill>
          <a:ln/>
        </p:spPr>
      </p:sp>
      <p:pic>
        <p:nvPicPr>
          <p:cNvPr id="21" name="현장 자문 icon" descr="현장 자문">    </p:cNvPr>
          <p:cNvPicPr>
            <a:picLocks noChangeAspect="1"/>
          </p:cNvPicPr>
          <p:nvPr/>
        </p:nvPicPr>
        <p:blipFill>
          <a:blip r:embed="rId2"/>
          <a:stretch>
            <a:fillRect/>
          </a:stretch>
        </p:blipFill>
        <p:spPr>
          <a:xfrm>
            <a:off x="6723126" y="3659886"/>
            <a:ext cx="315468" cy="315468"/>
          </a:xfrm>
          <a:prstGeom prst="rect">
            <a:avLst/>
          </a:prstGeom>
        </p:spPr>
      </p:pic>
      <p:sp>
        <p:nvSpPr>
          <p:cNvPr id="22" name="Text 17"/>
          <p:cNvSpPr txBox="1"/>
          <p:nvPr/>
        </p:nvSpPr>
        <p:spPr>
          <a:xfrm>
            <a:off x="7452360" y="3364992"/>
            <a:ext cx="4023360" cy="256032"/>
          </a:xfrm>
          <a:prstGeom prst="rect">
            <a:avLst/>
          </a:prstGeom>
          <a:noFill/>
          <a:ln/>
        </p:spPr>
        <p:txBody>
          <a:bodyPr wrap="square" lIns="0" tIns="0" rIns="0" bIns="0" rtlCol="0" anchor="t"/>
          <a:lstStyle/>
          <a:p>
            <a:pPr indent="0" marL="0">
              <a:buNone/>
            </a:pPr>
            <a:r>
              <a:rPr lang="en-US" sz="1100" b="1" dirty="0">
                <a:solidFill>
                  <a:schemeClr val="accent1"/>
                </a:solidFill>
              </a:rPr>
              <a:t>현장 자문</a:t>
            </a:r>
            <a:endParaRPr lang="en-US" sz="1100" dirty="0"/>
          </a:p>
        </p:txBody>
      </p:sp>
      <p:sp>
        <p:nvSpPr>
          <p:cNvPr id="23" name="Text 18"/>
          <p:cNvSpPr txBox="1"/>
          <p:nvPr/>
        </p:nvSpPr>
        <p:spPr>
          <a:xfrm>
            <a:off x="7452360" y="3611880"/>
            <a:ext cx="4023360" cy="365760"/>
          </a:xfrm>
          <a:prstGeom prst="rect">
            <a:avLst/>
          </a:prstGeom>
          <a:noFill/>
          <a:ln/>
        </p:spPr>
        <p:txBody>
          <a:bodyPr wrap="square" lIns="0" tIns="0" rIns="0" bIns="0" rtlCol="0" anchor="t"/>
          <a:lstStyle/>
          <a:p>
            <a:pPr indent="0" marL="0">
              <a:buNone/>
            </a:pPr>
            <a:r>
              <a:rPr lang="en-US" sz="1800" b="1" dirty="0">
                <a:solidFill>
                  <a:schemeClr val="bg1"/>
                </a:solidFill>
              </a:rPr>
              <a:t>AIDA Instructor 협업자</a:t>
            </a:r>
            <a:endParaRPr lang="en-US" sz="1800" dirty="0"/>
          </a:p>
        </p:txBody>
      </p:sp>
      <p:sp>
        <p:nvSpPr>
          <p:cNvPr id="24" name="Text 19"/>
          <p:cNvSpPr txBox="1"/>
          <p:nvPr/>
        </p:nvSpPr>
        <p:spPr>
          <a:xfrm>
            <a:off x="7452360" y="4005072"/>
            <a:ext cx="4023360" cy="274320"/>
          </a:xfrm>
          <a:prstGeom prst="rect">
            <a:avLst/>
          </a:prstGeom>
          <a:noFill/>
          <a:ln/>
        </p:spPr>
        <p:txBody>
          <a:bodyPr wrap="square" lIns="0" tIns="0" rIns="0" bIns="0" rtlCol="0" anchor="t"/>
          <a:lstStyle/>
          <a:p>
            <a:pPr indent="0" marL="0">
              <a:buNone/>
            </a:pPr>
            <a:r>
              <a:rPr lang="en-US" sz="1300" dirty="0">
                <a:solidFill>
                  <a:schemeClr val="accent6"/>
                </a:solidFill>
              </a:rPr>
              <a:t>강사 관점의 기능 의견 제공</a:t>
            </a:r>
            <a:endParaRPr lang="en-US" sz="1300" dirty="0"/>
          </a:p>
        </p:txBody>
      </p:sp>
      <p:sp>
        <p:nvSpPr>
          <p:cNvPr id="25" name="team card 3"/>
          <p:cNvSpPr/>
          <p:nvPr/>
        </p:nvSpPr>
        <p:spPr>
          <a:xfrm>
            <a:off x="6309360" y="4663440"/>
            <a:ext cx="5330952" cy="1234440"/>
          </a:xfrm>
          <a:prstGeom prst="roundRect">
            <a:avLst>
              <a:gd name="adj" fmla="val 10370"/>
            </a:avLst>
          </a:prstGeom>
          <a:solidFill>
            <a:schemeClr val="bg1">
              <a:alpha val="10000"/>
            </a:schemeClr>
          </a:solidFill>
          <a:ln w="9525">
            <a:solidFill>
              <a:schemeClr val="accent5">
                <a:alpha val="40000"/>
              </a:schemeClr>
            </a:solidFill>
            <a:prstDash val="solid"/>
          </a:ln>
        </p:spPr>
      </p:sp>
      <p:sp>
        <p:nvSpPr>
          <p:cNvPr id="26" name="홍보 협업 circle"/>
          <p:cNvSpPr/>
          <p:nvPr/>
        </p:nvSpPr>
        <p:spPr>
          <a:xfrm>
            <a:off x="6537960" y="4937760"/>
            <a:ext cx="685800" cy="685800"/>
          </a:xfrm>
          <a:prstGeom prst="ellipse">
            <a:avLst/>
          </a:prstGeom>
          <a:solidFill>
            <a:schemeClr val="accent1"/>
          </a:solidFill>
          <a:ln/>
        </p:spPr>
      </p:sp>
      <p:pic>
        <p:nvPicPr>
          <p:cNvPr id="27" name="홍보 협업 icon" descr="홍보 협업">    </p:cNvPr>
          <p:cNvPicPr>
            <a:picLocks noChangeAspect="1"/>
          </p:cNvPicPr>
          <p:nvPr/>
        </p:nvPicPr>
        <p:blipFill>
          <a:blip r:embed="rId3"/>
          <a:stretch>
            <a:fillRect/>
          </a:stretch>
        </p:blipFill>
        <p:spPr>
          <a:xfrm>
            <a:off x="6723126" y="5122926"/>
            <a:ext cx="315468" cy="315468"/>
          </a:xfrm>
          <a:prstGeom prst="rect">
            <a:avLst/>
          </a:prstGeom>
        </p:spPr>
      </p:pic>
      <p:sp>
        <p:nvSpPr>
          <p:cNvPr id="28" name="Text 22"/>
          <p:cNvSpPr txBox="1"/>
          <p:nvPr/>
        </p:nvSpPr>
        <p:spPr>
          <a:xfrm>
            <a:off x="7452360" y="4828032"/>
            <a:ext cx="4023360" cy="256032"/>
          </a:xfrm>
          <a:prstGeom prst="rect">
            <a:avLst/>
          </a:prstGeom>
          <a:noFill/>
          <a:ln/>
        </p:spPr>
        <p:txBody>
          <a:bodyPr wrap="square" lIns="0" tIns="0" rIns="0" bIns="0" rtlCol="0" anchor="t"/>
          <a:lstStyle/>
          <a:p>
            <a:pPr indent="0" marL="0">
              <a:buNone/>
            </a:pPr>
            <a:r>
              <a:rPr lang="en-US" sz="1100" b="1" dirty="0">
                <a:solidFill>
                  <a:schemeClr val="accent1"/>
                </a:solidFill>
              </a:rPr>
              <a:t>홍보 협업</a:t>
            </a:r>
            <a:endParaRPr lang="en-US" sz="1100" dirty="0"/>
          </a:p>
        </p:txBody>
      </p:sp>
      <p:sp>
        <p:nvSpPr>
          <p:cNvPr id="29" name="Text 23"/>
          <p:cNvSpPr txBox="1"/>
          <p:nvPr/>
        </p:nvSpPr>
        <p:spPr>
          <a:xfrm>
            <a:off x="7452360" y="5074920"/>
            <a:ext cx="4023360" cy="365760"/>
          </a:xfrm>
          <a:prstGeom prst="rect">
            <a:avLst/>
          </a:prstGeom>
          <a:noFill/>
          <a:ln/>
        </p:spPr>
        <p:txBody>
          <a:bodyPr wrap="square" lIns="0" tIns="0" rIns="0" bIns="0" rtlCol="0" anchor="t"/>
          <a:lstStyle/>
          <a:p>
            <a:pPr indent="0" marL="0">
              <a:buNone/>
            </a:pPr>
            <a:r>
              <a:rPr lang="en-US" sz="1800" b="1" dirty="0">
                <a:solidFill>
                  <a:schemeClr val="bg1"/>
                </a:solidFill>
              </a:rPr>
              <a:t>유튜브 ‘먹보야 놀자’</a:t>
            </a:r>
            <a:endParaRPr lang="en-US" sz="1800" dirty="0"/>
          </a:p>
        </p:txBody>
      </p:sp>
      <p:sp>
        <p:nvSpPr>
          <p:cNvPr id="30" name="Text 24"/>
          <p:cNvSpPr txBox="1"/>
          <p:nvPr/>
        </p:nvSpPr>
        <p:spPr>
          <a:xfrm>
            <a:off x="7452360" y="5468112"/>
            <a:ext cx="4023360" cy="274320"/>
          </a:xfrm>
          <a:prstGeom prst="rect">
            <a:avLst/>
          </a:prstGeom>
          <a:noFill/>
          <a:ln/>
        </p:spPr>
        <p:txBody>
          <a:bodyPr wrap="square" lIns="0" tIns="0" rIns="0" bIns="0" rtlCol="0" anchor="t"/>
          <a:lstStyle/>
          <a:p>
            <a:pPr indent="0" marL="0">
              <a:buNone/>
            </a:pPr>
            <a:r>
              <a:rPr lang="en-US" sz="1300" dirty="0">
                <a:solidFill>
                  <a:schemeClr val="accent6"/>
                </a:solidFill>
              </a:rPr>
              <a:t>강사의 실제 사용 모습을 담은 콘텐츠</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txBox="1"/>
          <p:nvPr/>
        </p:nvSpPr>
        <p:spPr>
          <a:xfrm>
            <a:off x="548640" y="1463040"/>
            <a:ext cx="6400800" cy="548640"/>
          </a:xfrm>
          <a:prstGeom prst="rect">
            <a:avLst/>
          </a:prstGeom>
          <a:noFill/>
          <a:ln/>
        </p:spPr>
        <p:txBody>
          <a:bodyPr wrap="square" lIns="0" tIns="0" rIns="0" bIns="0" rtlCol="0" anchor="t"/>
          <a:lstStyle/>
          <a:p>
            <a:pPr indent="0" marL="0">
              <a:buNone/>
            </a:pPr>
            <a:r>
              <a:rPr lang="en-US" sz="2200" b="1" dirty="0">
                <a:solidFill>
                  <a:schemeClr val="accent1"/>
                </a:solidFill>
              </a:rPr>
              <a:t>AllBlue</a:t>
            </a:r>
            <a:endParaRPr lang="en-US" sz="2200" dirty="0"/>
          </a:p>
        </p:txBody>
      </p:sp>
      <p:sp>
        <p:nvSpPr>
          <p:cNvPr id="4" name="Text 1"/>
          <p:cNvSpPr txBox="1"/>
          <p:nvPr/>
        </p:nvSpPr>
        <p:spPr>
          <a:xfrm>
            <a:off x="548640" y="2103120"/>
            <a:ext cx="6675120" cy="1737360"/>
          </a:xfrm>
          <a:prstGeom prst="rect">
            <a:avLst/>
          </a:prstGeom>
          <a:noFill/>
          <a:ln/>
        </p:spPr>
        <p:txBody>
          <a:bodyPr wrap="square" lIns="0" tIns="0" rIns="0" bIns="0" rtlCol="0" anchor="t"/>
          <a:lstStyle/>
          <a:p>
            <a:pPr indent="0" marL="0">
              <a:buNone/>
            </a:pPr>
            <a:r>
              <a:rPr lang="en-US" sz="4800" b="1" dirty="0">
                <a:solidFill>
                  <a:schemeClr val="bg1"/>
                </a:solidFill>
              </a:rPr>
              <a:t>수업이 끝나도,</a:t>
            </a:r>
            <a:endParaRPr lang="en-US" sz="4800" dirty="0"/>
          </a:p>
          <a:p>
            <a:pPr indent="0" marL="0">
              <a:buNone/>
            </a:pPr>
            <a:r>
              <a:rPr lang="en-US" sz="4800" b="1" dirty="0">
                <a:solidFill>
                  <a:schemeClr val="bg1"/>
                </a:solidFill>
              </a:rPr>
              <a:t>기록은 이어집니다</a:t>
            </a:r>
            <a:endParaRPr lang="en-US" sz="4800" dirty="0"/>
          </a:p>
        </p:txBody>
      </p:sp>
      <p:sp>
        <p:nvSpPr>
          <p:cNvPr id="5" name="Text 2"/>
          <p:cNvSpPr txBox="1"/>
          <p:nvPr/>
        </p:nvSpPr>
        <p:spPr>
          <a:xfrm>
            <a:off x="548640" y="3931920"/>
            <a:ext cx="6400800" cy="685800"/>
          </a:xfrm>
          <a:prstGeom prst="rect">
            <a:avLst/>
          </a:prstGeom>
          <a:noFill/>
          <a:ln/>
        </p:spPr>
        <p:txBody>
          <a:bodyPr wrap="square" lIns="0" tIns="0" rIns="0" bIns="0" rtlCol="0" anchor="t"/>
          <a:lstStyle/>
          <a:p>
            <a:pPr indent="0" marL="0">
              <a:buNone/>
            </a:pPr>
            <a:r>
              <a:rPr lang="en-US" sz="1500" dirty="0">
                <a:solidFill>
                  <a:schemeClr val="accent6"/>
                </a:solidFill>
              </a:rPr>
              <a:t>프리다이빙 강사와 교육생을 위한 교육 운영 앱</a:t>
            </a:r>
            <a:endParaRPr lang="en-US" sz="1500" dirty="0"/>
          </a:p>
          <a:p>
            <a:pPr indent="0" marL="0">
              <a:buNone/>
            </a:pPr>
            <a:r>
              <a:rPr lang="en-US" sz="1500" dirty="0">
                <a:solidFill>
                  <a:schemeClr val="accent6"/>
                </a:solidFill>
              </a:rPr>
              <a:t>2026년 10월 정식 출시 예정</a:t>
            </a:r>
            <a:endParaRPr lang="en-US" sz="1500" dirty="0"/>
          </a:p>
        </p:txBody>
      </p:sp>
      <p:sp>
        <p:nvSpPr>
          <p:cNvPr id="6" name="Text 3"/>
          <p:cNvSpPr txBox="1"/>
          <p:nvPr/>
        </p:nvSpPr>
        <p:spPr>
          <a:xfrm>
            <a:off x="548640" y="5120640"/>
            <a:ext cx="4572000" cy="548640"/>
          </a:xfrm>
          <a:prstGeom prst="rect">
            <a:avLst/>
          </a:prstGeom>
          <a:noFill/>
          <a:ln/>
        </p:spPr>
        <p:txBody>
          <a:bodyPr wrap="square" lIns="0" tIns="0" rIns="0" bIns="0" rtlCol="0" anchor="t"/>
          <a:lstStyle/>
          <a:p>
            <a:pPr indent="0" marL="0">
              <a:buNone/>
            </a:pPr>
            <a:r>
              <a:rPr lang="en-US" sz="2800" b="1" dirty="0">
                <a:solidFill>
                  <a:schemeClr val="bg1"/>
                </a:solidFill>
              </a:rPr>
              <a:t>감사합니다</a:t>
            </a:r>
            <a:endParaRPr lang="en-US" sz="2800" dirty="0"/>
          </a:p>
        </p:txBody>
      </p:sp>
      <p:sp>
        <p:nvSpPr>
          <p:cNvPr id="7" name="Text 4"/>
          <p:cNvSpPr txBox="1"/>
          <p:nvPr/>
        </p:nvSpPr>
        <p:spPr>
          <a:xfrm>
            <a:off x="548640" y="5715000"/>
            <a:ext cx="4572000" cy="320040"/>
          </a:xfrm>
          <a:prstGeom prst="rect">
            <a:avLst/>
          </a:prstGeom>
          <a:noFill/>
          <a:ln/>
        </p:spPr>
        <p:txBody>
          <a:bodyPr wrap="square" lIns="0" tIns="0" rIns="0" bIns="0" rtlCol="0" anchor="t"/>
          <a:lstStyle/>
          <a:p>
            <a:pPr indent="0" marL="0">
              <a:buNone/>
            </a:pPr>
            <a:r>
              <a:rPr lang="en-US" sz="1400" dirty="0">
                <a:solidFill>
                  <a:schemeClr val="accent5"/>
                </a:solidFill>
              </a:rPr>
              <a:t>럼바우  |  대표 남상현</a:t>
            </a:r>
            <a:endParaRPr lang="en-US" sz="1400" dirty="0"/>
          </a:p>
        </p:txBody>
      </p:sp>
      <p:pic>
        <p:nvPicPr>
          <p:cNvPr id="8" name="phone 10_feature_8.png" descr="AllBlue 앱 화면">    </p:cNvPr>
          <p:cNvPicPr>
            <a:picLocks noChangeAspect="1"/>
          </p:cNvPicPr>
          <p:nvPr/>
        </p:nvPicPr>
        <p:blipFill>
          <a:blip r:embed="rId1"/>
          <a:stretch>
            <a:fillRect/>
          </a:stretch>
        </p:blipFill>
        <p:spPr>
          <a:xfrm rot="-420000">
            <a:off x="7315200" y="1371600"/>
            <a:ext cx="2132608" cy="4480560"/>
          </a:xfrm>
          <a:prstGeom prst="rect">
            <a:avLst/>
          </a:prstGeom>
        </p:spPr>
      </p:pic>
      <p:pic>
        <p:nvPicPr>
          <p:cNvPr id="9" name="phone 09_feature_7.png" descr="AllBlue 앱 화면">    </p:cNvPr>
          <p:cNvPicPr>
            <a:picLocks noChangeAspect="1"/>
          </p:cNvPicPr>
          <p:nvPr/>
        </p:nvPicPr>
        <p:blipFill>
          <a:blip r:embed="rId2"/>
          <a:stretch>
            <a:fillRect/>
          </a:stretch>
        </p:blipFill>
        <p:spPr>
          <a:xfrm rot="300000">
            <a:off x="9281160" y="914400"/>
            <a:ext cx="2437266" cy="5120640"/>
          </a:xfrm>
          <a:prstGeom prst="rect">
            <a:avLst/>
          </a:prstGeom>
          <a:effectLst>
            <a:outerShdw sx="100000" sy="100000" kx="0" ky="0" algn="bl" rotWithShape="0" blurRad="228600" dist="76200" dir="5400000">
              <a:srgbClr val="000000">
                <a:alpha val="35000"/>
              </a:srgbClr>
            </a:outerShdw>
          </a:effectLst>
        </p:spPr>
      </p:pic>
    </p:spTree>
  </p:cSld>
  <p:clrMapOvr>
    <a:masterClrMapping/>
  </p:clrMapOvr>
</p:sld>
</file>

<file path=ppt/theme/theme1.xml><?xml version="1.0" encoding="utf-8"?>
<a:theme xmlns:a="http://schemas.openxmlformats.org/drawingml/2006/main" name="AllBlue Deep Sea">
  <a:themeElements>
    <a:clrScheme name="AllBlue Deep Sea">
      <a:dk1>
        <a:srgbClr val="0F2A44"/>
      </a:dk1>
      <a:lt1>
        <a:srgbClr val="FFFFFF"/>
      </a:lt1>
      <a:dk2>
        <a:srgbClr val="0A2540"/>
      </a:dk2>
      <a:lt2>
        <a:srgbClr val="F2F6FA"/>
      </a:lt2>
      <a:accent1>
        <a:srgbClr val="2EC4E8"/>
      </a:accent1>
      <a:accent2>
        <a:srgbClr val="1B4F8A"/>
      </a:accent2>
      <a:accent3>
        <a:srgbClr val="F2A33A"/>
      </a:accent3>
      <a:accent4>
        <a:srgbClr val="5D738A"/>
      </a:accent4>
      <a:accent5>
        <a:srgbClr val="9FC3DE"/>
      </a:accent5>
      <a:accent6>
        <a:srgbClr val="DCEAF5"/>
      </a:accent6>
      <a:hlink>
        <a:srgbClr val="1B4F8A"/>
      </a:hlink>
      <a:folHlink>
        <a:srgbClr val="5D738A"/>
      </a:folHlink>
    </a:clrScheme>
    <a:fontScheme name="AllBlue Deep Sea">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AllBlue - 프리다이빙 교육 운영 서비스</dc:title>
  <dc:subject>PptxGenJS Presentation</dc:subject>
  <dc:creator>럼바우 남상현</dc:creator>
  <cp:lastModifiedBy>럼바우 남상현</cp:lastModifiedBy>
  <cp:revision>1</cp:revision>
  <dcterms:created xsi:type="dcterms:W3CDTF">2026-10-20T04:30:33Z</dcterms:created>
  <dcterms:modified xsi:type="dcterms:W3CDTF">2026-10-20T04:30:33Z</dcterms:modified>
</cp:coreProperties>
</file>