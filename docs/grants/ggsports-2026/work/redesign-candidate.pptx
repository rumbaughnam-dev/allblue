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cf1cc5057a4658" /><Relationship Type="http://schemas.openxmlformats.org/officeDocument/2006/relationships/extended-properties" Target="/docProps/app.xml" Id="Rb95679bf779446bf" /><Relationship Type="http://schemas.openxmlformats.org/officeDocument/2006/relationships/officeDocument" Target="/ppt/presentation.xml" Id="Rdcb6f1325fda4c16" /></Relationships>
</file>

<file path=ppt/presentation.xml><?xml version="1.0" encoding="utf-8"?>
<p:presentation xmlns:p="http://schemas.openxmlformats.org/presentationml/2006/main">
  <p:sldMasterIdLst>
    <p:sldMasterId xmlns:r="http://schemas.openxmlformats.org/officeDocument/2006/relationships" id="2147483648" r:id="Ra5b3875520084e7b"/>
  </p:sldMasterIdLst>
  <p:notesMasterIdLst>
    <p:notesMasterId xmlns:r="http://schemas.openxmlformats.org/officeDocument/2006/relationships" r:id="R7fb46ae7c2294ffc"/>
  </p:notesMasterIdLst>
  <p:sldIdLst>
    <p:sldId xmlns:r="http://schemas.openxmlformats.org/officeDocument/2006/relationships" id="256" r:id="R2e125dc9132241c9"/>
    <p:sldId xmlns:r="http://schemas.openxmlformats.org/officeDocument/2006/relationships" id="257" r:id="R24c6a892ea624eb5"/>
    <p:sldId xmlns:r="http://schemas.openxmlformats.org/officeDocument/2006/relationships" id="258" r:id="R7aa054dfcd384a39"/>
    <p:sldId xmlns:r="http://schemas.openxmlformats.org/officeDocument/2006/relationships" id="259" r:id="R1fb80805ddb14745"/>
    <p:sldId xmlns:r="http://schemas.openxmlformats.org/officeDocument/2006/relationships" id="260" r:id="R2a8b1c86b24d4ae5"/>
    <p:sldId xmlns:r="http://schemas.openxmlformats.org/officeDocument/2006/relationships" id="261" r:id="Rdb4bacbeb2f44dda"/>
    <p:sldId xmlns:r="http://schemas.openxmlformats.org/officeDocument/2006/relationships" id="262" r:id="Ra5cdec5495d54f2f"/>
    <p:sldId xmlns:r="http://schemas.openxmlformats.org/officeDocument/2006/relationships" id="263" r:id="Rf4e947dec57c44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ce22caaa07468e" /><Relationship Type="http://schemas.openxmlformats.org/officeDocument/2006/relationships/slideMaster" Target="/ppt/slideMasters/slideMaster1.xml" Id="Ra5b3875520084e7b" /><Relationship Type="http://schemas.openxmlformats.org/officeDocument/2006/relationships/notesMaster" Target="/ppt/notesMasters/notesMaster1.xml" Id="R7fb46ae7c2294ffc" /><Relationship Type="http://schemas.openxmlformats.org/officeDocument/2006/relationships/presProps" Target="/ppt/presProps.xml" Id="R06abb1998f3c4220" /><Relationship Type="http://schemas.openxmlformats.org/officeDocument/2006/relationships/tableStyles" Target="/ppt/tableStyles.xml" Id="Rb5b95eb012ab4a80" /><Relationship Type="http://schemas.openxmlformats.org/officeDocument/2006/relationships/slide" Target="/ppt/slides/slide1.xml" Id="R2e125dc9132241c9" /><Relationship Type="http://schemas.openxmlformats.org/officeDocument/2006/relationships/slide" Target="/ppt/slides/slide2.xml" Id="R24c6a892ea624eb5" /><Relationship Type="http://schemas.openxmlformats.org/officeDocument/2006/relationships/slide" Target="/ppt/slides/slide3.xml" Id="R7aa054dfcd384a39" /><Relationship Type="http://schemas.openxmlformats.org/officeDocument/2006/relationships/slide" Target="/ppt/slides/slide4.xml" Id="R1fb80805ddb14745" /><Relationship Type="http://schemas.openxmlformats.org/officeDocument/2006/relationships/slide" Target="/ppt/slides/slide5.xml" Id="R2a8b1c86b24d4ae5" /><Relationship Type="http://schemas.openxmlformats.org/officeDocument/2006/relationships/slide" Target="/ppt/slides/slide6.xml" Id="Rdb4bacbeb2f44dda" /><Relationship Type="http://schemas.openxmlformats.org/officeDocument/2006/relationships/slide" Target="/ppt/slides/slide7.xml" Id="Ra5cdec5495d54f2f" /><Relationship Type="http://schemas.openxmlformats.org/officeDocument/2006/relationships/slide" Target="/ppt/slides/slide8.xml" Id="Rf4e947dec57c44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2901e4b21b4c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cdae23eb494c09" /><Relationship Type="http://schemas.openxmlformats.org/officeDocument/2006/relationships/notesMaster" Target="/ppt/notesMasters/notesMaster1.xml" Id="R2d06c5066d7241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8c5cf483aa4a3e" /><Relationship Type="http://schemas.openxmlformats.org/officeDocument/2006/relationships/notesMaster" Target="/ppt/notesMasters/notesMaster1.xml" Id="R1ec134afa79048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0ef01e608e4be3" /><Relationship Type="http://schemas.openxmlformats.org/officeDocument/2006/relationships/notesMaster" Target="/ppt/notesMasters/notesMaster1.xml" Id="Rb29f34503f5445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a99f80e06e4fa7" /><Relationship Type="http://schemas.openxmlformats.org/officeDocument/2006/relationships/notesMaster" Target="/ppt/notesMasters/notesMaster1.xml" Id="Reb909aaa369c4f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ed8cafa2bd4dbc" /><Relationship Type="http://schemas.openxmlformats.org/officeDocument/2006/relationships/notesMaster" Target="/ppt/notesMasters/notesMaster1.xml" Id="R37c53d7815c245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63b1fb20a34360" /><Relationship Type="http://schemas.openxmlformats.org/officeDocument/2006/relationships/notesMaster" Target="/ppt/notesMasters/notesMaster1.xml" Id="R6a7e48e568ed42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bf5e79cb054cda" /><Relationship Type="http://schemas.openxmlformats.org/officeDocument/2006/relationships/notesMaster" Target="/ppt/notesMasters/notesMaster1.xml" Id="Rb2febc65fe494b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148eb06a874255" /><Relationship Type="http://schemas.openxmlformats.org/officeDocument/2006/relationships/notesMaster" Target="/ppt/notesMasters/notesMaster1.xml" Id="R10da11e314ee43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럼바우 대표 남상현입니다. AllBlue는 프리다이빙 강사의 교육 일정, 교육생 진도, 수업 피드백을 연결하는 앱입니다. 현재 정식 출시 전이며 2026년 10월 안에 출시할 예정입니다. 출처: 대표자 확인(2026-10-16). 우측 이미지는 사용자 제공 앱 홍보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프리다이빙 교육 현장에서 교육생 진도를 엑셀로 관리하는 경우를 보았습니다. 이는 대표자와 협업 강사의 현장 관찰이며 업계 전체 조사 통계가 아닙니다. 수업 전에는 지난 진도를 찾고, 수업 후에는 결과를 정리하고, 다음 수업 준비 때 다시 기록을 확인합니다. AllBlue는 이 반복 업무에서 출발했습니다. 출처: 사용자 제공 경험.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[80초, 시연45초 포함] 일정에서 참여 교육생을 확인하고 수업 후 피드백을 기록하는 흐름입니다. 시연은 테스트용 일정 선택, 교육생 확인, 진도 확인, 피드백 저장 순서로 진행합니다. 네트워크가 불안정할 경우 이 화면으로 설명합니다. 화면 출처: 사용자 제공 04_feature_2, 07_feature_5, 06_feature_4. 현재 구현된 교육 운영 기능이며 대회 운영 엔진을 구현했다고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교육생마다 AIDA 과정별 개방수역 및 풀 요건을 항목별로 확인합니다. 강사는 현재 진행 상태를 보고 다음 수업을 준비합니다. 앱은 기록 도구이며 자격 판단과 교육 판단은 강사가 맡습니다. 출처: 사용자 제공 05_feature_3 앱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강사와 교육생의 관계를 그룹으로 관리하고 날짜와 장소별 일정을 확인합니다. 핵심은 단발성 메모가 아니라 같은 교육생과 다음 수업에서도 기록을 이어 보는 것입니다. 출처: 사용자 제공 03_feature_1, 08_feature_6 앱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초기 고객은 프리다이빙 강사와 해당 강사의 교육생입니다. 강사에게 월3900원 구독료를 받는 계획이며 최초3개월 무료로 제공합니다. 먹보야 놀자 유튜브 협업을 통해 소개하고 초기 사용자 의견으로 개선할 계획입니다. 가격과 유료화는 계획이며 유료 전환 실적이 아닙니다. 광고 등 업체 협력은 추후 검토합니다. 출처: 사용자 확인 가격 계획 및 협업.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[70초] 현재 정식 출시 전이며 2026년10월 내 출시 예정입니다. 출시 뒤에는 기록 작성 시간과 누락, 다음 수업에서 기록을 다시 쓰는지 확인할 계획입니다. 효과 측정 결과는 아직 없습니다. 프리다이빙에서 검증한 뒤 다른 종목별 교육 항목 적용을 검토합니다. 공모전 연계 실증 제안은 참가자의 훈련 및 사전교육 기록 관리이며 아직 협약이나 구현된 대회 기능이 아닙니다. 출처: 사용자 출시 계획2026-10-16 및 사업 확장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[55초] 대표자는 개발14년차, 프리다이빙3년차, AIDALevel2입니다. 대표자1인이 개발 운영을 맡고 AIDAInstructor협업자가 현장 의견을 제공합니다. 해결하려는 문제를 직접 경험하는 개발자로서 다음 수업에도 쓰이는 제품을 만들겠습니다. 출처: 사용자 확인 경력 및 인력 구성. 전체420초(7분),시연45초 포함.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5d584f8f0040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84d2e43ce34f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cf041efc5f40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f3e275bf6149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25669d980a4c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bbb27fcaa9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1C24AA-07B9-4B55-B58B-3572A33EFD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62BCD7-FD9F-4EF8-B9A6-36D3DDF6B2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87236D-E16A-4703-A90D-E7EA0D888A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266668-326C-4D15-9931-B6B3BEB9D7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D71763-1587-43AF-848C-309DBBFAEE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557534-FD00-41B3-90EB-27144CC226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D664E-44A3-4541-A161-C193D2AE80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E87776-870A-4D5C-A571-BCC5813627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4A6F7F-8F76-4C2E-A0CF-E5FE726B49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EB2E45-09D8-4EE0-9B83-78E08C03E4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89ec6617de4c94" /><Relationship Type="http://schemas.openxmlformats.org/officeDocument/2006/relationships/slideLayout" Target="/ppt/slideLayouts/slideLayout1.xml" Id="Rbfec129f10904442" /><Relationship Type="http://schemas.openxmlformats.org/officeDocument/2006/relationships/slideLayout" Target="/ppt/slideLayouts/slideLayout2.xml" Id="R0ea8aff637bc413a" /><Relationship Type="http://schemas.openxmlformats.org/officeDocument/2006/relationships/slideLayout" Target="/ppt/slideLayouts/slideLayout3.xml" Id="R4493a1c21be74d96" /><Relationship Type="http://schemas.openxmlformats.org/officeDocument/2006/relationships/slideLayout" Target="/ppt/slideLayouts/slideLayout4.xml" Id="R8833f1b25e7f48e4" /><Relationship Type="http://schemas.openxmlformats.org/officeDocument/2006/relationships/slideLayout" Target="/ppt/slideLayouts/slideLayout5.xml" Id="R99a28ed4eb094aff" /><Relationship Type="http://schemas.openxmlformats.org/officeDocument/2006/relationships/slideLayout" Target="/ppt/slideLayouts/slideLayout6.xml" Id="R9231e7cfe69447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ec129f10904442"/>
    <p:sldLayoutId xmlns:r="http://schemas.openxmlformats.org/officeDocument/2006/relationships" id="2147483650" r:id="R0ea8aff637bc413a"/>
    <p:sldLayoutId xmlns:r="http://schemas.openxmlformats.org/officeDocument/2006/relationships" id="2147483651" r:id="R4493a1c21be74d96"/>
    <p:sldLayoutId xmlns:r="http://schemas.openxmlformats.org/officeDocument/2006/relationships" id="2147483652" r:id="R8833f1b25e7f48e4"/>
    <p:sldLayoutId xmlns:r="http://schemas.openxmlformats.org/officeDocument/2006/relationships" id="2147483653" r:id="R99a28ed4eb094aff"/>
    <p:sldLayoutId xmlns:r="http://schemas.openxmlformats.org/officeDocument/2006/relationships" id="2147483654" r:id="R9231e7cfe69447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14a92c4db445c3" /><Relationship Type="http://schemas.openxmlformats.org/officeDocument/2006/relationships/image" Target="/ppt/media/image.png" Id="R05a870d85edb4aa9" /><Relationship Type="http://schemas.openxmlformats.org/officeDocument/2006/relationships/notesSlide" Target="/ppt/notesSlides/notesSlide1.xml" Id="Rc7f43c8c990842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590ddd279d4627" /><Relationship Type="http://schemas.openxmlformats.org/officeDocument/2006/relationships/notesSlide" Target="/ppt/notesSlides/notesSlide2.xml" Id="R42eb58cc29b94c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830da0b01d4556" /><Relationship Type="http://schemas.openxmlformats.org/officeDocument/2006/relationships/image" Target="/ppt/media/image2.png" Id="Rcd779b867e61412a" /><Relationship Type="http://schemas.openxmlformats.org/officeDocument/2006/relationships/image" Target="/ppt/media/image3.png" Id="Rce6e5686ec4a4e25" /><Relationship Type="http://schemas.openxmlformats.org/officeDocument/2006/relationships/image" Target="/ppt/media/image4.png" Id="Rd330feddf251407c" /><Relationship Type="http://schemas.openxmlformats.org/officeDocument/2006/relationships/notesSlide" Target="/ppt/notesSlides/notesSlide3.xml" Id="R47bfc5a5fad94f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20e0441cc14dad" /><Relationship Type="http://schemas.openxmlformats.org/officeDocument/2006/relationships/image" Target="/ppt/media/image5.png" Id="R3b50dc7fe637413b" /><Relationship Type="http://schemas.openxmlformats.org/officeDocument/2006/relationships/notesSlide" Target="/ppt/notesSlides/notesSlide4.xml" Id="Ra24d25cef4b544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819307b31a4200" /><Relationship Type="http://schemas.openxmlformats.org/officeDocument/2006/relationships/image" Target="/ppt/media/image6.png" Id="R8e893b44345849e5" /><Relationship Type="http://schemas.openxmlformats.org/officeDocument/2006/relationships/image" Target="/ppt/media/image7.png" Id="Rba0f2d800415402e" /><Relationship Type="http://schemas.openxmlformats.org/officeDocument/2006/relationships/notesSlide" Target="/ppt/notesSlides/notesSlide5.xml" Id="Recc716f95a8141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b87011e9a0481b" /><Relationship Type="http://schemas.openxmlformats.org/officeDocument/2006/relationships/notesSlide" Target="/ppt/notesSlides/notesSlide6.xml" Id="Rdea8576ab72447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29a777b37044c7" /><Relationship Type="http://schemas.openxmlformats.org/officeDocument/2006/relationships/notesSlide" Target="/ppt/notesSlides/notesSlide7.xml" Id="R72e6306d85f54b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85b94914e242f8" /><Relationship Type="http://schemas.openxmlformats.org/officeDocument/2006/relationships/notesSlide" Target="/ppt/notesSlides/notesSlide8.xml" Id="R938311a6f2744e48" /></Relationships>
</file>

<file path=ppt/slides/slide1.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3661A5-138B-4479-876E-DACB07CBE49E}"/>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A437D60C-FFFE-4057-BB4F-B354B44C1FD2}"/>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01</a:t>
            </a:r>
          </a:p>
        </p:txBody>
      </p:sp>
      <p:pic>
        <p:nvPicPr>
          <p:cNvPr id="3" name="">
            <a:extLst xmlns:a="http://schemas.openxmlformats.org/drawingml/2006/main">
              <a:ext uri="{FF2B5EF4-FFF2-40B4-BE49-F238E27FC236}">
                <a16:creationId xmlns:a16="http://schemas.microsoft.com/office/drawing/2014/main" id="{B65C5040-52DB-4D15-8B98-9ADB0FE7DBA9}"/>
              </a:ext>
            </a:extLst>
          </p:cNvPr>
          <p:cNvPicPr>
            <a:picLocks xmlns:a="http://schemas.openxmlformats.org/drawingml/2006/main" noChangeAspect="1"/>
          </p:cNvPicPr>
          <p:nvPr/>
        </p:nvPicPr>
        <p:blipFill>
          <a:blip xmlns:r="http://schemas.openxmlformats.org/officeDocument/2006/relationships" xmlns:a="http://schemas.openxmlformats.org/drawingml/2006/main" r:embed="R05a870d85edb4aa9"/>
          <a:srcRect xmlns:a="http://schemas.openxmlformats.org/drawingml/2006/main" l="0" t="28000" r="0" b="0"/>
          <a:stretch xmlns:a="http://schemas.openxmlformats.org/drawingml/2006/main"/>
        </p:blipFill>
        <p:spPr>
          <a:xfrm xmlns:a="http://schemas.openxmlformats.org/drawingml/2006/main">
            <a:off x="7191375" y="0"/>
            <a:ext cx="5000625" cy="6191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F2E7FD-BB4E-4E31-9075-8C5CC6E92A9E}"/>
              </a:ext>
            </a:extLst>
          </p:cNvPr>
          <p:cNvSpPr>
            <a:spLocks xmlns:a="http://schemas.openxmlformats.org/drawingml/2006/main" noGrp="1"/>
          </p:cNvSpPr>
          <p:nvPr/>
        </p:nvSpPr>
        <p:spPr>
          <a:xfrm xmlns:a="http://schemas.openxmlformats.org/drawingml/2006/main">
            <a:off x="571500" y="714375"/>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0" b="1">
                <a:solidFill>
                  <a:srgbClr val="FFFFFF"/>
                </a:solidFill>
                <a:latin typeface="SUIT"/>
                <a:ea typeface="SUIT"/>
                <a:cs typeface="SUIT"/>
              </a:defRPr>
            </a:defPPr>
          </a:lstStyle>
          <a:p xmlns:a="http://schemas.openxmlformats.org/drawingml/2006/main">
            <a:pPr>
              <a:defRPr sz="8250" b="1">
                <a:solidFill>
                  <a:srgbClr val="FFFFFF"/>
                </a:solidFill>
                <a:latin typeface="SUIT"/>
                <a:ea typeface="SUIT"/>
                <a:cs typeface="SUIT"/>
              </a:defRPr>
            </a:pPr>
            <a:r>
              <a:rPr sz="8250" b="1">
                <a:solidFill>
                  <a:srgbClr val="FFFFFF"/>
                </a:solidFill>
                <a:latin typeface="SUIT"/>
                <a:ea typeface="SUIT"/>
                <a:cs typeface="SUIT"/>
              </a:rPr>
              <a:t>AllBlue</a:t>
            </a:r>
          </a:p>
        </p:txBody>
      </p:sp>
      <p:sp>
        <p:nvSpPr>
          <p:cNvPr id="5" name="">
            <a:extLst xmlns:a="http://schemas.openxmlformats.org/drawingml/2006/main">
              <a:ext uri="{FF2B5EF4-FFF2-40B4-BE49-F238E27FC236}">
                <a16:creationId xmlns:a16="http://schemas.microsoft.com/office/drawing/2014/main" id="{8F28A9B6-5BF8-4E0E-AD09-545CA5407B31}"/>
              </a:ext>
            </a:extLst>
          </p:cNvPr>
          <p:cNvSpPr>
            <a:spLocks xmlns:a="http://schemas.openxmlformats.org/drawingml/2006/main" noGrp="1"/>
          </p:cNvSpPr>
          <p:nvPr/>
        </p:nvSpPr>
        <p:spPr>
          <a:xfrm xmlns:a="http://schemas.openxmlformats.org/drawingml/2006/main">
            <a:off x="619125" y="2571750"/>
            <a:ext cx="676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SUIT"/>
                <a:ea typeface="SUIT"/>
                <a:cs typeface="SUIT"/>
              </a:defRPr>
            </a:defPPr>
          </a:lstStyle>
          <a:p xmlns:a="http://schemas.openxmlformats.org/drawingml/2006/main">
            <a:pPr>
              <a:defRPr sz="3675" b="1">
                <a:solidFill>
                  <a:srgbClr val="FFFFFF"/>
                </a:solidFill>
                <a:latin typeface="SUIT"/>
                <a:ea typeface="SUIT"/>
                <a:cs typeface="SUIT"/>
              </a:defRPr>
            </a:pPr>
            <a:r>
              <a:rPr sz="3675" b="1">
                <a:solidFill>
                  <a:srgbClr val="FFFFFF"/>
                </a:solidFill>
                <a:latin typeface="SUIT"/>
                <a:ea typeface="SUIT"/>
                <a:cs typeface="SUIT"/>
              </a:rPr>
              <a:t>프리다이빙 교육,</a:t>
            </a:r>
          </a:p>
          <a:p xmlns:a="http://schemas.openxmlformats.org/drawingml/2006/main">
            <a:pPr>
              <a:defRPr sz="3675" b="1">
                <a:solidFill>
                  <a:srgbClr val="FFFFFF"/>
                </a:solidFill>
                <a:latin typeface="SUIT"/>
                <a:ea typeface="SUIT"/>
                <a:cs typeface="SUIT"/>
              </a:defRPr>
            </a:pPr>
            <a:r>
              <a:rPr sz="3675" b="1">
                <a:solidFill>
                  <a:srgbClr val="FFFFFF"/>
                </a:solidFill>
                <a:latin typeface="SUIT"/>
                <a:ea typeface="SUIT"/>
                <a:cs typeface="SUIT"/>
              </a:rPr>
              <a:t>수업 다음까지 이어지게</a:t>
            </a:r>
          </a:p>
        </p:txBody>
      </p:sp>
      <p:sp>
        <p:nvSpPr>
          <p:cNvPr id="6" name="">
            <a:extLst xmlns:a="http://schemas.openxmlformats.org/drawingml/2006/main">
              <a:ext uri="{FF2B5EF4-FFF2-40B4-BE49-F238E27FC236}">
                <a16:creationId xmlns:a16="http://schemas.microsoft.com/office/drawing/2014/main" id="{20BA0213-0F43-4209-A284-1F2E75B5F37D}"/>
              </a:ext>
            </a:extLst>
          </p:cNvPr>
          <p:cNvSpPr>
            <a:spLocks xmlns:a="http://schemas.openxmlformats.org/drawingml/2006/main" noGrp="1"/>
          </p:cNvSpPr>
          <p:nvPr/>
        </p:nvSpPr>
        <p:spPr>
          <a:xfrm xmlns:a="http://schemas.openxmlformats.org/drawingml/2006/main">
            <a:off x="647700" y="4429125"/>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2C4E9"/>
                </a:solidFill>
                <a:latin typeface="SUIT"/>
                <a:ea typeface="SUIT"/>
                <a:cs typeface="SUIT"/>
              </a:defRPr>
            </a:defPPr>
          </a:lstStyle>
          <a:p xmlns:a="http://schemas.openxmlformats.org/drawingml/2006/main">
            <a:pPr>
              <a:defRPr sz="2175" b="0">
                <a:solidFill>
                  <a:srgbClr val="32C4E9"/>
                </a:solidFill>
                <a:latin typeface="SUIT"/>
                <a:ea typeface="SUIT"/>
                <a:cs typeface="SUIT"/>
              </a:defRPr>
            </a:pPr>
            <a:r>
              <a:rPr sz="2175" b="0">
                <a:solidFill>
                  <a:srgbClr val="32C4E9"/>
                </a:solidFill>
                <a:latin typeface="SUIT"/>
                <a:ea typeface="SUIT"/>
                <a:cs typeface="SUIT"/>
              </a:rPr>
              <a:t>일정 · 교육생 진도 · 수업 피드백</a:t>
            </a:r>
          </a:p>
        </p:txBody>
      </p:sp>
      <p:sp>
        <p:nvSpPr>
          <p:cNvPr id="7" name="">
            <a:extLst xmlns:a="http://schemas.openxmlformats.org/drawingml/2006/main">
              <a:ext uri="{FF2B5EF4-FFF2-40B4-BE49-F238E27FC236}">
                <a16:creationId xmlns:a16="http://schemas.microsoft.com/office/drawing/2014/main" id="{BCAFC053-B0A3-4FA5-99B0-8C09A46A2ACD}"/>
              </a:ext>
            </a:extLst>
          </p:cNvPr>
          <p:cNvSpPr>
            <a:spLocks xmlns:a="http://schemas.openxmlformats.org/drawingml/2006/main" noGrp="1"/>
          </p:cNvSpPr>
          <p:nvPr/>
        </p:nvSpPr>
        <p:spPr>
          <a:xfrm xmlns:a="http://schemas.openxmlformats.org/drawingml/2006/main">
            <a:off x="647700" y="538162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9D3E7"/>
                </a:solidFill>
                <a:latin typeface="SUIT"/>
                <a:ea typeface="SUIT"/>
                <a:cs typeface="SUIT"/>
              </a:defRPr>
            </a:defPPr>
          </a:lstStyle>
          <a:p xmlns:a="http://schemas.openxmlformats.org/drawingml/2006/main">
            <a:pPr>
              <a:defRPr sz="1650" b="0">
                <a:solidFill>
                  <a:srgbClr val="B9D3E7"/>
                </a:solidFill>
                <a:latin typeface="SUIT"/>
                <a:ea typeface="SUIT"/>
                <a:cs typeface="SUIT"/>
              </a:defRPr>
            </a:pPr>
            <a:r>
              <a:rPr sz="1650" b="0">
                <a:solidFill>
                  <a:srgbClr val="B9D3E7"/>
                </a:solidFill>
                <a:latin typeface="SUIT"/>
                <a:ea typeface="SUIT"/>
                <a:cs typeface="SUIT"/>
              </a:rPr>
              <a:t>2026 경기스포츠산업 공모전</a:t>
            </a:r>
          </a:p>
          <a:p xmlns:a="http://schemas.openxmlformats.org/drawingml/2006/main">
            <a:pPr>
              <a:defRPr sz="1650" b="0">
                <a:solidFill>
                  <a:srgbClr val="B9D3E7"/>
                </a:solidFill>
                <a:latin typeface="SUIT"/>
                <a:ea typeface="SUIT"/>
                <a:cs typeface="SUIT"/>
              </a:defRPr>
            </a:pPr>
            <a:r>
              <a:rPr sz="1650" b="0">
                <a:solidFill>
                  <a:srgbClr val="B9D3E7"/>
                </a:solidFill>
                <a:latin typeface="SUIT"/>
                <a:ea typeface="SUIT"/>
                <a:cs typeface="SUIT"/>
              </a:rPr>
              <a:t>럼바우  |  남상현</a:t>
            </a:r>
          </a:p>
        </p:txBody>
      </p:sp>
    </p:spTree>
    <p:extLst>
      <p:ext uri="{BB962C8B-B14F-4D97-AF65-F5344CB8AC3E}">
        <p14:creationId xmlns:p14="http://schemas.microsoft.com/office/powerpoint/2010/main" val="701000761"/>
      </p:ext>
    </p:extLst>
  </p:cSld>
</p:sld>
</file>

<file path=ppt/slides/slide2.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C84930-90D2-4A5D-9CB3-B73C9B3A5913}"/>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74F69DA4-BEF5-4F61-B7DE-FF00D6D92B0F}"/>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02</a:t>
            </a:r>
          </a:p>
        </p:txBody>
      </p:sp>
      <p:sp>
        <p:nvSpPr>
          <p:cNvPr id="3" name="">
            <a:extLst xmlns:a="http://schemas.openxmlformats.org/drawingml/2006/main">
              <a:ext uri="{FF2B5EF4-FFF2-40B4-BE49-F238E27FC236}">
                <a16:creationId xmlns:a16="http://schemas.microsoft.com/office/drawing/2014/main" id="{38C5EA84-131E-4EA3-A231-21B985217789}"/>
              </a:ext>
            </a:extLst>
          </p:cNvPr>
          <p:cNvSpPr>
            <a:spLocks xmlns:a="http://schemas.openxmlformats.org/drawingml/2006/main" noGrp="1"/>
          </p:cNvSpPr>
          <p:nvPr/>
        </p:nvSpPr>
        <p:spPr>
          <a:xfrm xmlns:a="http://schemas.openxmlformats.org/drawingml/2006/main">
            <a:off x="571500" y="4953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E4C"/>
                </a:solidFill>
                <a:latin typeface="SUIT"/>
                <a:ea typeface="SUIT"/>
                <a:cs typeface="SUIT"/>
              </a:defRPr>
            </a:defPPr>
          </a:lstStyle>
          <a:p xmlns:a="http://schemas.openxmlformats.org/drawingml/2006/main">
            <a:pPr>
              <a:defRPr sz="3225" b="1">
                <a:solidFill>
                  <a:srgbClr val="102E4C"/>
                </a:solidFill>
                <a:latin typeface="SUIT"/>
                <a:ea typeface="SUIT"/>
                <a:cs typeface="SUIT"/>
              </a:defRPr>
            </a:pPr>
            <a:r>
              <a:rPr sz="3225" b="1">
                <a:solidFill>
                  <a:srgbClr val="102E4C"/>
                </a:solidFill>
                <a:latin typeface="SUIT"/>
                <a:ea typeface="SUIT"/>
                <a:cs typeface="SUIT"/>
              </a:rPr>
              <a:t>교육 현장의 출발점</a:t>
            </a:r>
          </a:p>
        </p:txBody>
      </p:sp>
      <p:sp>
        <p:nvSpPr>
          <p:cNvPr id="4" name="">
            <a:extLst xmlns:a="http://schemas.openxmlformats.org/drawingml/2006/main">
              <a:ext uri="{FF2B5EF4-FFF2-40B4-BE49-F238E27FC236}">
                <a16:creationId xmlns:a16="http://schemas.microsoft.com/office/drawing/2014/main" id="{451EB031-6A74-4719-8589-3D0DE67D24FA}"/>
              </a:ext>
            </a:extLst>
          </p:cNvPr>
          <p:cNvSpPr>
            <a:spLocks xmlns:a="http://schemas.openxmlformats.org/drawingml/2006/main" noGrp="1"/>
          </p:cNvSpPr>
          <p:nvPr/>
        </p:nvSpPr>
        <p:spPr>
          <a:xfrm xmlns:a="http://schemas.openxmlformats.org/drawingml/2006/main">
            <a:off x="619125" y="16192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74778"/>
                </a:solidFill>
                <a:latin typeface="SUIT"/>
                <a:ea typeface="SUIT"/>
                <a:cs typeface="SUIT"/>
              </a:defRPr>
            </a:defPPr>
          </a:lstStyle>
          <a:p xmlns:a="http://schemas.openxmlformats.org/drawingml/2006/main">
            <a:pPr>
              <a:defRPr sz="5100" b="1">
                <a:solidFill>
                  <a:srgbClr val="174778"/>
                </a:solidFill>
                <a:latin typeface="SUIT"/>
                <a:ea typeface="SUIT"/>
                <a:cs typeface="SUIT"/>
              </a:defRPr>
            </a:pPr>
            <a:r>
              <a:rPr sz="5100" b="1">
                <a:solidFill>
                  <a:srgbClr val="174778"/>
                </a:solidFill>
                <a:latin typeface="SUIT"/>
                <a:ea typeface="SUIT"/>
                <a:cs typeface="SUIT"/>
              </a:rPr>
              <a:t>“진도는 엑셀에,</a:t>
            </a:r>
          </a:p>
          <a:p xmlns:a="http://schemas.openxmlformats.org/drawingml/2006/main">
            <a:pPr>
              <a:defRPr sz="5100" b="1">
                <a:solidFill>
                  <a:srgbClr val="174778"/>
                </a:solidFill>
                <a:latin typeface="SUIT"/>
                <a:ea typeface="SUIT"/>
                <a:cs typeface="SUIT"/>
              </a:defRPr>
            </a:pPr>
            <a:r>
              <a:rPr sz="5100" b="1">
                <a:solidFill>
                  <a:srgbClr val="174778"/>
                </a:solidFill>
                <a:latin typeface="SUIT"/>
                <a:ea typeface="SUIT"/>
                <a:cs typeface="SUIT"/>
              </a:rPr>
              <a:t>다음 수업 준비는 다시.”</a:t>
            </a:r>
          </a:p>
        </p:txBody>
      </p:sp>
      <p:sp>
        <p:nvSpPr>
          <p:cNvPr id="5" name="">
            <a:extLst xmlns:a="http://schemas.openxmlformats.org/drawingml/2006/main">
              <a:ext uri="{FF2B5EF4-FFF2-40B4-BE49-F238E27FC236}">
                <a16:creationId xmlns:a16="http://schemas.microsoft.com/office/drawing/2014/main" id="{1314A87F-4B4E-40BF-B35E-5ED3CED55151}"/>
              </a:ext>
            </a:extLst>
          </p:cNvPr>
          <p:cNvSpPr>
            <a:spLocks xmlns:a="http://schemas.openxmlformats.org/drawingml/2006/main" noGrp="1"/>
          </p:cNvSpPr>
          <p:nvPr/>
        </p:nvSpPr>
        <p:spPr>
          <a:xfrm xmlns:a="http://schemas.openxmlformats.org/drawingml/2006/main">
            <a:off x="666750" y="41910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수업 전</a:t>
            </a:r>
          </a:p>
        </p:txBody>
      </p:sp>
      <p:sp>
        <p:nvSpPr>
          <p:cNvPr id="6" name="">
            <a:extLst xmlns:a="http://schemas.openxmlformats.org/drawingml/2006/main">
              <a:ext uri="{FF2B5EF4-FFF2-40B4-BE49-F238E27FC236}">
                <a16:creationId xmlns:a16="http://schemas.microsoft.com/office/drawing/2014/main" id="{1E5DD370-A54C-4CF5-8C7D-4CB914EC73ED}"/>
              </a:ext>
            </a:extLst>
          </p:cNvPr>
          <p:cNvSpPr>
            <a:spLocks xmlns:a="http://schemas.openxmlformats.org/drawingml/2006/main" noGrp="1"/>
          </p:cNvSpPr>
          <p:nvPr/>
        </p:nvSpPr>
        <p:spPr>
          <a:xfrm xmlns:a="http://schemas.openxmlformats.org/drawingml/2006/main">
            <a:off x="666750" y="47053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지난 진도 찾기</a:t>
            </a:r>
          </a:p>
        </p:txBody>
      </p:sp>
      <p:sp>
        <p:nvSpPr>
          <p:cNvPr id="7" name="">
            <a:extLst xmlns:a="http://schemas.openxmlformats.org/drawingml/2006/main">
              <a:ext uri="{FF2B5EF4-FFF2-40B4-BE49-F238E27FC236}">
                <a16:creationId xmlns:a16="http://schemas.microsoft.com/office/drawing/2014/main" id="{4BE6BC8E-462B-4568-BBB8-B4E03A0DC430}"/>
              </a:ext>
            </a:extLst>
          </p:cNvPr>
          <p:cNvSpPr>
            <a:spLocks xmlns:a="http://schemas.openxmlformats.org/drawingml/2006/main" noGrp="1"/>
          </p:cNvSpPr>
          <p:nvPr/>
        </p:nvSpPr>
        <p:spPr>
          <a:xfrm xmlns:a="http://schemas.openxmlformats.org/drawingml/2006/main">
            <a:off x="4810125" y="4191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수업 후</a:t>
            </a:r>
          </a:p>
        </p:txBody>
      </p:sp>
      <p:sp>
        <p:nvSpPr>
          <p:cNvPr id="8" name="">
            <a:extLst xmlns:a="http://schemas.openxmlformats.org/drawingml/2006/main">
              <a:ext uri="{FF2B5EF4-FFF2-40B4-BE49-F238E27FC236}">
                <a16:creationId xmlns:a16="http://schemas.microsoft.com/office/drawing/2014/main" id="{C85EAA1D-DE29-4B0D-9FC0-704A6EC1F0BC}"/>
              </a:ext>
            </a:extLst>
          </p:cNvPr>
          <p:cNvSpPr>
            <a:spLocks xmlns:a="http://schemas.openxmlformats.org/drawingml/2006/main" noGrp="1"/>
          </p:cNvSpPr>
          <p:nvPr/>
        </p:nvSpPr>
        <p:spPr>
          <a:xfrm xmlns:a="http://schemas.openxmlformats.org/drawingml/2006/main">
            <a:off x="4810125" y="47053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배운 내용 정리</a:t>
            </a:r>
          </a:p>
        </p:txBody>
      </p:sp>
      <p:sp>
        <p:nvSpPr>
          <p:cNvPr id="9" name="">
            <a:extLst xmlns:a="http://schemas.openxmlformats.org/drawingml/2006/main">
              <a:ext uri="{FF2B5EF4-FFF2-40B4-BE49-F238E27FC236}">
                <a16:creationId xmlns:a16="http://schemas.microsoft.com/office/drawing/2014/main" id="{C1ED0124-DF5D-4D9B-84A7-A3D1BC6FA21A}"/>
              </a:ext>
            </a:extLst>
          </p:cNvPr>
          <p:cNvSpPr>
            <a:spLocks xmlns:a="http://schemas.openxmlformats.org/drawingml/2006/main" noGrp="1"/>
          </p:cNvSpPr>
          <p:nvPr/>
        </p:nvSpPr>
        <p:spPr>
          <a:xfrm xmlns:a="http://schemas.openxmlformats.org/drawingml/2006/main">
            <a:off x="8858250" y="4191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다음 수업</a:t>
            </a:r>
          </a:p>
        </p:txBody>
      </p:sp>
      <p:sp>
        <p:nvSpPr>
          <p:cNvPr id="10" name="">
            <a:extLst xmlns:a="http://schemas.openxmlformats.org/drawingml/2006/main">
              <a:ext uri="{FF2B5EF4-FFF2-40B4-BE49-F238E27FC236}">
                <a16:creationId xmlns:a16="http://schemas.microsoft.com/office/drawing/2014/main" id="{79E5C604-749A-4D3E-9C25-D70F7D5D666E}"/>
              </a:ext>
            </a:extLst>
          </p:cNvPr>
          <p:cNvSpPr>
            <a:spLocks xmlns:a="http://schemas.openxmlformats.org/drawingml/2006/main" noGrp="1"/>
          </p:cNvSpPr>
          <p:nvPr/>
        </p:nvSpPr>
        <p:spPr>
          <a:xfrm xmlns:a="http://schemas.openxmlformats.org/drawingml/2006/main">
            <a:off x="8858250" y="47053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기록 다시 확인</a:t>
            </a:r>
          </a:p>
        </p:txBody>
      </p:sp>
      <p:sp>
        <p:nvSpPr>
          <p:cNvPr id="11" name="">
            <a:extLst xmlns:a="http://schemas.openxmlformats.org/drawingml/2006/main">
              <a:ext uri="{FF2B5EF4-FFF2-40B4-BE49-F238E27FC236}">
                <a16:creationId xmlns:a16="http://schemas.microsoft.com/office/drawing/2014/main" id="{77DBC605-D9CB-43D6-9BA3-C1C6F2108E6A}"/>
              </a:ext>
            </a:extLst>
          </p:cNvPr>
          <p:cNvSpPr>
            <a:spLocks xmlns:a="http://schemas.openxmlformats.org/drawingml/2006/main" noGrp="1"/>
          </p:cNvSpPr>
          <p:nvPr/>
        </p:nvSpPr>
        <p:spPr>
          <a:xfrm xmlns:a="http://schemas.openxmlformats.org/drawingml/2006/main">
            <a:off x="666750" y="5695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7084"/>
                </a:solidFill>
                <a:latin typeface="SUIT"/>
                <a:ea typeface="SUIT"/>
                <a:cs typeface="SUIT"/>
              </a:defRPr>
            </a:defPPr>
          </a:lstStyle>
          <a:p xmlns:a="http://schemas.openxmlformats.org/drawingml/2006/main">
            <a:pPr>
              <a:defRPr sz="1500" b="0">
                <a:solidFill>
                  <a:srgbClr val="597084"/>
                </a:solidFill>
                <a:latin typeface="SUIT"/>
                <a:ea typeface="SUIT"/>
                <a:cs typeface="SUIT"/>
              </a:defRPr>
            </a:pPr>
            <a:r>
              <a:rPr sz="1500" b="0">
                <a:solidFill>
                  <a:srgbClr val="597084"/>
                </a:solidFill>
                <a:latin typeface="SUIT"/>
                <a:ea typeface="SUIT"/>
                <a:cs typeface="SUIT"/>
              </a:rPr>
              <a:t>대표자·협업 강사의 현장 경험을 바탕으로 한 문제 정의</a:t>
            </a:r>
          </a:p>
        </p:txBody>
      </p:sp>
    </p:spTree>
    <p:extLst>
      <p:ext uri="{BB962C8B-B14F-4D97-AF65-F5344CB8AC3E}">
        <p14:creationId xmlns:p14="http://schemas.microsoft.com/office/powerpoint/2010/main" val="1597944125"/>
      </p:ext>
    </p:extLst>
  </p:cSld>
</p:sld>
</file>

<file path=ppt/slides/slide3.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BEBE70-A530-498D-9576-92965C8F0B48}"/>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196CDF68-2B87-4046-AC28-C8F9BCBA3CB9}"/>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03</a:t>
            </a:r>
          </a:p>
        </p:txBody>
      </p:sp>
      <p:sp>
        <p:nvSpPr>
          <p:cNvPr id="3" name="">
            <a:extLst xmlns:a="http://schemas.openxmlformats.org/drawingml/2006/main">
              <a:ext uri="{FF2B5EF4-FFF2-40B4-BE49-F238E27FC236}">
                <a16:creationId xmlns:a16="http://schemas.microsoft.com/office/drawing/2014/main" id="{6C2A7F80-9961-4B4B-8CCC-65A2962F43DB}"/>
              </a:ext>
            </a:extLst>
          </p:cNvPr>
          <p:cNvSpPr>
            <a:spLocks xmlns:a="http://schemas.openxmlformats.org/drawingml/2006/main" noGrp="1"/>
          </p:cNvSpPr>
          <p:nvPr/>
        </p:nvSpPr>
        <p:spPr>
          <a:xfrm xmlns:a="http://schemas.openxmlformats.org/drawingml/2006/main">
            <a:off x="571500" y="381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02E4C"/>
                </a:solidFill>
                <a:latin typeface="SUIT"/>
                <a:ea typeface="SUIT"/>
                <a:cs typeface="SUIT"/>
              </a:defRPr>
            </a:defPPr>
          </a:lstStyle>
          <a:p xmlns:a="http://schemas.openxmlformats.org/drawingml/2006/main">
            <a:pPr>
              <a:defRPr sz="3525" b="1">
                <a:solidFill>
                  <a:srgbClr val="102E4C"/>
                </a:solidFill>
                <a:latin typeface="SUIT"/>
                <a:ea typeface="SUIT"/>
                <a:cs typeface="SUIT"/>
              </a:defRPr>
            </a:pPr>
            <a:r>
              <a:rPr sz="3525" b="1">
                <a:solidFill>
                  <a:srgbClr val="102E4C"/>
                </a:solidFill>
                <a:latin typeface="SUIT"/>
                <a:ea typeface="SUIT"/>
                <a:cs typeface="SUIT"/>
              </a:rPr>
              <a:t>한 번의 수업을 앱 안에서 연결</a:t>
            </a:r>
          </a:p>
        </p:txBody>
      </p:sp>
      <p:sp>
        <p:nvSpPr>
          <p:cNvPr id="4" name="">
            <a:extLst xmlns:a="http://schemas.openxmlformats.org/drawingml/2006/main">
              <a:ext uri="{FF2B5EF4-FFF2-40B4-BE49-F238E27FC236}">
                <a16:creationId xmlns:a16="http://schemas.microsoft.com/office/drawing/2014/main" id="{12DA5595-429E-402F-A403-D906DEA369EE}"/>
              </a:ext>
            </a:extLst>
          </p:cNvPr>
          <p:cNvSpPr>
            <a:spLocks xmlns:a="http://schemas.openxmlformats.org/drawingml/2006/main" noGrp="1"/>
          </p:cNvSpPr>
          <p:nvPr/>
        </p:nvSpPr>
        <p:spPr>
          <a:xfrm xmlns:a="http://schemas.openxmlformats.org/drawingml/2006/main">
            <a:off x="97155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01  일정 선택</a:t>
            </a:r>
          </a:p>
        </p:txBody>
      </p:sp>
      <p:pic>
        <p:nvPicPr>
          <p:cNvPr id="5" name="">
            <a:extLst xmlns:a="http://schemas.openxmlformats.org/drawingml/2006/main">
              <a:ext uri="{FF2B5EF4-FFF2-40B4-BE49-F238E27FC236}">
                <a16:creationId xmlns:a16="http://schemas.microsoft.com/office/drawing/2014/main" id="{57235EA1-1FB6-4C1B-9F29-8B96597C0A48}"/>
              </a:ext>
            </a:extLst>
          </p:cNvPr>
          <p:cNvPicPr>
            <a:picLocks xmlns:a="http://schemas.openxmlformats.org/drawingml/2006/main" noChangeAspect="1"/>
          </p:cNvPicPr>
          <p:nvPr/>
        </p:nvPicPr>
        <p:blipFill>
          <a:blip xmlns:r="http://schemas.openxmlformats.org/officeDocument/2006/relationships" xmlns:a="http://schemas.openxmlformats.org/drawingml/2006/main" r:embed="Rcd779b867e61412a"/>
          <a:srcRect xmlns:a="http://schemas.openxmlformats.org/drawingml/2006/main" l="12000" t="25500" r="12000" b="2000"/>
          <a:stretch xmlns:a="http://schemas.openxmlformats.org/drawingml/2006/main"/>
        </p:blipFill>
        <p:spPr>
          <a:xfrm xmlns:a="http://schemas.openxmlformats.org/drawingml/2006/main">
            <a:off x="1047750" y="1838325"/>
            <a:ext cx="2333625" cy="4143375"/>
          </a:xfrm>
          <a:prstGeom xmlns:a="http://schemas.openxmlformats.org/drawingml/2006/main" prst="roundRect">
            <a:avLst>
              <a:gd name="adj" fmla="val 16327"/>
            </a:avLst>
          </a:prstGeom>
        </p:spPr>
      </p:pic>
      <p:sp>
        <p:nvSpPr>
          <p:cNvPr id="6" name="">
            <a:extLst xmlns:a="http://schemas.openxmlformats.org/drawingml/2006/main">
              <a:ext uri="{FF2B5EF4-FFF2-40B4-BE49-F238E27FC236}">
                <a16:creationId xmlns:a16="http://schemas.microsoft.com/office/drawing/2014/main" id="{2643C019-3440-4956-867B-508755C96978}"/>
              </a:ext>
            </a:extLst>
          </p:cNvPr>
          <p:cNvSpPr>
            <a:spLocks xmlns:a="http://schemas.openxmlformats.org/drawingml/2006/main" noGrp="1"/>
          </p:cNvSpPr>
          <p:nvPr/>
        </p:nvSpPr>
        <p:spPr>
          <a:xfrm xmlns:a="http://schemas.openxmlformats.org/drawingml/2006/main">
            <a:off x="468630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02  교육생 확인</a:t>
            </a:r>
          </a:p>
        </p:txBody>
      </p:sp>
      <p:pic>
        <p:nvPicPr>
          <p:cNvPr id="7" name="">
            <a:extLst xmlns:a="http://schemas.openxmlformats.org/drawingml/2006/main">
              <a:ext uri="{FF2B5EF4-FFF2-40B4-BE49-F238E27FC236}">
                <a16:creationId xmlns:a16="http://schemas.microsoft.com/office/drawing/2014/main" id="{45EC22BF-3D5E-465B-BBC9-DDD7F1006233}"/>
              </a:ext>
            </a:extLst>
          </p:cNvPr>
          <p:cNvPicPr>
            <a:picLocks xmlns:a="http://schemas.openxmlformats.org/drawingml/2006/main" noChangeAspect="1"/>
          </p:cNvPicPr>
          <p:nvPr/>
        </p:nvPicPr>
        <p:blipFill>
          <a:blip xmlns:r="http://schemas.openxmlformats.org/officeDocument/2006/relationships" xmlns:a="http://schemas.openxmlformats.org/drawingml/2006/main" r:embed="Rce6e5686ec4a4e25"/>
          <a:srcRect xmlns:a="http://schemas.openxmlformats.org/drawingml/2006/main" l="12000" t="25500" r="12000" b="2000"/>
          <a:stretch xmlns:a="http://schemas.openxmlformats.org/drawingml/2006/main"/>
        </p:blipFill>
        <p:spPr>
          <a:xfrm xmlns:a="http://schemas.openxmlformats.org/drawingml/2006/main">
            <a:off x="4762500" y="1838325"/>
            <a:ext cx="2333625" cy="4143375"/>
          </a:xfrm>
          <a:prstGeom xmlns:a="http://schemas.openxmlformats.org/drawingml/2006/main" prst="roundRect">
            <a:avLst>
              <a:gd name="adj" fmla="val 16327"/>
            </a:avLst>
          </a:prstGeom>
        </p:spPr>
      </p:pic>
      <p:sp>
        <p:nvSpPr>
          <p:cNvPr id="8" name="">
            <a:extLst xmlns:a="http://schemas.openxmlformats.org/drawingml/2006/main">
              <a:ext uri="{FF2B5EF4-FFF2-40B4-BE49-F238E27FC236}">
                <a16:creationId xmlns:a16="http://schemas.microsoft.com/office/drawing/2014/main" id="{6E0C8F38-348A-41E6-A84C-2FE3CD9A79B6}"/>
              </a:ext>
            </a:extLst>
          </p:cNvPr>
          <p:cNvSpPr>
            <a:spLocks xmlns:a="http://schemas.openxmlformats.org/drawingml/2006/main" noGrp="1"/>
          </p:cNvSpPr>
          <p:nvPr/>
        </p:nvSpPr>
        <p:spPr>
          <a:xfrm xmlns:a="http://schemas.openxmlformats.org/drawingml/2006/main">
            <a:off x="840105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03  디브리핑</a:t>
            </a:r>
          </a:p>
        </p:txBody>
      </p:sp>
      <p:pic>
        <p:nvPicPr>
          <p:cNvPr id="9" name="">
            <a:extLst xmlns:a="http://schemas.openxmlformats.org/drawingml/2006/main">
              <a:ext uri="{FF2B5EF4-FFF2-40B4-BE49-F238E27FC236}">
                <a16:creationId xmlns:a16="http://schemas.microsoft.com/office/drawing/2014/main" id="{F2386DED-69E3-4946-865C-DE97DCEFD84F}"/>
              </a:ext>
            </a:extLst>
          </p:cNvPr>
          <p:cNvPicPr>
            <a:picLocks xmlns:a="http://schemas.openxmlformats.org/drawingml/2006/main" noChangeAspect="1"/>
          </p:cNvPicPr>
          <p:nvPr/>
        </p:nvPicPr>
        <p:blipFill>
          <a:blip xmlns:r="http://schemas.openxmlformats.org/officeDocument/2006/relationships" xmlns:a="http://schemas.openxmlformats.org/drawingml/2006/main" r:embed="Rd330feddf251407c"/>
          <a:srcRect xmlns:a="http://schemas.openxmlformats.org/drawingml/2006/main" l="12000" t="25500" r="12000" b="2000"/>
          <a:stretch xmlns:a="http://schemas.openxmlformats.org/drawingml/2006/main"/>
        </p:blipFill>
        <p:spPr>
          <a:xfrm xmlns:a="http://schemas.openxmlformats.org/drawingml/2006/main">
            <a:off x="8477250" y="1838325"/>
            <a:ext cx="2333625" cy="4143375"/>
          </a:xfrm>
          <a:prstGeom xmlns:a="http://schemas.openxmlformats.org/drawingml/2006/main" prst="roundRect">
            <a:avLst>
              <a:gd name="adj" fmla="val 16327"/>
            </a:avLst>
          </a:prstGeom>
        </p:spPr>
      </p:pic>
      <p:sp>
        <p:nvSpPr>
          <p:cNvPr id="10" name="">
            <a:extLst xmlns:a="http://schemas.openxmlformats.org/drawingml/2006/main">
              <a:ext uri="{FF2B5EF4-FFF2-40B4-BE49-F238E27FC236}">
                <a16:creationId xmlns:a16="http://schemas.microsoft.com/office/drawing/2014/main" id="{8EF5DAD8-4385-4F5C-A893-DFA1D71D4CEA}"/>
              </a:ext>
            </a:extLst>
          </p:cNvPr>
          <p:cNvSpPr>
            <a:spLocks xmlns:a="http://schemas.openxmlformats.org/drawingml/2006/main" noGrp="1"/>
          </p:cNvSpPr>
          <p:nvPr/>
        </p:nvSpPr>
        <p:spPr>
          <a:xfrm xmlns:a="http://schemas.openxmlformats.org/drawingml/2006/main">
            <a:off x="3714750" y="34290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74778"/>
                </a:solidFill>
                <a:latin typeface="SUIT"/>
                <a:ea typeface="SUIT"/>
                <a:cs typeface="SUIT"/>
              </a:defRPr>
            </a:defPPr>
          </a:lstStyle>
          <a:p xmlns:a="http://schemas.openxmlformats.org/drawingml/2006/main">
            <a:pPr>
              <a:defRPr sz="3675" b="0">
                <a:solidFill>
                  <a:srgbClr val="174778"/>
                </a:solidFill>
                <a:latin typeface="SUIT"/>
                <a:ea typeface="SUIT"/>
                <a:cs typeface="SUIT"/>
              </a:defRPr>
            </a:pPr>
            <a:r>
              <a:rPr sz="3675" b="0">
                <a:solidFill>
                  <a:srgbClr val="174778"/>
                </a:solidFill>
                <a:latin typeface="SUIT"/>
                <a:ea typeface="SUIT"/>
                <a:cs typeface="SUIT"/>
              </a:rPr>
              <a:t>→</a:t>
            </a:r>
          </a:p>
        </p:txBody>
      </p:sp>
      <p:sp>
        <p:nvSpPr>
          <p:cNvPr id="11" name="">
            <a:extLst xmlns:a="http://schemas.openxmlformats.org/drawingml/2006/main">
              <a:ext uri="{FF2B5EF4-FFF2-40B4-BE49-F238E27FC236}">
                <a16:creationId xmlns:a16="http://schemas.microsoft.com/office/drawing/2014/main" id="{EDC2C883-4FBB-4A02-8FA3-87F73F49A0C4}"/>
              </a:ext>
            </a:extLst>
          </p:cNvPr>
          <p:cNvSpPr>
            <a:spLocks xmlns:a="http://schemas.openxmlformats.org/drawingml/2006/main" noGrp="1"/>
          </p:cNvSpPr>
          <p:nvPr/>
        </p:nvSpPr>
        <p:spPr>
          <a:xfrm xmlns:a="http://schemas.openxmlformats.org/drawingml/2006/main">
            <a:off x="7429500" y="34290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74778"/>
                </a:solidFill>
                <a:latin typeface="SUIT"/>
                <a:ea typeface="SUIT"/>
                <a:cs typeface="SUIT"/>
              </a:defRPr>
            </a:defPPr>
          </a:lstStyle>
          <a:p xmlns:a="http://schemas.openxmlformats.org/drawingml/2006/main">
            <a:pPr>
              <a:defRPr sz="3675" b="0">
                <a:solidFill>
                  <a:srgbClr val="174778"/>
                </a:solidFill>
                <a:latin typeface="SUIT"/>
                <a:ea typeface="SUIT"/>
                <a:cs typeface="SUIT"/>
              </a:defRPr>
            </a:pPr>
            <a:r>
              <a:rPr sz="3675" b="0">
                <a:solidFill>
                  <a:srgbClr val="174778"/>
                </a:solidFill>
                <a:latin typeface="SUIT"/>
                <a:ea typeface="SUIT"/>
                <a:cs typeface="SUIT"/>
              </a:rPr>
              <a:t>→</a:t>
            </a:r>
          </a:p>
        </p:txBody>
      </p:sp>
    </p:spTree>
    <p:extLst>
      <p:ext uri="{BB962C8B-B14F-4D97-AF65-F5344CB8AC3E}">
        <p14:creationId xmlns:p14="http://schemas.microsoft.com/office/powerpoint/2010/main" val="1885518860"/>
      </p:ext>
    </p:extLst>
  </p:cSld>
</p:sld>
</file>

<file path=ppt/slides/slide4.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C38D46-29E9-4508-A6DB-62EB32CC74F3}"/>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9F093FBE-1B81-47A2-907A-A664146B61DA}"/>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04</a:t>
            </a:r>
          </a:p>
        </p:txBody>
      </p:sp>
      <p:pic>
        <p:nvPicPr>
          <p:cNvPr id="3" name="">
            <a:extLst xmlns:a="http://schemas.openxmlformats.org/drawingml/2006/main">
              <a:ext uri="{FF2B5EF4-FFF2-40B4-BE49-F238E27FC236}">
                <a16:creationId xmlns:a16="http://schemas.microsoft.com/office/drawing/2014/main" id="{38062F43-0BE2-495B-9F62-C7501A1CEE5D}"/>
              </a:ext>
            </a:extLst>
          </p:cNvPr>
          <p:cNvPicPr>
            <a:picLocks xmlns:a="http://schemas.openxmlformats.org/drawingml/2006/main" noChangeAspect="1"/>
          </p:cNvPicPr>
          <p:nvPr/>
        </p:nvPicPr>
        <p:blipFill>
          <a:blip xmlns:r="http://schemas.openxmlformats.org/officeDocument/2006/relationships" xmlns:a="http://schemas.openxmlformats.org/drawingml/2006/main" r:embed="R3b50dc7fe637413b"/>
          <a:srcRect xmlns:a="http://schemas.openxmlformats.org/drawingml/2006/main" l="12000" t="25500" r="12000" b="2000"/>
          <a:stretch xmlns:a="http://schemas.openxmlformats.org/drawingml/2006/main"/>
        </p:blipFill>
        <p:spPr>
          <a:xfrm xmlns:a="http://schemas.openxmlformats.org/drawingml/2006/main">
            <a:off x="666750" y="571500"/>
            <a:ext cx="3238500" cy="5429250"/>
          </a:xfrm>
          <a:prstGeom xmlns:a="http://schemas.openxmlformats.org/drawingml/2006/main" prst="roundRect">
            <a:avLst>
              <a:gd name="adj" fmla="val 11765"/>
            </a:avLst>
          </a:prstGeom>
        </p:spPr>
      </p:pic>
      <p:sp>
        <p:nvSpPr>
          <p:cNvPr id="4" name="">
            <a:extLst xmlns:a="http://schemas.openxmlformats.org/drawingml/2006/main">
              <a:ext uri="{FF2B5EF4-FFF2-40B4-BE49-F238E27FC236}">
                <a16:creationId xmlns:a16="http://schemas.microsoft.com/office/drawing/2014/main" id="{754C2A58-90B5-41EB-822C-0E7E870215CA}"/>
              </a:ext>
            </a:extLst>
          </p:cNvPr>
          <p:cNvSpPr>
            <a:spLocks xmlns:a="http://schemas.openxmlformats.org/drawingml/2006/main" noGrp="1"/>
          </p:cNvSpPr>
          <p:nvPr/>
        </p:nvSpPr>
        <p:spPr>
          <a:xfrm xmlns:a="http://schemas.openxmlformats.org/drawingml/2006/main">
            <a:off x="4857750" y="66675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2C4E9"/>
                </a:solidFill>
                <a:latin typeface="SUIT"/>
                <a:ea typeface="SUIT"/>
                <a:cs typeface="SUIT"/>
              </a:defRPr>
            </a:defPPr>
          </a:lstStyle>
          <a:p xmlns:a="http://schemas.openxmlformats.org/drawingml/2006/main">
            <a:pPr>
              <a:defRPr sz="1875" b="1">
                <a:solidFill>
                  <a:srgbClr val="32C4E9"/>
                </a:solidFill>
                <a:latin typeface="SUIT"/>
                <a:ea typeface="SUIT"/>
                <a:cs typeface="SUIT"/>
              </a:defRPr>
            </a:pPr>
            <a:r>
              <a:rPr sz="1875" b="1">
                <a:solidFill>
                  <a:srgbClr val="32C4E9"/>
                </a:solidFill>
                <a:latin typeface="SUIT"/>
                <a:ea typeface="SUIT"/>
                <a:cs typeface="SUIT"/>
              </a:rPr>
              <a:t>교육생별 진도</a:t>
            </a:r>
          </a:p>
        </p:txBody>
      </p:sp>
      <p:sp>
        <p:nvSpPr>
          <p:cNvPr id="5" name="">
            <a:extLst xmlns:a="http://schemas.openxmlformats.org/drawingml/2006/main">
              <a:ext uri="{FF2B5EF4-FFF2-40B4-BE49-F238E27FC236}">
                <a16:creationId xmlns:a16="http://schemas.microsoft.com/office/drawing/2014/main" id="{617CF69C-0E74-4765-9753-46BE76DE7793}"/>
              </a:ext>
            </a:extLst>
          </p:cNvPr>
          <p:cNvSpPr>
            <a:spLocks xmlns:a="http://schemas.openxmlformats.org/drawingml/2006/main" noGrp="1"/>
          </p:cNvSpPr>
          <p:nvPr/>
        </p:nvSpPr>
        <p:spPr>
          <a:xfrm xmlns:a="http://schemas.openxmlformats.org/drawingml/2006/main">
            <a:off x="4857750" y="1524000"/>
            <a:ext cx="666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SUIT"/>
                <a:ea typeface="SUIT"/>
                <a:cs typeface="SUIT"/>
              </a:defRPr>
            </a:defPPr>
          </a:lstStyle>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지난 수업이</a:t>
            </a:r>
          </a:p>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다음 수업의</a:t>
            </a:r>
          </a:p>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출발점이 되도록</a:t>
            </a:r>
          </a:p>
        </p:txBody>
      </p:sp>
      <p:sp>
        <p:nvSpPr>
          <p:cNvPr id="6" name="">
            <a:extLst xmlns:a="http://schemas.openxmlformats.org/drawingml/2006/main">
              <a:ext uri="{FF2B5EF4-FFF2-40B4-BE49-F238E27FC236}">
                <a16:creationId xmlns:a16="http://schemas.microsoft.com/office/drawing/2014/main" id="{F50FA658-853E-4D28-9651-168883BC4655}"/>
              </a:ext>
            </a:extLst>
          </p:cNvPr>
          <p:cNvSpPr>
            <a:spLocks xmlns:a="http://schemas.openxmlformats.org/drawingml/2006/main" noGrp="1"/>
          </p:cNvSpPr>
          <p:nvPr/>
        </p:nvSpPr>
        <p:spPr>
          <a:xfrm xmlns:a="http://schemas.openxmlformats.org/drawingml/2006/main">
            <a:off x="4905375" y="442912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9F5"/>
                </a:solidFill>
                <a:latin typeface="SUIT"/>
                <a:ea typeface="SUIT"/>
                <a:cs typeface="SUIT"/>
              </a:defRPr>
            </a:defPPr>
          </a:lstStyle>
          <a:p xmlns:a="http://schemas.openxmlformats.org/drawingml/2006/main">
            <a:pPr>
              <a:defRPr sz="2325" b="0">
                <a:solidFill>
                  <a:srgbClr val="D9E9F5"/>
                </a:solidFill>
                <a:latin typeface="SUIT"/>
                <a:ea typeface="SUIT"/>
                <a:cs typeface="SUIT"/>
              </a:defRPr>
            </a:pPr>
            <a:r>
              <a:rPr sz="2325" b="0">
                <a:solidFill>
                  <a:srgbClr val="D9E9F5"/>
                </a:solidFill>
                <a:latin typeface="SUIT"/>
                <a:ea typeface="SUIT"/>
                <a:cs typeface="SUIT"/>
              </a:rPr>
              <a:t>AIDA 과정별 요건 확인</a:t>
            </a:r>
          </a:p>
          <a:p xmlns:a="http://schemas.openxmlformats.org/drawingml/2006/main">
            <a:pPr>
              <a:defRPr sz="2325" b="0">
                <a:solidFill>
                  <a:srgbClr val="D9E9F5"/>
                </a:solidFill>
                <a:latin typeface="SUIT"/>
                <a:ea typeface="SUIT"/>
                <a:cs typeface="SUIT"/>
              </a:defRPr>
            </a:pPr>
            <a:r>
              <a:rPr sz="2325" b="0">
                <a:solidFill>
                  <a:srgbClr val="D9E9F5"/>
                </a:solidFill>
                <a:latin typeface="SUIT"/>
                <a:ea typeface="SUIT"/>
                <a:cs typeface="SUIT"/>
              </a:rPr>
              <a:t>개방수역·풀 진행 상황 기록</a:t>
            </a:r>
          </a:p>
        </p:txBody>
      </p:sp>
      <p:sp>
        <p:nvSpPr>
          <p:cNvPr id="7" name="">
            <a:extLst xmlns:a="http://schemas.openxmlformats.org/drawingml/2006/main">
              <a:ext uri="{FF2B5EF4-FFF2-40B4-BE49-F238E27FC236}">
                <a16:creationId xmlns:a16="http://schemas.microsoft.com/office/drawing/2014/main" id="{D326F197-9A41-4DEB-B74D-FD516E186C95}"/>
              </a:ext>
            </a:extLst>
          </p:cNvPr>
          <p:cNvSpPr>
            <a:spLocks xmlns:a="http://schemas.openxmlformats.org/drawingml/2006/main" noGrp="1"/>
          </p:cNvSpPr>
          <p:nvPr/>
        </p:nvSpPr>
        <p:spPr>
          <a:xfrm xmlns:a="http://schemas.openxmlformats.org/drawingml/2006/main">
            <a:off x="4905375" y="57150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2B6D2"/>
                </a:solidFill>
                <a:latin typeface="SUIT"/>
                <a:ea typeface="SUIT"/>
                <a:cs typeface="SUIT"/>
              </a:defRPr>
            </a:defPPr>
          </a:lstStyle>
          <a:p xmlns:a="http://schemas.openxmlformats.org/drawingml/2006/main">
            <a:pPr>
              <a:defRPr sz="1500" b="0">
                <a:solidFill>
                  <a:srgbClr val="92B6D2"/>
                </a:solidFill>
                <a:latin typeface="SUIT"/>
                <a:ea typeface="SUIT"/>
                <a:cs typeface="SUIT"/>
              </a:defRPr>
            </a:pPr>
            <a:r>
              <a:rPr sz="1500" b="0">
                <a:solidFill>
                  <a:srgbClr val="92B6D2"/>
                </a:solidFill>
                <a:latin typeface="SUIT"/>
                <a:ea typeface="SUIT"/>
                <a:cs typeface="SUIT"/>
              </a:rPr>
              <a:t>교육·자격 판단은 강사가 수행합니다.</a:t>
            </a:r>
          </a:p>
        </p:txBody>
      </p:sp>
    </p:spTree>
    <p:extLst>
      <p:ext uri="{BB962C8B-B14F-4D97-AF65-F5344CB8AC3E}">
        <p14:creationId xmlns:p14="http://schemas.microsoft.com/office/powerpoint/2010/main" val="522979680"/>
      </p:ext>
    </p:extLst>
  </p:cSld>
</p:sld>
</file>

<file path=ppt/slides/slide5.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FCDCE-F5E1-4542-AF01-96B740A4EF0C}"/>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B541F387-2817-4059-870F-0885AAB696F1}"/>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05</a:t>
            </a:r>
          </a:p>
        </p:txBody>
      </p:sp>
      <p:sp>
        <p:nvSpPr>
          <p:cNvPr id="3" name="">
            <a:extLst xmlns:a="http://schemas.openxmlformats.org/drawingml/2006/main">
              <a:ext uri="{FF2B5EF4-FFF2-40B4-BE49-F238E27FC236}">
                <a16:creationId xmlns:a16="http://schemas.microsoft.com/office/drawing/2014/main" id="{CD41D689-5F93-44C4-B7E2-4D9BA1BCA6BA}"/>
              </a:ext>
            </a:extLst>
          </p:cNvPr>
          <p:cNvSpPr>
            <a:spLocks xmlns:a="http://schemas.openxmlformats.org/drawingml/2006/main" noGrp="1"/>
          </p:cNvSpPr>
          <p:nvPr/>
        </p:nvSpPr>
        <p:spPr>
          <a:xfrm xmlns:a="http://schemas.openxmlformats.org/drawingml/2006/main">
            <a:off x="5715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02E4C"/>
                </a:solidFill>
                <a:latin typeface="SUIT"/>
                <a:ea typeface="SUIT"/>
                <a:cs typeface="SUIT"/>
              </a:defRPr>
            </a:defPPr>
          </a:lstStyle>
          <a:p xmlns:a="http://schemas.openxmlformats.org/drawingml/2006/main">
            <a:pPr>
              <a:defRPr sz="3375" b="1">
                <a:solidFill>
                  <a:srgbClr val="102E4C"/>
                </a:solidFill>
                <a:latin typeface="SUIT"/>
                <a:ea typeface="SUIT"/>
                <a:cs typeface="SUIT"/>
              </a:defRPr>
            </a:pPr>
            <a:r>
              <a:rPr sz="3375" b="1">
                <a:solidFill>
                  <a:srgbClr val="102E4C"/>
                </a:solidFill>
                <a:latin typeface="SUIT"/>
                <a:ea typeface="SUIT"/>
                <a:cs typeface="SUIT"/>
              </a:rPr>
              <a:t>교육생과 다음 일정을 함께 관리</a:t>
            </a:r>
          </a:p>
        </p:txBody>
      </p:sp>
      <p:pic>
        <p:nvPicPr>
          <p:cNvPr id="4" name="">
            <a:extLst xmlns:a="http://schemas.openxmlformats.org/drawingml/2006/main">
              <a:ext uri="{FF2B5EF4-FFF2-40B4-BE49-F238E27FC236}">
                <a16:creationId xmlns:a16="http://schemas.microsoft.com/office/drawing/2014/main" id="{1BC10D2A-A23A-4C83-AE2C-C2AC44D7A15B}"/>
              </a:ext>
            </a:extLst>
          </p:cNvPr>
          <p:cNvPicPr>
            <a:picLocks xmlns:a="http://schemas.openxmlformats.org/drawingml/2006/main" noChangeAspect="1"/>
          </p:cNvPicPr>
          <p:nvPr/>
        </p:nvPicPr>
        <p:blipFill>
          <a:blip xmlns:r="http://schemas.openxmlformats.org/officeDocument/2006/relationships" xmlns:a="http://schemas.openxmlformats.org/drawingml/2006/main" r:embed="R8e893b44345849e5"/>
          <a:srcRect xmlns:a="http://schemas.openxmlformats.org/drawingml/2006/main" l="12000" t="25500" r="12000" b="2000"/>
          <a:stretch xmlns:a="http://schemas.openxmlformats.org/drawingml/2006/main"/>
        </p:blipFill>
        <p:spPr>
          <a:xfrm xmlns:a="http://schemas.openxmlformats.org/drawingml/2006/main">
            <a:off x="619125" y="1619250"/>
            <a:ext cx="2476500" cy="4333875"/>
          </a:xfrm>
          <a:prstGeom xmlns:a="http://schemas.openxmlformats.org/drawingml/2006/main" prst="roundRect">
            <a:avLst>
              <a:gd name="adj" fmla="val 15385"/>
            </a:avLst>
          </a:prstGeom>
        </p:spPr>
      </p:pic>
      <p:pic>
        <p:nvPicPr>
          <p:cNvPr id="5" name="">
            <a:extLst xmlns:a="http://schemas.openxmlformats.org/drawingml/2006/main">
              <a:ext uri="{FF2B5EF4-FFF2-40B4-BE49-F238E27FC236}">
                <a16:creationId xmlns:a16="http://schemas.microsoft.com/office/drawing/2014/main" id="{CEFDD50C-4878-45A4-826B-28C1F86C0AB7}"/>
              </a:ext>
            </a:extLst>
          </p:cNvPr>
          <p:cNvPicPr>
            <a:picLocks xmlns:a="http://schemas.openxmlformats.org/drawingml/2006/main" noChangeAspect="1"/>
          </p:cNvPicPr>
          <p:nvPr/>
        </p:nvPicPr>
        <p:blipFill>
          <a:blip xmlns:r="http://schemas.openxmlformats.org/officeDocument/2006/relationships" xmlns:a="http://schemas.openxmlformats.org/drawingml/2006/main" r:embed="Rba0f2d800415402e"/>
          <a:srcRect xmlns:a="http://schemas.openxmlformats.org/drawingml/2006/main" l="12000" t="25500" r="12000" b="2000"/>
          <a:stretch xmlns:a="http://schemas.openxmlformats.org/drawingml/2006/main"/>
        </p:blipFill>
        <p:spPr>
          <a:xfrm xmlns:a="http://schemas.openxmlformats.org/drawingml/2006/main">
            <a:off x="3476625" y="1619250"/>
            <a:ext cx="2476500" cy="4333875"/>
          </a:xfrm>
          <a:prstGeom xmlns:a="http://schemas.openxmlformats.org/drawingml/2006/main" prst="roundRect">
            <a:avLst>
              <a:gd name="adj" fmla="val 15385"/>
            </a:avLst>
          </a:prstGeom>
        </p:spPr>
      </p:pic>
      <p:sp>
        <p:nvSpPr>
          <p:cNvPr id="6" name="">
            <a:extLst xmlns:a="http://schemas.openxmlformats.org/drawingml/2006/main">
              <a:ext uri="{FF2B5EF4-FFF2-40B4-BE49-F238E27FC236}">
                <a16:creationId xmlns:a16="http://schemas.microsoft.com/office/drawing/2014/main" id="{FC332751-91DE-45AA-96C0-74EB1ADF49A6}"/>
              </a:ext>
            </a:extLst>
          </p:cNvPr>
          <p:cNvSpPr>
            <a:spLocks xmlns:a="http://schemas.openxmlformats.org/drawingml/2006/main" noGrp="1"/>
          </p:cNvSpPr>
          <p:nvPr/>
        </p:nvSpPr>
        <p:spPr>
          <a:xfrm xmlns:a="http://schemas.openxmlformats.org/drawingml/2006/main">
            <a:off x="6905625" y="1857375"/>
            <a:ext cx="4667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74778"/>
                </a:solidFill>
                <a:latin typeface="SUIT"/>
                <a:ea typeface="SUIT"/>
                <a:cs typeface="SUIT"/>
              </a:defRPr>
            </a:defPPr>
          </a:lstStyle>
          <a:p xmlns:a="http://schemas.openxmlformats.org/drawingml/2006/main">
            <a:pPr>
              <a:defRPr sz="4050" b="1">
                <a:solidFill>
                  <a:srgbClr val="174778"/>
                </a:solidFill>
                <a:latin typeface="SUIT"/>
                <a:ea typeface="SUIT"/>
                <a:cs typeface="SUIT"/>
              </a:defRPr>
            </a:pPr>
            <a:r>
              <a:rPr sz="4050" b="1">
                <a:solidFill>
                  <a:srgbClr val="174778"/>
                </a:solidFill>
                <a:latin typeface="SUIT"/>
                <a:ea typeface="SUIT"/>
                <a:cs typeface="SUIT"/>
              </a:rPr>
              <a:t>수업이 끝나도</a:t>
            </a:r>
          </a:p>
          <a:p xmlns:a="http://schemas.openxmlformats.org/drawingml/2006/main">
            <a:pPr>
              <a:defRPr sz="4050" b="1">
                <a:solidFill>
                  <a:srgbClr val="174778"/>
                </a:solidFill>
                <a:latin typeface="SUIT"/>
                <a:ea typeface="SUIT"/>
                <a:cs typeface="SUIT"/>
              </a:defRPr>
            </a:pPr>
            <a:r>
              <a:rPr sz="4050" b="1">
                <a:solidFill>
                  <a:srgbClr val="174778"/>
                </a:solidFill>
                <a:latin typeface="SUIT"/>
                <a:ea typeface="SUIT"/>
                <a:cs typeface="SUIT"/>
              </a:rPr>
              <a:t>기록은 남습니다</a:t>
            </a:r>
          </a:p>
        </p:txBody>
      </p:sp>
      <p:sp>
        <p:nvSpPr>
          <p:cNvPr id="7" name="">
            <a:extLst xmlns:a="http://schemas.openxmlformats.org/drawingml/2006/main">
              <a:ext uri="{FF2B5EF4-FFF2-40B4-BE49-F238E27FC236}">
                <a16:creationId xmlns:a16="http://schemas.microsoft.com/office/drawing/2014/main" id="{B2F14B49-AB46-4A96-B339-FA61488F785A}"/>
              </a:ext>
            </a:extLst>
          </p:cNvPr>
          <p:cNvSpPr>
            <a:spLocks xmlns:a="http://schemas.openxmlformats.org/drawingml/2006/main" noGrp="1"/>
          </p:cNvSpPr>
          <p:nvPr/>
        </p:nvSpPr>
        <p:spPr>
          <a:xfrm xmlns:a="http://schemas.openxmlformats.org/drawingml/2006/main">
            <a:off x="6953250" y="390525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E4C"/>
                </a:solidFill>
                <a:latin typeface="SUIT"/>
                <a:ea typeface="SUIT"/>
                <a:cs typeface="SUIT"/>
              </a:defRPr>
            </a:defPPr>
          </a:lstStyle>
          <a:p xmlns:a="http://schemas.openxmlformats.org/drawingml/2006/main">
            <a:pPr>
              <a:defRPr sz="2025" b="0">
                <a:solidFill>
                  <a:srgbClr val="102E4C"/>
                </a:solidFill>
                <a:latin typeface="SUIT"/>
                <a:ea typeface="SUIT"/>
                <a:cs typeface="SUIT"/>
              </a:defRPr>
            </a:pPr>
            <a:r>
              <a:rPr sz="2025" b="0">
                <a:solidFill>
                  <a:srgbClr val="102E4C"/>
                </a:solidFill>
                <a:latin typeface="SUIT"/>
                <a:ea typeface="SUIT"/>
                <a:cs typeface="SUIT"/>
              </a:rPr>
              <a:t>교육생을 그룹으로 관리하고</a:t>
            </a:r>
          </a:p>
          <a:p xmlns:a="http://schemas.openxmlformats.org/drawingml/2006/main">
            <a:pPr>
              <a:defRPr sz="2025" b="0">
                <a:solidFill>
                  <a:srgbClr val="102E4C"/>
                </a:solidFill>
                <a:latin typeface="SUIT"/>
                <a:ea typeface="SUIT"/>
                <a:cs typeface="SUIT"/>
              </a:defRPr>
            </a:pPr>
            <a:r>
              <a:rPr sz="2025" b="0">
                <a:solidFill>
                  <a:srgbClr val="102E4C"/>
                </a:solidFill>
                <a:latin typeface="SUIT"/>
                <a:ea typeface="SUIT"/>
                <a:cs typeface="SUIT"/>
              </a:rPr>
              <a:t>날짜·장소별 일정을 확인합니다.</a:t>
            </a:r>
          </a:p>
        </p:txBody>
      </p:sp>
      <p:sp>
        <p:nvSpPr>
          <p:cNvPr id="8" name="">
            <a:extLst xmlns:a="http://schemas.openxmlformats.org/drawingml/2006/main">
              <a:ext uri="{FF2B5EF4-FFF2-40B4-BE49-F238E27FC236}">
                <a16:creationId xmlns:a16="http://schemas.microsoft.com/office/drawing/2014/main" id="{3FDF14BC-BEB1-4D4E-B8B6-EE6AA003E547}"/>
              </a:ext>
            </a:extLst>
          </p:cNvPr>
          <p:cNvSpPr>
            <a:spLocks xmlns:a="http://schemas.openxmlformats.org/drawingml/2006/main" noGrp="1"/>
          </p:cNvSpPr>
          <p:nvPr/>
        </p:nvSpPr>
        <p:spPr>
          <a:xfrm xmlns:a="http://schemas.openxmlformats.org/drawingml/2006/main">
            <a:off x="6953250" y="53340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7084"/>
                </a:solidFill>
                <a:latin typeface="SUIT"/>
                <a:ea typeface="SUIT"/>
                <a:cs typeface="SUIT"/>
              </a:defRPr>
            </a:defPPr>
          </a:lstStyle>
          <a:p xmlns:a="http://schemas.openxmlformats.org/drawingml/2006/main">
            <a:pPr>
              <a:defRPr sz="1650" b="0">
                <a:solidFill>
                  <a:srgbClr val="597084"/>
                </a:solidFill>
                <a:latin typeface="SUIT"/>
                <a:ea typeface="SUIT"/>
                <a:cs typeface="SUIT"/>
              </a:defRPr>
            </a:pPr>
            <a:r>
              <a:rPr sz="1650" b="0">
                <a:solidFill>
                  <a:srgbClr val="597084"/>
                </a:solidFill>
                <a:latin typeface="SUIT"/>
                <a:ea typeface="SUIT"/>
                <a:cs typeface="SUIT"/>
              </a:rPr>
              <a:t>교육생별 기록을 다음 수업 준비에 활용</a:t>
            </a:r>
          </a:p>
        </p:txBody>
      </p:sp>
    </p:spTree>
    <p:extLst>
      <p:ext uri="{BB962C8B-B14F-4D97-AF65-F5344CB8AC3E}">
        <p14:creationId xmlns:p14="http://schemas.microsoft.com/office/powerpoint/2010/main" val="1954175285"/>
      </p:ext>
    </p:extLst>
  </p:cSld>
</p:sld>
</file>

<file path=ppt/slides/slide6.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A03909-687E-46A8-95B6-102549036826}"/>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839C9EC8-A4EB-48E2-B5CC-941E04483038}"/>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06</a:t>
            </a:r>
          </a:p>
        </p:txBody>
      </p:sp>
      <p:sp>
        <p:nvSpPr>
          <p:cNvPr id="3" name="">
            <a:extLst xmlns:a="http://schemas.openxmlformats.org/drawingml/2006/main">
              <a:ext uri="{FF2B5EF4-FFF2-40B4-BE49-F238E27FC236}">
                <a16:creationId xmlns:a16="http://schemas.microsoft.com/office/drawing/2014/main" id="{DB0C06AA-1496-42D5-ACEE-C87F46956E57}"/>
              </a:ext>
            </a:extLst>
          </p:cNvPr>
          <p:cNvSpPr>
            <a:spLocks xmlns:a="http://schemas.openxmlformats.org/drawingml/2006/main" noGrp="1"/>
          </p:cNvSpPr>
          <p:nvPr/>
        </p:nvSpPr>
        <p:spPr>
          <a:xfrm xmlns:a="http://schemas.openxmlformats.org/drawingml/2006/main">
            <a:off x="571500" y="476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FFFFF"/>
                </a:solidFill>
                <a:latin typeface="SUIT"/>
                <a:ea typeface="SUIT"/>
                <a:cs typeface="SUIT"/>
              </a:defRPr>
            </a:defPPr>
          </a:lstStyle>
          <a:p xmlns:a="http://schemas.openxmlformats.org/drawingml/2006/main">
            <a:pPr>
              <a:defRPr sz="3525" b="1">
                <a:solidFill>
                  <a:srgbClr val="FFFFFF"/>
                </a:solidFill>
                <a:latin typeface="SUIT"/>
                <a:ea typeface="SUIT"/>
                <a:cs typeface="SUIT"/>
              </a:defRPr>
            </a:pPr>
            <a:r>
              <a:rPr sz="3525" b="1">
                <a:solidFill>
                  <a:srgbClr val="FFFFFF"/>
                </a:solidFill>
                <a:latin typeface="SUIT"/>
                <a:ea typeface="SUIT"/>
                <a:cs typeface="SUIT"/>
              </a:rPr>
              <a:t>강사 구독 모델</a:t>
            </a:r>
          </a:p>
        </p:txBody>
      </p:sp>
      <p:sp>
        <p:nvSpPr>
          <p:cNvPr id="4" name="">
            <a:extLst xmlns:a="http://schemas.openxmlformats.org/drawingml/2006/main">
              <a:ext uri="{FF2B5EF4-FFF2-40B4-BE49-F238E27FC236}">
                <a16:creationId xmlns:a16="http://schemas.microsoft.com/office/drawing/2014/main" id="{F4B27042-A4FC-405B-A49A-66C6C4EC9530}"/>
              </a:ext>
            </a:extLst>
          </p:cNvPr>
          <p:cNvSpPr>
            <a:spLocks xmlns:a="http://schemas.openxmlformats.org/drawingml/2006/main" noGrp="1"/>
          </p:cNvSpPr>
          <p:nvPr/>
        </p:nvSpPr>
        <p:spPr>
          <a:xfrm xmlns:a="http://schemas.openxmlformats.org/drawingml/2006/main">
            <a:off x="619125" y="2047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32C4E9"/>
                </a:solidFill>
                <a:latin typeface="SUIT"/>
                <a:ea typeface="SUIT"/>
                <a:cs typeface="SUIT"/>
              </a:defRPr>
            </a:defPPr>
          </a:lstStyle>
          <a:p xmlns:a="http://schemas.openxmlformats.org/drawingml/2006/main">
            <a:pPr>
              <a:defRPr sz="3150" b="1">
                <a:solidFill>
                  <a:srgbClr val="32C4E9"/>
                </a:solidFill>
                <a:latin typeface="SUIT"/>
                <a:ea typeface="SUIT"/>
                <a:cs typeface="SUIT"/>
              </a:defRPr>
            </a:pPr>
            <a:r>
              <a:rPr sz="3150" b="1">
                <a:solidFill>
                  <a:srgbClr val="32C4E9"/>
                </a:solidFill>
                <a:latin typeface="SUIT"/>
                <a:ea typeface="SUIT"/>
                <a:cs typeface="SUIT"/>
              </a:rPr>
              <a:t>월</a:t>
            </a:r>
          </a:p>
        </p:txBody>
      </p:sp>
      <p:sp>
        <p:nvSpPr>
          <p:cNvPr id="5" name="">
            <a:extLst xmlns:a="http://schemas.openxmlformats.org/drawingml/2006/main">
              <a:ext uri="{FF2B5EF4-FFF2-40B4-BE49-F238E27FC236}">
                <a16:creationId xmlns:a16="http://schemas.microsoft.com/office/drawing/2014/main" id="{15C07FBC-43EE-4F64-8362-16203F1DDA09}"/>
              </a:ext>
            </a:extLst>
          </p:cNvPr>
          <p:cNvSpPr>
            <a:spLocks xmlns:a="http://schemas.openxmlformats.org/drawingml/2006/main" noGrp="1"/>
          </p:cNvSpPr>
          <p:nvPr/>
        </p:nvSpPr>
        <p:spPr>
          <a:xfrm xmlns:a="http://schemas.openxmlformats.org/drawingml/2006/main">
            <a:off x="1571625" y="1619250"/>
            <a:ext cx="6000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350" b="1">
                <a:solidFill>
                  <a:srgbClr val="FFFFFF"/>
                </a:solidFill>
                <a:latin typeface="SUIT"/>
                <a:ea typeface="SUIT"/>
                <a:cs typeface="SUIT"/>
              </a:defRPr>
            </a:defPPr>
          </a:lstStyle>
          <a:p xmlns:a="http://schemas.openxmlformats.org/drawingml/2006/main">
            <a:pPr>
              <a:defRPr sz="10350" b="1">
                <a:solidFill>
                  <a:srgbClr val="FFFFFF"/>
                </a:solidFill>
                <a:latin typeface="SUIT"/>
                <a:ea typeface="SUIT"/>
                <a:cs typeface="SUIT"/>
              </a:defRPr>
            </a:pPr>
            <a:r>
              <a:rPr sz="10350" b="1">
                <a:solidFill>
                  <a:srgbClr val="FFFFFF"/>
                </a:solidFill>
                <a:latin typeface="SUIT"/>
                <a:ea typeface="SUIT"/>
                <a:cs typeface="SUIT"/>
              </a:rPr>
              <a:t>3,900</a:t>
            </a:r>
          </a:p>
        </p:txBody>
      </p:sp>
      <p:sp>
        <p:nvSpPr>
          <p:cNvPr id="6" name="">
            <a:extLst xmlns:a="http://schemas.openxmlformats.org/drawingml/2006/main">
              <a:ext uri="{FF2B5EF4-FFF2-40B4-BE49-F238E27FC236}">
                <a16:creationId xmlns:a16="http://schemas.microsoft.com/office/drawing/2014/main" id="{C58B42A8-95A9-4BDA-A141-5E33EE3439FB}"/>
              </a:ext>
            </a:extLst>
          </p:cNvPr>
          <p:cNvSpPr>
            <a:spLocks xmlns:a="http://schemas.openxmlformats.org/drawingml/2006/main" noGrp="1"/>
          </p:cNvSpPr>
          <p:nvPr/>
        </p:nvSpPr>
        <p:spPr>
          <a:xfrm xmlns:a="http://schemas.openxmlformats.org/drawingml/2006/main">
            <a:off x="5619750" y="2238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SUIT"/>
                <a:ea typeface="SUIT"/>
                <a:cs typeface="SUIT"/>
              </a:defRPr>
            </a:defPPr>
          </a:lstStyle>
          <a:p xmlns:a="http://schemas.openxmlformats.org/drawingml/2006/main">
            <a:pPr>
              <a:defRPr sz="3225" b="0">
                <a:solidFill>
                  <a:srgbClr val="FFFFFF"/>
                </a:solidFill>
                <a:latin typeface="SUIT"/>
                <a:ea typeface="SUIT"/>
                <a:cs typeface="SUIT"/>
              </a:defRPr>
            </a:pPr>
            <a:r>
              <a:rPr sz="3225" b="0">
                <a:solidFill>
                  <a:srgbClr val="FFFFFF"/>
                </a:solidFill>
                <a:latin typeface="SUIT"/>
                <a:ea typeface="SUIT"/>
                <a:cs typeface="SUIT"/>
              </a:rPr>
              <a:t>원</a:t>
            </a:r>
          </a:p>
        </p:txBody>
      </p:sp>
      <p:sp>
        <p:nvSpPr>
          <p:cNvPr id="7" name="">
            <a:extLst xmlns:a="http://schemas.openxmlformats.org/drawingml/2006/main">
              <a:ext uri="{FF2B5EF4-FFF2-40B4-BE49-F238E27FC236}">
                <a16:creationId xmlns:a16="http://schemas.microsoft.com/office/drawing/2014/main" id="{58D47224-5F4A-4F04-AC33-65C30C7EC591}"/>
              </a:ext>
            </a:extLst>
          </p:cNvPr>
          <p:cNvSpPr>
            <a:spLocks xmlns:a="http://schemas.openxmlformats.org/drawingml/2006/main" noGrp="1"/>
          </p:cNvSpPr>
          <p:nvPr/>
        </p:nvSpPr>
        <p:spPr>
          <a:xfrm xmlns:a="http://schemas.openxmlformats.org/drawingml/2006/main">
            <a:off x="714375" y="361950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32C4E9"/>
                </a:solidFill>
                <a:latin typeface="SUIT"/>
                <a:ea typeface="SUIT"/>
                <a:cs typeface="SUIT"/>
              </a:defRPr>
            </a:defPPr>
          </a:lstStyle>
          <a:p xmlns:a="http://schemas.openxmlformats.org/drawingml/2006/main">
            <a:pPr>
              <a:defRPr sz="3375" b="1">
                <a:solidFill>
                  <a:srgbClr val="32C4E9"/>
                </a:solidFill>
                <a:latin typeface="SUIT"/>
                <a:ea typeface="SUIT"/>
                <a:cs typeface="SUIT"/>
              </a:defRPr>
            </a:pPr>
            <a:r>
              <a:rPr sz="3375" b="1">
                <a:solidFill>
                  <a:srgbClr val="32C4E9"/>
                </a:solidFill>
                <a:latin typeface="SUIT"/>
                <a:ea typeface="SUIT"/>
                <a:cs typeface="SUIT"/>
              </a:rPr>
              <a:t>최초 3개월 무료</a:t>
            </a:r>
          </a:p>
        </p:txBody>
      </p:sp>
      <p:sp>
        <p:nvSpPr>
          <p:cNvPr id="8" name="">
            <a:extLst xmlns:a="http://schemas.openxmlformats.org/drawingml/2006/main">
              <a:ext uri="{FF2B5EF4-FFF2-40B4-BE49-F238E27FC236}">
                <a16:creationId xmlns:a16="http://schemas.microsoft.com/office/drawing/2014/main" id="{94759140-B79E-4A1B-9C75-A0ECA6D5166D}"/>
              </a:ext>
            </a:extLst>
          </p:cNvPr>
          <p:cNvSpPr>
            <a:spLocks xmlns:a="http://schemas.openxmlformats.org/drawingml/2006/main" noGrp="1"/>
          </p:cNvSpPr>
          <p:nvPr/>
        </p:nvSpPr>
        <p:spPr>
          <a:xfrm xmlns:a="http://schemas.openxmlformats.org/drawingml/2006/main">
            <a:off x="742950" y="4533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D3E7"/>
                </a:solidFill>
                <a:latin typeface="SUIT"/>
                <a:ea typeface="SUIT"/>
                <a:cs typeface="SUIT"/>
              </a:defRPr>
            </a:defPPr>
          </a:lstStyle>
          <a:p xmlns:a="http://schemas.openxmlformats.org/drawingml/2006/main">
            <a:pPr>
              <a:defRPr sz="1875" b="0">
                <a:solidFill>
                  <a:srgbClr val="B9D3E7"/>
                </a:solidFill>
                <a:latin typeface="SUIT"/>
                <a:ea typeface="SUIT"/>
                <a:cs typeface="SUIT"/>
              </a:defRPr>
            </a:pPr>
            <a:r>
              <a:rPr sz="1875" b="0">
                <a:solidFill>
                  <a:srgbClr val="B9D3E7"/>
                </a:solidFill>
                <a:latin typeface="SUIT"/>
                <a:ea typeface="SUIT"/>
                <a:cs typeface="SUIT"/>
              </a:rPr>
              <a:t>출시 후 적용할 가격 계획</a:t>
            </a:r>
          </a:p>
        </p:txBody>
      </p:sp>
      <p:sp>
        <p:nvSpPr>
          <p:cNvPr id="9" name="">
            <a:extLst xmlns:a="http://schemas.openxmlformats.org/drawingml/2006/main">
              <a:ext uri="{FF2B5EF4-FFF2-40B4-BE49-F238E27FC236}">
                <a16:creationId xmlns:a16="http://schemas.microsoft.com/office/drawing/2014/main" id="{ABA2751D-EA8B-463B-B93F-D2F0C5FEE473}"/>
              </a:ext>
            </a:extLst>
          </p:cNvPr>
          <p:cNvSpPr>
            <a:spLocks xmlns:a="http://schemas.openxmlformats.org/drawingml/2006/main" noGrp="1"/>
          </p:cNvSpPr>
          <p:nvPr/>
        </p:nvSpPr>
        <p:spPr>
          <a:xfrm xmlns:a="http://schemas.openxmlformats.org/drawingml/2006/main">
            <a:off x="8810625" y="1809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2C4E9"/>
                </a:solidFill>
                <a:latin typeface="SUIT"/>
                <a:ea typeface="SUIT"/>
                <a:cs typeface="SUIT"/>
              </a:defRPr>
            </a:defPPr>
          </a:lstStyle>
          <a:p xmlns:a="http://schemas.openxmlformats.org/drawingml/2006/main">
            <a:pPr>
              <a:defRPr sz="1800" b="0">
                <a:solidFill>
                  <a:srgbClr val="32C4E9"/>
                </a:solidFill>
                <a:latin typeface="SUIT"/>
                <a:ea typeface="SUIT"/>
                <a:cs typeface="SUIT"/>
              </a:defRPr>
            </a:pPr>
            <a:r>
              <a:rPr sz="1800" b="0">
                <a:solidFill>
                  <a:srgbClr val="32C4E9"/>
                </a:solidFill>
                <a:latin typeface="SUIT"/>
                <a:ea typeface="SUIT"/>
                <a:cs typeface="SUIT"/>
              </a:rPr>
              <a:t>초기 고객</a:t>
            </a:r>
          </a:p>
        </p:txBody>
      </p:sp>
      <p:sp>
        <p:nvSpPr>
          <p:cNvPr id="10" name="">
            <a:extLst xmlns:a="http://schemas.openxmlformats.org/drawingml/2006/main">
              <a:ext uri="{FF2B5EF4-FFF2-40B4-BE49-F238E27FC236}">
                <a16:creationId xmlns:a16="http://schemas.microsoft.com/office/drawing/2014/main" id="{291CFEE6-93B6-4164-9136-15F59723D11F}"/>
              </a:ext>
            </a:extLst>
          </p:cNvPr>
          <p:cNvSpPr>
            <a:spLocks xmlns:a="http://schemas.openxmlformats.org/drawingml/2006/main" noGrp="1"/>
          </p:cNvSpPr>
          <p:nvPr/>
        </p:nvSpPr>
        <p:spPr>
          <a:xfrm xmlns:a="http://schemas.openxmlformats.org/drawingml/2006/main">
            <a:off x="8810625" y="235267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UIT"/>
                <a:ea typeface="SUIT"/>
                <a:cs typeface="SUIT"/>
              </a:defRPr>
            </a:defPPr>
          </a:lstStyle>
          <a:p xmlns:a="http://schemas.openxmlformats.org/drawingml/2006/main">
            <a:pPr>
              <a:defRPr sz="2550" b="1">
                <a:solidFill>
                  <a:srgbClr val="FFFFFF"/>
                </a:solidFill>
                <a:latin typeface="SUIT"/>
                <a:ea typeface="SUIT"/>
                <a:cs typeface="SUIT"/>
              </a:defRPr>
            </a:pPr>
            <a:r>
              <a:rPr sz="2550" b="1">
                <a:solidFill>
                  <a:srgbClr val="FFFFFF"/>
                </a:solidFill>
                <a:latin typeface="SUIT"/>
                <a:ea typeface="SUIT"/>
                <a:cs typeface="SUIT"/>
              </a:rPr>
              <a:t>프리다이빙</a:t>
            </a:r>
          </a:p>
          <a:p xmlns:a="http://schemas.openxmlformats.org/drawingml/2006/main">
            <a:pPr>
              <a:defRPr sz="2550" b="1">
                <a:solidFill>
                  <a:srgbClr val="FFFFFF"/>
                </a:solidFill>
                <a:latin typeface="SUIT"/>
                <a:ea typeface="SUIT"/>
                <a:cs typeface="SUIT"/>
              </a:defRPr>
            </a:pPr>
            <a:r>
              <a:rPr sz="2550" b="1">
                <a:solidFill>
                  <a:srgbClr val="FFFFFF"/>
                </a:solidFill>
                <a:latin typeface="SUIT"/>
                <a:ea typeface="SUIT"/>
                <a:cs typeface="SUIT"/>
              </a:rPr>
              <a:t>강사와 교육생</a:t>
            </a:r>
          </a:p>
        </p:txBody>
      </p:sp>
      <p:sp>
        <p:nvSpPr>
          <p:cNvPr id="11" name="">
            <a:extLst xmlns:a="http://schemas.openxmlformats.org/drawingml/2006/main">
              <a:ext uri="{FF2B5EF4-FFF2-40B4-BE49-F238E27FC236}">
                <a16:creationId xmlns:a16="http://schemas.microsoft.com/office/drawing/2014/main" id="{8F4606CA-F6ED-4F98-B7A9-3B0448A94FE6}"/>
              </a:ext>
            </a:extLst>
          </p:cNvPr>
          <p:cNvSpPr>
            <a:spLocks xmlns:a="http://schemas.openxmlformats.org/drawingml/2006/main" noGrp="1"/>
          </p:cNvSpPr>
          <p:nvPr/>
        </p:nvSpPr>
        <p:spPr>
          <a:xfrm xmlns:a="http://schemas.openxmlformats.org/drawingml/2006/main">
            <a:off x="8810625" y="40481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2C4E9"/>
                </a:solidFill>
                <a:latin typeface="SUIT"/>
                <a:ea typeface="SUIT"/>
                <a:cs typeface="SUIT"/>
              </a:defRPr>
            </a:defPPr>
          </a:lstStyle>
          <a:p xmlns:a="http://schemas.openxmlformats.org/drawingml/2006/main">
            <a:pPr>
              <a:defRPr sz="1800" b="0">
                <a:solidFill>
                  <a:srgbClr val="32C4E9"/>
                </a:solidFill>
                <a:latin typeface="SUIT"/>
                <a:ea typeface="SUIT"/>
                <a:cs typeface="SUIT"/>
              </a:defRPr>
            </a:pPr>
            <a:r>
              <a:rPr sz="1800" b="0">
                <a:solidFill>
                  <a:srgbClr val="32C4E9"/>
                </a:solidFill>
                <a:latin typeface="SUIT"/>
                <a:ea typeface="SUIT"/>
                <a:cs typeface="SUIT"/>
              </a:rPr>
              <a:t>홍보·의견 수집</a:t>
            </a:r>
          </a:p>
        </p:txBody>
      </p:sp>
      <p:sp>
        <p:nvSpPr>
          <p:cNvPr id="12" name="">
            <a:extLst xmlns:a="http://schemas.openxmlformats.org/drawingml/2006/main">
              <a:ext uri="{FF2B5EF4-FFF2-40B4-BE49-F238E27FC236}">
                <a16:creationId xmlns:a16="http://schemas.microsoft.com/office/drawing/2014/main" id="{4591C443-BC84-498B-924C-F76AE3E7606C}"/>
              </a:ext>
            </a:extLst>
          </p:cNvPr>
          <p:cNvSpPr>
            <a:spLocks xmlns:a="http://schemas.openxmlformats.org/drawingml/2006/main" noGrp="1"/>
          </p:cNvSpPr>
          <p:nvPr/>
        </p:nvSpPr>
        <p:spPr>
          <a:xfrm xmlns:a="http://schemas.openxmlformats.org/drawingml/2006/main">
            <a:off x="8810625" y="45910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SUIT"/>
                <a:ea typeface="SUIT"/>
                <a:cs typeface="SUIT"/>
              </a:defRPr>
            </a:defPPr>
          </a:lstStyle>
          <a:p xmlns:a="http://schemas.openxmlformats.org/drawingml/2006/main">
            <a:pPr>
              <a:defRPr sz="2400" b="1">
                <a:solidFill>
                  <a:srgbClr val="FFFFFF"/>
                </a:solidFill>
                <a:latin typeface="SUIT"/>
                <a:ea typeface="SUIT"/>
                <a:cs typeface="SUIT"/>
              </a:defRPr>
            </a:pPr>
            <a:r>
              <a:rPr sz="2400" b="1">
                <a:solidFill>
                  <a:srgbClr val="FFFFFF"/>
                </a:solidFill>
                <a:latin typeface="SUIT"/>
                <a:ea typeface="SUIT"/>
                <a:cs typeface="SUIT"/>
              </a:rPr>
              <a:t>먹보야 놀자</a:t>
            </a:r>
          </a:p>
          <a:p xmlns:a="http://schemas.openxmlformats.org/drawingml/2006/main">
            <a:pPr>
              <a:defRPr sz="2400" b="1">
                <a:solidFill>
                  <a:srgbClr val="FFFFFF"/>
                </a:solidFill>
                <a:latin typeface="SUIT"/>
                <a:ea typeface="SUIT"/>
                <a:cs typeface="SUIT"/>
              </a:defRPr>
            </a:pPr>
            <a:r>
              <a:rPr sz="2400" b="1">
                <a:solidFill>
                  <a:srgbClr val="FFFFFF"/>
                </a:solidFill>
                <a:latin typeface="SUIT"/>
                <a:ea typeface="SUIT"/>
                <a:cs typeface="SUIT"/>
              </a:rPr>
              <a:t>협업 채널 활용</a:t>
            </a:r>
          </a:p>
        </p:txBody>
      </p:sp>
    </p:spTree>
    <p:extLst>
      <p:ext uri="{BB962C8B-B14F-4D97-AF65-F5344CB8AC3E}">
        <p14:creationId xmlns:p14="http://schemas.microsoft.com/office/powerpoint/2010/main" val="297074421"/>
      </p:ext>
    </p:extLst>
  </p:cSld>
</p:sld>
</file>

<file path=ppt/slides/slide7.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906BA2-1079-4E3A-B919-F3E471108EE9}"/>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84A7EB4D-681E-474F-8EDA-92B65CF8CFF7}"/>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07</a:t>
            </a:r>
          </a:p>
        </p:txBody>
      </p:sp>
      <p:sp>
        <p:nvSpPr>
          <p:cNvPr id="3" name="">
            <a:extLst xmlns:a="http://schemas.openxmlformats.org/drawingml/2006/main">
              <a:ext uri="{FF2B5EF4-FFF2-40B4-BE49-F238E27FC236}">
                <a16:creationId xmlns:a16="http://schemas.microsoft.com/office/drawing/2014/main" id="{C67B8C18-A178-473E-9CB6-3CBFD4FC6F90}"/>
              </a:ext>
            </a:extLst>
          </p:cNvPr>
          <p:cNvSpPr>
            <a:spLocks xmlns:a="http://schemas.openxmlformats.org/drawingml/2006/main" noGrp="1"/>
          </p:cNvSpPr>
          <p:nvPr/>
        </p:nvSpPr>
        <p:spPr>
          <a:xfrm xmlns:a="http://schemas.openxmlformats.org/drawingml/2006/main">
            <a:off x="571500" y="428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02E4C"/>
                </a:solidFill>
                <a:latin typeface="SUIT"/>
                <a:ea typeface="SUIT"/>
                <a:cs typeface="SUIT"/>
              </a:defRPr>
            </a:defPPr>
          </a:lstStyle>
          <a:p xmlns:a="http://schemas.openxmlformats.org/drawingml/2006/main">
            <a:pPr>
              <a:defRPr sz="3525" b="1">
                <a:solidFill>
                  <a:srgbClr val="102E4C"/>
                </a:solidFill>
                <a:latin typeface="SUIT"/>
                <a:ea typeface="SUIT"/>
                <a:cs typeface="SUIT"/>
              </a:defRPr>
            </a:pPr>
            <a:r>
              <a:rPr sz="3525" b="1">
                <a:solidFill>
                  <a:srgbClr val="102E4C"/>
                </a:solidFill>
                <a:latin typeface="SUIT"/>
                <a:ea typeface="SUIT"/>
                <a:cs typeface="SUIT"/>
              </a:rPr>
              <a:t>출시와 현장 검증 계획</a:t>
            </a:r>
          </a:p>
        </p:txBody>
      </p:sp>
      <p:sp>
        <p:nvSpPr>
          <p:cNvPr id="4" name="">
            <a:extLst xmlns:a="http://schemas.openxmlformats.org/drawingml/2006/main">
              <a:ext uri="{FF2B5EF4-FFF2-40B4-BE49-F238E27FC236}">
                <a16:creationId xmlns:a16="http://schemas.microsoft.com/office/drawing/2014/main" id="{786BB514-E158-41B3-ACD8-7F9C315C952E}"/>
              </a:ext>
            </a:extLst>
          </p:cNvPr>
          <p:cNvSpPr>
            <a:spLocks xmlns:a="http://schemas.openxmlformats.org/drawingml/2006/main" noGrp="1"/>
          </p:cNvSpPr>
          <p:nvPr/>
        </p:nvSpPr>
        <p:spPr>
          <a:xfrm xmlns:a="http://schemas.openxmlformats.org/drawingml/2006/main">
            <a:off x="619125" y="15240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597084"/>
                </a:solidFill>
                <a:latin typeface="SUIT"/>
                <a:ea typeface="SUIT"/>
                <a:cs typeface="SUIT"/>
              </a:defRPr>
            </a:defPPr>
          </a:lstStyle>
          <a:p xmlns:a="http://schemas.openxmlformats.org/drawingml/2006/main">
            <a:pPr>
              <a:defRPr sz="3150" b="0">
                <a:solidFill>
                  <a:srgbClr val="597084"/>
                </a:solidFill>
                <a:latin typeface="SUIT"/>
                <a:ea typeface="SUIT"/>
                <a:cs typeface="SUIT"/>
              </a:defRPr>
            </a:pPr>
            <a:r>
              <a:rPr sz="3150" b="0">
                <a:solidFill>
                  <a:srgbClr val="597084"/>
                </a:solidFill>
                <a:latin typeface="SUIT"/>
                <a:ea typeface="SUIT"/>
                <a:cs typeface="SUIT"/>
              </a:rPr>
              <a:t>2026</a:t>
            </a:r>
          </a:p>
        </p:txBody>
      </p:sp>
      <p:sp>
        <p:nvSpPr>
          <p:cNvPr id="5" name="">
            <a:extLst xmlns:a="http://schemas.openxmlformats.org/drawingml/2006/main">
              <a:ext uri="{FF2B5EF4-FFF2-40B4-BE49-F238E27FC236}">
                <a16:creationId xmlns:a16="http://schemas.microsoft.com/office/drawing/2014/main" id="{CE70B5E0-CFEB-42A7-A6C8-EC6A6E07BCDA}"/>
              </a:ext>
            </a:extLst>
          </p:cNvPr>
          <p:cNvSpPr>
            <a:spLocks xmlns:a="http://schemas.openxmlformats.org/drawingml/2006/main" noGrp="1"/>
          </p:cNvSpPr>
          <p:nvPr/>
        </p:nvSpPr>
        <p:spPr>
          <a:xfrm xmlns:a="http://schemas.openxmlformats.org/drawingml/2006/main">
            <a:off x="571500" y="2095500"/>
            <a:ext cx="5524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0" b="1">
                <a:solidFill>
                  <a:srgbClr val="174778"/>
                </a:solidFill>
                <a:latin typeface="SUIT"/>
                <a:ea typeface="SUIT"/>
                <a:cs typeface="SUIT"/>
              </a:defRPr>
            </a:defPPr>
          </a:lstStyle>
          <a:p xmlns:a="http://schemas.openxmlformats.org/drawingml/2006/main">
            <a:pPr>
              <a:defRPr sz="9750" b="1">
                <a:solidFill>
                  <a:srgbClr val="174778"/>
                </a:solidFill>
                <a:latin typeface="SUIT"/>
                <a:ea typeface="SUIT"/>
                <a:cs typeface="SUIT"/>
              </a:defRPr>
            </a:pPr>
            <a:r>
              <a:rPr sz="9750" b="1">
                <a:solidFill>
                  <a:srgbClr val="174778"/>
                </a:solidFill>
                <a:latin typeface="SUIT"/>
                <a:ea typeface="SUIT"/>
                <a:cs typeface="SUIT"/>
              </a:rPr>
              <a:t>10월</a:t>
            </a:r>
          </a:p>
        </p:txBody>
      </p:sp>
      <p:sp>
        <p:nvSpPr>
          <p:cNvPr id="6" name="">
            <a:extLst xmlns:a="http://schemas.openxmlformats.org/drawingml/2006/main">
              <a:ext uri="{FF2B5EF4-FFF2-40B4-BE49-F238E27FC236}">
                <a16:creationId xmlns:a16="http://schemas.microsoft.com/office/drawing/2014/main" id="{8B34A6FE-93BD-4C88-B3A5-2A00924E2410}"/>
              </a:ext>
            </a:extLst>
          </p:cNvPr>
          <p:cNvSpPr>
            <a:spLocks xmlns:a="http://schemas.openxmlformats.org/drawingml/2006/main" noGrp="1"/>
          </p:cNvSpPr>
          <p:nvPr/>
        </p:nvSpPr>
        <p:spPr>
          <a:xfrm xmlns:a="http://schemas.openxmlformats.org/drawingml/2006/main">
            <a:off x="666750" y="390525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02E4C"/>
                </a:solidFill>
                <a:latin typeface="SUIT"/>
                <a:ea typeface="SUIT"/>
                <a:cs typeface="SUIT"/>
              </a:defRPr>
            </a:defPPr>
          </a:lstStyle>
          <a:p xmlns:a="http://schemas.openxmlformats.org/drawingml/2006/main">
            <a:pPr>
              <a:defRPr sz="3000" b="1">
                <a:solidFill>
                  <a:srgbClr val="102E4C"/>
                </a:solidFill>
                <a:latin typeface="SUIT"/>
                <a:ea typeface="SUIT"/>
                <a:cs typeface="SUIT"/>
              </a:defRPr>
            </a:pPr>
            <a:r>
              <a:rPr sz="3000" b="1">
                <a:solidFill>
                  <a:srgbClr val="102E4C"/>
                </a:solidFill>
                <a:latin typeface="SUIT"/>
                <a:ea typeface="SUIT"/>
                <a:cs typeface="SUIT"/>
              </a:rPr>
              <a:t>정식 출시 예정</a:t>
            </a:r>
          </a:p>
        </p:txBody>
      </p:sp>
      <p:sp>
        <p:nvSpPr>
          <p:cNvPr id="7" name="">
            <a:extLst xmlns:a="http://schemas.openxmlformats.org/drawingml/2006/main">
              <a:ext uri="{FF2B5EF4-FFF2-40B4-BE49-F238E27FC236}">
                <a16:creationId xmlns:a16="http://schemas.microsoft.com/office/drawing/2014/main" id="{50795988-82C3-4E11-8F5D-45CC5040D4A5}"/>
              </a:ext>
            </a:extLst>
          </p:cNvPr>
          <p:cNvSpPr>
            <a:spLocks xmlns:a="http://schemas.openxmlformats.org/drawingml/2006/main" noGrp="1"/>
          </p:cNvSpPr>
          <p:nvPr/>
        </p:nvSpPr>
        <p:spPr>
          <a:xfrm xmlns:a="http://schemas.openxmlformats.org/drawingml/2006/main">
            <a:off x="704850" y="4714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97084"/>
                </a:solidFill>
                <a:latin typeface="SUIT"/>
                <a:ea typeface="SUIT"/>
                <a:cs typeface="SUIT"/>
              </a:defRPr>
            </a:defPPr>
          </a:lstStyle>
          <a:p xmlns:a="http://schemas.openxmlformats.org/drawingml/2006/main">
            <a:pPr>
              <a:defRPr sz="1800" b="0">
                <a:solidFill>
                  <a:srgbClr val="597084"/>
                </a:solidFill>
                <a:latin typeface="SUIT"/>
                <a:ea typeface="SUIT"/>
                <a:cs typeface="SUIT"/>
              </a:defRPr>
            </a:pPr>
            <a:r>
              <a:rPr sz="1800" b="0">
                <a:solidFill>
                  <a:srgbClr val="597084"/>
                </a:solidFill>
                <a:latin typeface="SUIT"/>
                <a:ea typeface="SUIT"/>
                <a:cs typeface="SUIT"/>
              </a:rPr>
              <a:t>현재 정식 출시 전</a:t>
            </a:r>
          </a:p>
        </p:txBody>
      </p:sp>
      <p:sp>
        <p:nvSpPr>
          <p:cNvPr id="8" name="">
            <a:extLst xmlns:a="http://schemas.openxmlformats.org/drawingml/2006/main">
              <a:ext uri="{FF2B5EF4-FFF2-40B4-BE49-F238E27FC236}">
                <a16:creationId xmlns:a16="http://schemas.microsoft.com/office/drawing/2014/main" id="{4F71E0F2-87B1-492E-871F-661DBBA65ABC}"/>
              </a:ext>
            </a:extLst>
          </p:cNvPr>
          <p:cNvSpPr>
            <a:spLocks xmlns:a="http://schemas.openxmlformats.org/drawingml/2006/main" noGrp="1"/>
          </p:cNvSpPr>
          <p:nvPr/>
        </p:nvSpPr>
        <p:spPr>
          <a:xfrm xmlns:a="http://schemas.openxmlformats.org/drawingml/2006/main">
            <a:off x="6667500" y="1619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4778"/>
                </a:solidFill>
                <a:latin typeface="SUIT"/>
                <a:ea typeface="SUIT"/>
                <a:cs typeface="SUIT"/>
              </a:defRPr>
            </a:defPPr>
          </a:lstStyle>
          <a:p xmlns:a="http://schemas.openxmlformats.org/drawingml/2006/main">
            <a:pPr>
              <a:defRPr sz="2400" b="1">
                <a:solidFill>
                  <a:srgbClr val="174778"/>
                </a:solidFill>
                <a:latin typeface="SUIT"/>
                <a:ea typeface="SUIT"/>
                <a:cs typeface="SUIT"/>
              </a:defRPr>
            </a:pPr>
            <a:r>
              <a:rPr sz="2400" b="1">
                <a:solidFill>
                  <a:srgbClr val="174778"/>
                </a:solidFill>
                <a:latin typeface="SUIT"/>
                <a:ea typeface="SUIT"/>
                <a:cs typeface="SUIT"/>
              </a:rPr>
              <a:t>출시 후 확인할 것</a:t>
            </a:r>
          </a:p>
        </p:txBody>
      </p:sp>
      <p:sp>
        <p:nvSpPr>
          <p:cNvPr id="9" name="">
            <a:extLst xmlns:a="http://schemas.openxmlformats.org/drawingml/2006/main">
              <a:ext uri="{FF2B5EF4-FFF2-40B4-BE49-F238E27FC236}">
                <a16:creationId xmlns:a16="http://schemas.microsoft.com/office/drawing/2014/main" id="{340506D3-8AED-4FB6-ADA6-70CC601F9A6A}"/>
              </a:ext>
            </a:extLst>
          </p:cNvPr>
          <p:cNvSpPr>
            <a:spLocks xmlns:a="http://schemas.openxmlformats.org/drawingml/2006/main" noGrp="1"/>
          </p:cNvSpPr>
          <p:nvPr/>
        </p:nvSpPr>
        <p:spPr>
          <a:xfrm xmlns:a="http://schemas.openxmlformats.org/drawingml/2006/main">
            <a:off x="6667500" y="23812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02E4C"/>
                </a:solidFill>
                <a:latin typeface="SUIT"/>
                <a:ea typeface="SUIT"/>
                <a:cs typeface="SUIT"/>
              </a:defRPr>
            </a:defPPr>
          </a:lstStyle>
          <a:p xmlns:a="http://schemas.openxmlformats.org/drawingml/2006/main">
            <a:pPr>
              <a:defRPr sz="2325" b="0">
                <a:solidFill>
                  <a:srgbClr val="102E4C"/>
                </a:solidFill>
                <a:latin typeface="SUIT"/>
                <a:ea typeface="SUIT"/>
                <a:cs typeface="SUIT"/>
              </a:defRPr>
            </a:pPr>
            <a:r>
              <a:rPr sz="2325" b="0">
                <a:solidFill>
                  <a:srgbClr val="102E4C"/>
                </a:solidFill>
                <a:latin typeface="SUIT"/>
                <a:ea typeface="SUIT"/>
                <a:cs typeface="SUIT"/>
              </a:rPr>
              <a:t>기록 작성 시간과 누락</a:t>
            </a:r>
          </a:p>
          <a:p xmlns:a="http://schemas.openxmlformats.org/drawingml/2006/main">
            <a:pPr>
              <a:defRPr sz="2325" b="0">
                <a:solidFill>
                  <a:srgbClr val="102E4C"/>
                </a:solidFill>
                <a:latin typeface="SUIT"/>
                <a:ea typeface="SUIT"/>
                <a:cs typeface="SUIT"/>
              </a:defRPr>
            </a:pPr>
            <a:r>
              <a:rPr sz="2325" b="0">
                <a:solidFill>
                  <a:srgbClr val="102E4C"/>
                </a:solidFill>
                <a:latin typeface="SUIT"/>
                <a:ea typeface="SUIT"/>
                <a:cs typeface="SUIT"/>
              </a:rPr>
              <a:t>다음 수업에서의 기록 활용</a:t>
            </a:r>
          </a:p>
        </p:txBody>
      </p:sp>
      <p:sp>
        <p:nvSpPr>
          <p:cNvPr id="10" name="">
            <a:extLst xmlns:a="http://schemas.openxmlformats.org/drawingml/2006/main">
              <a:ext uri="{FF2B5EF4-FFF2-40B4-BE49-F238E27FC236}">
                <a16:creationId xmlns:a16="http://schemas.microsoft.com/office/drawing/2014/main" id="{17D57A95-82F6-4921-812E-4C9FF9189EDC}"/>
              </a:ext>
            </a:extLst>
          </p:cNvPr>
          <p:cNvSpPr>
            <a:spLocks xmlns:a="http://schemas.openxmlformats.org/drawingml/2006/main" noGrp="1"/>
          </p:cNvSpPr>
          <p:nvPr/>
        </p:nvSpPr>
        <p:spPr>
          <a:xfrm xmlns:a="http://schemas.openxmlformats.org/drawingml/2006/main">
            <a:off x="6667500" y="3857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4778"/>
                </a:solidFill>
                <a:latin typeface="SUIT"/>
                <a:ea typeface="SUIT"/>
                <a:cs typeface="SUIT"/>
              </a:defRPr>
            </a:defPPr>
          </a:lstStyle>
          <a:p xmlns:a="http://schemas.openxmlformats.org/drawingml/2006/main">
            <a:pPr>
              <a:defRPr sz="2400" b="1">
                <a:solidFill>
                  <a:srgbClr val="174778"/>
                </a:solidFill>
                <a:latin typeface="SUIT"/>
                <a:ea typeface="SUIT"/>
                <a:cs typeface="SUIT"/>
              </a:defRPr>
            </a:pPr>
            <a:r>
              <a:rPr sz="2400" b="1">
                <a:solidFill>
                  <a:srgbClr val="174778"/>
                </a:solidFill>
                <a:latin typeface="SUIT"/>
                <a:ea typeface="SUIT"/>
                <a:cs typeface="SUIT"/>
              </a:rPr>
              <a:t>후속 실증 제안</a:t>
            </a:r>
          </a:p>
        </p:txBody>
      </p:sp>
      <p:sp>
        <p:nvSpPr>
          <p:cNvPr id="11" name="">
            <a:extLst xmlns:a="http://schemas.openxmlformats.org/drawingml/2006/main">
              <a:ext uri="{FF2B5EF4-FFF2-40B4-BE49-F238E27FC236}">
                <a16:creationId xmlns:a16="http://schemas.microsoft.com/office/drawing/2014/main" id="{7B4E5274-77A0-4234-A3F3-54739ACA01E1}"/>
              </a:ext>
            </a:extLst>
          </p:cNvPr>
          <p:cNvSpPr>
            <a:spLocks xmlns:a="http://schemas.openxmlformats.org/drawingml/2006/main" noGrp="1"/>
          </p:cNvSpPr>
          <p:nvPr/>
        </p:nvSpPr>
        <p:spPr>
          <a:xfrm xmlns:a="http://schemas.openxmlformats.org/drawingml/2006/main">
            <a:off x="6667500" y="46196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E4C"/>
                </a:solidFill>
                <a:latin typeface="SUIT"/>
                <a:ea typeface="SUIT"/>
                <a:cs typeface="SUIT"/>
              </a:defRPr>
            </a:defPPr>
          </a:lstStyle>
          <a:p xmlns:a="http://schemas.openxmlformats.org/drawingml/2006/main">
            <a:pPr>
              <a:defRPr sz="2250" b="0">
                <a:solidFill>
                  <a:srgbClr val="102E4C"/>
                </a:solidFill>
                <a:latin typeface="SUIT"/>
                <a:ea typeface="SUIT"/>
                <a:cs typeface="SUIT"/>
              </a:defRPr>
            </a:pPr>
            <a:r>
              <a:rPr sz="2250" b="0">
                <a:solidFill>
                  <a:srgbClr val="102E4C"/>
                </a:solidFill>
                <a:latin typeface="SUIT"/>
                <a:ea typeface="SUIT"/>
                <a:cs typeface="SUIT"/>
              </a:rPr>
              <a:t>다른 종목의 교육·훈련 관리</a:t>
            </a:r>
          </a:p>
          <a:p xmlns:a="http://schemas.openxmlformats.org/drawingml/2006/main">
            <a:pPr>
              <a:defRPr sz="2250" b="0">
                <a:solidFill>
                  <a:srgbClr val="102E4C"/>
                </a:solidFill>
                <a:latin typeface="SUIT"/>
                <a:ea typeface="SUIT"/>
                <a:cs typeface="SUIT"/>
              </a:defRPr>
            </a:pPr>
            <a:r>
              <a:rPr sz="2250" b="0">
                <a:solidFill>
                  <a:srgbClr val="102E4C"/>
                </a:solidFill>
                <a:latin typeface="SUIT"/>
                <a:ea typeface="SUIT"/>
                <a:cs typeface="SUIT"/>
              </a:rPr>
              <a:t>대회 참가자의 사전교육 기록</a:t>
            </a:r>
          </a:p>
        </p:txBody>
      </p:sp>
    </p:spTree>
    <p:extLst>
      <p:ext uri="{BB962C8B-B14F-4D97-AF65-F5344CB8AC3E}">
        <p14:creationId xmlns:p14="http://schemas.microsoft.com/office/powerpoint/2010/main" val="2090287665"/>
      </p:ext>
    </p:extLst>
  </p:cSld>
</p:sld>
</file>

<file path=ppt/slides/slide8.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1CFE62-93A2-4B41-8933-00CDA723AF3B}"/>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D367006E-B659-4666-828A-DC576856A535}"/>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08</a:t>
            </a:r>
          </a:p>
        </p:txBody>
      </p:sp>
      <p:sp>
        <p:nvSpPr>
          <p:cNvPr id="3" name="">
            <a:extLst xmlns:a="http://schemas.openxmlformats.org/drawingml/2006/main">
              <a:ext uri="{FF2B5EF4-FFF2-40B4-BE49-F238E27FC236}">
                <a16:creationId xmlns:a16="http://schemas.microsoft.com/office/drawing/2014/main" id="{E416E354-78A5-4A88-8311-0FC9D9EA3541}"/>
              </a:ext>
            </a:extLst>
          </p:cNvPr>
          <p:cNvSpPr>
            <a:spLocks xmlns:a="http://schemas.openxmlformats.org/drawingml/2006/main" noGrp="1"/>
          </p:cNvSpPr>
          <p:nvPr/>
        </p:nvSpPr>
        <p:spPr>
          <a:xfrm xmlns:a="http://schemas.openxmlformats.org/drawingml/2006/main">
            <a:off x="571500" y="476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FFFFF"/>
                </a:solidFill>
                <a:latin typeface="SUIT"/>
                <a:ea typeface="SUIT"/>
                <a:cs typeface="SUIT"/>
              </a:defRPr>
            </a:defPPr>
          </a:lstStyle>
          <a:p xmlns:a="http://schemas.openxmlformats.org/drawingml/2006/main">
            <a:pPr>
              <a:defRPr sz="3525" b="1">
                <a:solidFill>
                  <a:srgbClr val="FFFFFF"/>
                </a:solidFill>
                <a:latin typeface="SUIT"/>
                <a:ea typeface="SUIT"/>
                <a:cs typeface="SUIT"/>
              </a:defRPr>
            </a:pPr>
            <a:r>
              <a:rPr sz="3525" b="1">
                <a:solidFill>
                  <a:srgbClr val="FFFFFF"/>
                </a:solidFill>
                <a:latin typeface="SUIT"/>
                <a:ea typeface="SUIT"/>
                <a:cs typeface="SUIT"/>
              </a:rPr>
              <a:t>만드는 사람도, 사용하는 다이버</a:t>
            </a:r>
          </a:p>
        </p:txBody>
      </p:sp>
      <p:sp>
        <p:nvSpPr>
          <p:cNvPr id="4" name="">
            <a:extLst xmlns:a="http://schemas.openxmlformats.org/drawingml/2006/main">
              <a:ext uri="{FF2B5EF4-FFF2-40B4-BE49-F238E27FC236}">
                <a16:creationId xmlns:a16="http://schemas.microsoft.com/office/drawing/2014/main" id="{D234FA65-B36C-472B-A5C4-6A55C6A4B57E}"/>
              </a:ext>
            </a:extLst>
          </p:cNvPr>
          <p:cNvSpPr>
            <a:spLocks xmlns:a="http://schemas.openxmlformats.org/drawingml/2006/main" noGrp="1"/>
          </p:cNvSpPr>
          <p:nvPr/>
        </p:nvSpPr>
        <p:spPr>
          <a:xfrm xmlns:a="http://schemas.openxmlformats.org/drawingml/2006/main">
            <a:off x="619125" y="16192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800" b="1">
                <a:solidFill>
                  <a:srgbClr val="32C4E9"/>
                </a:solidFill>
                <a:latin typeface="SUIT"/>
                <a:ea typeface="SUIT"/>
                <a:cs typeface="SUIT"/>
              </a:defRPr>
            </a:defPPr>
          </a:lstStyle>
          <a:p xmlns:a="http://schemas.openxmlformats.org/drawingml/2006/main">
            <a:pPr>
              <a:defRPr sz="10800" b="1">
                <a:solidFill>
                  <a:srgbClr val="32C4E9"/>
                </a:solidFill>
                <a:latin typeface="SUIT"/>
                <a:ea typeface="SUIT"/>
                <a:cs typeface="SUIT"/>
              </a:defRPr>
            </a:pPr>
            <a:r>
              <a:rPr sz="10800" b="1">
                <a:solidFill>
                  <a:srgbClr val="32C4E9"/>
                </a:solidFill>
                <a:latin typeface="SUIT"/>
                <a:ea typeface="SUIT"/>
                <a:cs typeface="SUIT"/>
              </a:rPr>
              <a:t>14</a:t>
            </a:r>
          </a:p>
        </p:txBody>
      </p:sp>
      <p:sp>
        <p:nvSpPr>
          <p:cNvPr id="5" name="">
            <a:extLst xmlns:a="http://schemas.openxmlformats.org/drawingml/2006/main">
              <a:ext uri="{FF2B5EF4-FFF2-40B4-BE49-F238E27FC236}">
                <a16:creationId xmlns:a16="http://schemas.microsoft.com/office/drawing/2014/main" id="{172EA0F5-AE88-4224-8156-0DDC32346BFD}"/>
              </a:ext>
            </a:extLst>
          </p:cNvPr>
          <p:cNvSpPr>
            <a:spLocks xmlns:a="http://schemas.openxmlformats.org/drawingml/2006/main" noGrp="1"/>
          </p:cNvSpPr>
          <p:nvPr/>
        </p:nvSpPr>
        <p:spPr>
          <a:xfrm xmlns:a="http://schemas.openxmlformats.org/drawingml/2006/main">
            <a:off x="742950" y="3476625"/>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SUIT"/>
                <a:ea typeface="SUIT"/>
                <a:cs typeface="SUIT"/>
              </a:defRPr>
            </a:defPPr>
          </a:lstStyle>
          <a:p xmlns:a="http://schemas.openxmlformats.org/drawingml/2006/main">
            <a:pPr>
              <a:defRPr sz="2925" b="1">
                <a:solidFill>
                  <a:srgbClr val="FFFFFF"/>
                </a:solidFill>
                <a:latin typeface="SUIT"/>
                <a:ea typeface="SUIT"/>
                <a:cs typeface="SUIT"/>
              </a:defRPr>
            </a:pPr>
            <a:r>
              <a:rPr sz="2925" b="1">
                <a:solidFill>
                  <a:srgbClr val="FFFFFF"/>
                </a:solidFill>
                <a:latin typeface="SUIT"/>
                <a:ea typeface="SUIT"/>
                <a:cs typeface="SUIT"/>
              </a:rPr>
              <a:t>년차 개발자</a:t>
            </a:r>
          </a:p>
        </p:txBody>
      </p:sp>
      <p:sp>
        <p:nvSpPr>
          <p:cNvPr id="6" name="">
            <a:extLst xmlns:a="http://schemas.openxmlformats.org/drawingml/2006/main">
              <a:ext uri="{FF2B5EF4-FFF2-40B4-BE49-F238E27FC236}">
                <a16:creationId xmlns:a16="http://schemas.microsoft.com/office/drawing/2014/main" id="{C79BEAC2-AA62-48FB-9D3B-25EB1CB1E60A}"/>
              </a:ext>
            </a:extLst>
          </p:cNvPr>
          <p:cNvSpPr>
            <a:spLocks xmlns:a="http://schemas.openxmlformats.org/drawingml/2006/main" noGrp="1"/>
          </p:cNvSpPr>
          <p:nvPr/>
        </p:nvSpPr>
        <p:spPr>
          <a:xfrm xmlns:a="http://schemas.openxmlformats.org/drawingml/2006/main">
            <a:off x="6381750" y="16192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800" b="1">
                <a:solidFill>
                  <a:srgbClr val="32C4E9"/>
                </a:solidFill>
                <a:latin typeface="SUIT"/>
                <a:ea typeface="SUIT"/>
                <a:cs typeface="SUIT"/>
              </a:defRPr>
            </a:defPPr>
          </a:lstStyle>
          <a:p xmlns:a="http://schemas.openxmlformats.org/drawingml/2006/main">
            <a:pPr>
              <a:defRPr sz="10800" b="1">
                <a:solidFill>
                  <a:srgbClr val="32C4E9"/>
                </a:solidFill>
                <a:latin typeface="SUIT"/>
                <a:ea typeface="SUIT"/>
                <a:cs typeface="SUIT"/>
              </a:defRPr>
            </a:pPr>
            <a:r>
              <a:rPr sz="10800" b="1">
                <a:solidFill>
                  <a:srgbClr val="32C4E9"/>
                </a:solidFill>
                <a:latin typeface="SUIT"/>
                <a:ea typeface="SUIT"/>
                <a:cs typeface="SUIT"/>
              </a:rPr>
              <a:t>3</a:t>
            </a:r>
          </a:p>
        </p:txBody>
      </p:sp>
      <p:sp>
        <p:nvSpPr>
          <p:cNvPr id="7" name="">
            <a:extLst xmlns:a="http://schemas.openxmlformats.org/drawingml/2006/main">
              <a:ext uri="{FF2B5EF4-FFF2-40B4-BE49-F238E27FC236}">
                <a16:creationId xmlns:a16="http://schemas.microsoft.com/office/drawing/2014/main" id="{046C2AB7-DF02-4539-AF7A-05ED321A6794}"/>
              </a:ext>
            </a:extLst>
          </p:cNvPr>
          <p:cNvSpPr>
            <a:spLocks xmlns:a="http://schemas.openxmlformats.org/drawingml/2006/main" noGrp="1"/>
          </p:cNvSpPr>
          <p:nvPr/>
        </p:nvSpPr>
        <p:spPr>
          <a:xfrm xmlns:a="http://schemas.openxmlformats.org/drawingml/2006/main">
            <a:off x="6496050" y="34766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SUIT"/>
                <a:ea typeface="SUIT"/>
                <a:cs typeface="SUIT"/>
              </a:defRPr>
            </a:defPPr>
          </a:lstStyle>
          <a:p xmlns:a="http://schemas.openxmlformats.org/drawingml/2006/main">
            <a:pPr>
              <a:defRPr sz="2925" b="1">
                <a:solidFill>
                  <a:srgbClr val="FFFFFF"/>
                </a:solidFill>
                <a:latin typeface="SUIT"/>
                <a:ea typeface="SUIT"/>
                <a:cs typeface="SUIT"/>
              </a:defRPr>
            </a:pPr>
            <a:r>
              <a:rPr sz="2925" b="1">
                <a:solidFill>
                  <a:srgbClr val="FFFFFF"/>
                </a:solidFill>
                <a:latin typeface="SUIT"/>
                <a:ea typeface="SUIT"/>
                <a:cs typeface="SUIT"/>
              </a:rPr>
              <a:t>년차 프리다이버</a:t>
            </a:r>
          </a:p>
        </p:txBody>
      </p:sp>
      <p:sp>
        <p:nvSpPr>
          <p:cNvPr id="8" name="">
            <a:extLst xmlns:a="http://schemas.openxmlformats.org/drawingml/2006/main">
              <a:ext uri="{FF2B5EF4-FFF2-40B4-BE49-F238E27FC236}">
                <a16:creationId xmlns:a16="http://schemas.microsoft.com/office/drawing/2014/main" id="{51C30C2E-1912-4D50-9286-CE9D04AF5C53}"/>
              </a:ext>
            </a:extLst>
          </p:cNvPr>
          <p:cNvSpPr>
            <a:spLocks xmlns:a="http://schemas.openxmlformats.org/drawingml/2006/main" noGrp="1"/>
          </p:cNvSpPr>
          <p:nvPr/>
        </p:nvSpPr>
        <p:spPr>
          <a:xfrm xmlns:a="http://schemas.openxmlformats.org/drawingml/2006/main">
            <a:off x="714375" y="4667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SUIT"/>
                <a:ea typeface="SUIT"/>
                <a:cs typeface="SUIT"/>
              </a:defRPr>
            </a:defPPr>
          </a:lstStyle>
          <a:p xmlns:a="http://schemas.openxmlformats.org/drawingml/2006/main">
            <a:pPr>
              <a:defRPr sz="2100" b="0">
                <a:solidFill>
                  <a:srgbClr val="FFFFFF"/>
                </a:solidFill>
                <a:latin typeface="SUIT"/>
                <a:ea typeface="SUIT"/>
                <a:cs typeface="SUIT"/>
              </a:defRPr>
            </a:pPr>
            <a:r>
              <a:rPr sz="2100" b="0">
                <a:solidFill>
                  <a:srgbClr val="FFFFFF"/>
                </a:solidFill>
                <a:latin typeface="SUIT"/>
                <a:ea typeface="SUIT"/>
                <a:cs typeface="SUIT"/>
              </a:rPr>
              <a:t>남상현  ·  럼바우 대표  ·  AIDA Level 2</a:t>
            </a:r>
          </a:p>
        </p:txBody>
      </p:sp>
      <p:sp>
        <p:nvSpPr>
          <p:cNvPr id="9" name="">
            <a:extLst xmlns:a="http://schemas.openxmlformats.org/drawingml/2006/main">
              <a:ext uri="{FF2B5EF4-FFF2-40B4-BE49-F238E27FC236}">
                <a16:creationId xmlns:a16="http://schemas.microsoft.com/office/drawing/2014/main" id="{3C99225C-B18D-422F-BE5D-CF135719D8F6}"/>
              </a:ext>
            </a:extLst>
          </p:cNvPr>
          <p:cNvSpPr>
            <a:spLocks xmlns:a="http://schemas.openxmlformats.org/drawingml/2006/main" noGrp="1"/>
          </p:cNvSpPr>
          <p:nvPr/>
        </p:nvSpPr>
        <p:spPr>
          <a:xfrm xmlns:a="http://schemas.openxmlformats.org/drawingml/2006/main">
            <a:off x="714375" y="528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9D3E7"/>
                </a:solidFill>
                <a:latin typeface="SUIT"/>
                <a:ea typeface="SUIT"/>
                <a:cs typeface="SUIT"/>
              </a:defRPr>
            </a:defPPr>
          </a:lstStyle>
          <a:p xmlns:a="http://schemas.openxmlformats.org/drawingml/2006/main">
            <a:pPr>
              <a:defRPr sz="1800" b="0">
                <a:solidFill>
                  <a:srgbClr val="B9D3E7"/>
                </a:solidFill>
                <a:latin typeface="SUIT"/>
                <a:ea typeface="SUIT"/>
                <a:cs typeface="SUIT"/>
              </a:defRPr>
            </a:pPr>
            <a:r>
              <a:rPr sz="1800" b="0">
                <a:solidFill>
                  <a:srgbClr val="B9D3E7"/>
                </a:solidFill>
                <a:latin typeface="SUIT"/>
                <a:ea typeface="SUIT"/>
                <a:cs typeface="SUIT"/>
              </a:rPr>
              <a:t>대표자 1인 개발·운영  /  AIDA Instructor 협업자의 현장 의견 반영</a:t>
            </a:r>
          </a:p>
        </p:txBody>
      </p:sp>
    </p:spTree>
    <p:extLst>
      <p:ext uri="{BB962C8B-B14F-4D97-AF65-F5344CB8AC3E}">
        <p14:creationId xmlns:p14="http://schemas.microsoft.com/office/powerpoint/2010/main" val="1537358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2026-10-16T09:20:04.2700000Z</dcterms:created>
  <dcterms:modified xsi:type="dcterms:W3CDTF">2026-10-16T09:20:04.2700000Z</dcterms:modified>
</coreProperties>
</file>